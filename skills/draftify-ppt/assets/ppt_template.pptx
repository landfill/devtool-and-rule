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4"/>
    <p:sldMasterId id="2147483693" r:id="rId5"/>
  </p:sldMasterIdLst>
  <p:notesMasterIdLst>
    <p:notesMasterId r:id="rId27"/>
  </p:notesMasterIdLst>
  <p:handoutMasterIdLst>
    <p:handoutMasterId r:id="rId28"/>
  </p:handoutMasterIdLst>
  <p:sldIdLst>
    <p:sldId id="259" r:id="rId6"/>
    <p:sldId id="325" r:id="rId7"/>
    <p:sldId id="1468" r:id="rId8"/>
    <p:sldId id="1481" r:id="rId9"/>
    <p:sldId id="297" r:id="rId10"/>
    <p:sldId id="1480" r:id="rId11"/>
    <p:sldId id="324" r:id="rId12"/>
    <p:sldId id="1482" r:id="rId13"/>
    <p:sldId id="329" r:id="rId14"/>
    <p:sldId id="288" r:id="rId15"/>
    <p:sldId id="1483" r:id="rId16"/>
    <p:sldId id="303" r:id="rId17"/>
    <p:sldId id="1484" r:id="rId18"/>
    <p:sldId id="318" r:id="rId19"/>
    <p:sldId id="1499" r:id="rId20"/>
    <p:sldId id="1436" r:id="rId21"/>
    <p:sldId id="1429" r:id="rId22"/>
    <p:sldId id="345" r:id="rId23"/>
    <p:sldId id="1487" r:id="rId24"/>
    <p:sldId id="1438" r:id="rId25"/>
    <p:sldId id="1497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AD9E5F0-3530-4FA5-8196-1CDBACC21F8B}">
          <p14:sldIdLst>
            <p14:sldId id="259"/>
            <p14:sldId id="325"/>
            <p14:sldId id="1468"/>
          </p14:sldIdLst>
        </p14:section>
        <p14:section name="하나투어 회원구분" id="{1572B9E5-CF2B-4924-A5CF-71BB7664364C}">
          <p14:sldIdLst>
            <p14:sldId id="1481"/>
            <p14:sldId id="297"/>
          </p14:sldIdLst>
        </p14:section>
        <p14:section name="로그인정책" id="{7296F288-F2EF-46B6-96DA-94883A277B4E}">
          <p14:sldIdLst>
            <p14:sldId id="1480"/>
            <p14:sldId id="324"/>
          </p14:sldIdLst>
        </p14:section>
        <p14:section name="통합회원정책" id="{C46DDB3A-FD82-4D6A-8F4F-CB9ED9214D81}">
          <p14:sldIdLst>
            <p14:sldId id="1482"/>
            <p14:sldId id="329"/>
            <p14:sldId id="288"/>
          </p14:sldIdLst>
        </p14:section>
        <p14:section name="SNS회원정책" id="{BCC26F18-2592-47A1-81FA-B902661EB17C}">
          <p14:sldIdLst>
            <p14:sldId id="1483"/>
            <p14:sldId id="303"/>
          </p14:sldIdLst>
        </p14:section>
        <p14:section name="탈퇴정책" id="{941E9040-23BD-402E-A96D-528AE45A65FA}">
          <p14:sldIdLst>
            <p14:sldId id="1484"/>
            <p14:sldId id="318"/>
          </p14:sldIdLst>
        </p14:section>
        <p14:section name="서비스플로우" id="{94446FB3-D381-4180-BE59-173D7D8B640F}">
          <p14:sldIdLst>
            <p14:sldId id="1499"/>
            <p14:sldId id="1436"/>
            <p14:sldId id="1429"/>
            <p14:sldId id="345"/>
          </p14:sldIdLst>
        </p14:section>
        <p14:section name="화면상세" id="{F6713A59-E1A8-4E67-B1F7-CBBB3BE8069D}">
          <p14:sldIdLst>
            <p14:sldId id="1487"/>
            <p14:sldId id="1438"/>
          </p14:sldIdLst>
        </p14:section>
        <p14:section name="EOD" id="{34E322A3-D835-473F-A9BA-BD908BB32881}">
          <p14:sldIdLst>
            <p14:sldId id="149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890" userDrawn="1">
          <p15:clr>
            <a:srgbClr val="A4A3A4"/>
          </p15:clr>
        </p15:guide>
        <p15:guide id="2" pos="27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2BB8"/>
    <a:srgbClr val="EDF1F5"/>
    <a:srgbClr val="F6F0FA"/>
    <a:srgbClr val="FFFFFF"/>
    <a:srgbClr val="708A96"/>
    <a:srgbClr val="414551"/>
    <a:srgbClr val="08D2D9"/>
    <a:srgbClr val="EBE3F9"/>
    <a:srgbClr val="F8F5FD"/>
    <a:srgbClr val="666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61" autoAdjust="0"/>
    <p:restoredTop sz="93733" autoAdjust="0"/>
  </p:normalViewPr>
  <p:slideViewPr>
    <p:cSldViewPr snapToGrid="0">
      <p:cViewPr varScale="1">
        <p:scale>
          <a:sx n="112" d="100"/>
          <a:sy n="112" d="100"/>
        </p:scale>
        <p:origin x="208" y="520"/>
      </p:cViewPr>
      <p:guideLst>
        <p:guide orient="horz" pos="890"/>
        <p:guide pos="27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6480" y="208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7E945DBF-BDC0-40C1-93D3-E4C36B3D215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F80EC6D-FC22-4312-92E6-677D67DC066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49E503-4A5B-49AC-B2BE-FF46CA043398}" type="datetimeFigureOut">
              <a:rPr lang="ko-KR" altLang="en-US" smtClean="0"/>
              <a:t>2025. 12. 30.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777F7F8-A3F3-4270-A06F-1A05BBFC1EE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8D16EAE-CC23-435D-BA7F-A8545EFA4EB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D99EA4-7337-4E5A-A36E-3F286335C7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95778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6C261E-1406-41EC-9801-861AC9DAF08B}" type="datetimeFigureOut">
              <a:rPr lang="ko-KR" altLang="en-US" smtClean="0"/>
              <a:t>2025. 12. 30.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C0B6F2-7121-4949-985D-6D666348A5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907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C0B6F2-7121-4949-985D-6D666348A5A5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4954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 descr="ppt표지&#10;">
            <a:extLst>
              <a:ext uri="{FF2B5EF4-FFF2-40B4-BE49-F238E27FC236}">
                <a16:creationId xmlns:a16="http://schemas.microsoft.com/office/drawing/2014/main" id="{3BACF159-CD05-4DE6-8E48-48EBF06DADA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t="22909" b="48809"/>
          <a:stretch/>
        </p:blipFill>
        <p:spPr bwMode="auto">
          <a:xfrm>
            <a:off x="0" y="1516389"/>
            <a:ext cx="12162462" cy="1930615"/>
          </a:xfrm>
          <a:prstGeom prst="rect">
            <a:avLst/>
          </a:prstGeom>
          <a:noFill/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CFF6FF3-93DA-4950-96A8-1F6E107270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6768" y="2025292"/>
            <a:ext cx="7858575" cy="781167"/>
          </a:xfrm>
        </p:spPr>
        <p:txBody>
          <a:bodyPr anchor="b">
            <a:normAutofit/>
          </a:bodyPr>
          <a:lstStyle>
            <a:lvl1pPr algn="ctr">
              <a:defRPr sz="3600" b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7" name="Picture 3" descr="하나투어ci&#10;">
            <a:extLst>
              <a:ext uri="{FF2B5EF4-FFF2-40B4-BE49-F238E27FC236}">
                <a16:creationId xmlns:a16="http://schemas.microsoft.com/office/drawing/2014/main" id="{0AEC60D9-3B71-4AAB-9DDC-A25892410F5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l="69421" t="83498" r="3996" b="4764"/>
          <a:stretch/>
        </p:blipFill>
        <p:spPr bwMode="auto">
          <a:xfrm>
            <a:off x="9325433" y="5828232"/>
            <a:ext cx="2566455" cy="671628"/>
          </a:xfrm>
          <a:prstGeom prst="rect">
            <a:avLst/>
          </a:prstGeom>
          <a:noFill/>
        </p:spPr>
      </p:pic>
      <p:pic>
        <p:nvPicPr>
          <p:cNvPr id="10" name="Picture 3" descr="D:\HANATOUR_Brand\CI\CI 교체 건 - 2010\Final\Application\ppt양식\New CI-ppt-표지.png">
            <a:extLst>
              <a:ext uri="{FF2B5EF4-FFF2-40B4-BE49-F238E27FC236}">
                <a16:creationId xmlns:a16="http://schemas.microsoft.com/office/drawing/2014/main" id="{346E9A5F-4956-4E4D-811E-4441C016959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l="3614" t="11172" r="58305" b="84804"/>
          <a:stretch/>
        </p:blipFill>
        <p:spPr bwMode="auto">
          <a:xfrm>
            <a:off x="391556" y="769620"/>
            <a:ext cx="3710425" cy="27432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53547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CED6AB0-0E6A-44D1-ABC0-5F399013A6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28374" y="2948840"/>
            <a:ext cx="10515600" cy="1759817"/>
          </a:xfrm>
        </p:spPr>
        <p:txBody>
          <a:bodyPr anchor="b" anchorCtr="0">
            <a:normAutofit/>
          </a:bodyPr>
          <a:lstStyle>
            <a:lvl1pPr algn="ctr">
              <a:lnSpc>
                <a:spcPct val="150000"/>
              </a:lnSpc>
              <a:spcAft>
                <a:spcPts val="0"/>
              </a:spcAft>
              <a:defRPr sz="4000" b="1">
                <a:solidFill>
                  <a:schemeClr val="bg1"/>
                </a:solidFill>
                <a:latin typeface="여행그자체 Regular" panose="020B0503000000000000" pitchFamily="50" charset="-127"/>
                <a:ea typeface="여행그자체 Regular" panose="020B0503000000000000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4195770" y="6644858"/>
            <a:ext cx="7965014" cy="190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635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COPYRIGHT(C) HANATOUR SERVICE INC.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404454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B1F0051-DB67-45A4-BAAB-2BAF9CB03E2A}"/>
              </a:ext>
            </a:extLst>
          </p:cNvPr>
          <p:cNvSpPr/>
          <p:nvPr userDrawn="1"/>
        </p:nvSpPr>
        <p:spPr>
          <a:xfrm>
            <a:off x="1" y="3"/>
            <a:ext cx="12192000" cy="91756"/>
          </a:xfrm>
          <a:prstGeom prst="rect">
            <a:avLst/>
          </a:prstGeom>
          <a:solidFill>
            <a:srgbClr val="5E2B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altLang="ko-KR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98ADA2A-9E9D-41DE-9957-48C1D8C4B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" y="238703"/>
            <a:ext cx="10515600" cy="365125"/>
          </a:xfrm>
        </p:spPr>
        <p:txBody>
          <a:bodyPr>
            <a:noAutofit/>
          </a:bodyPr>
          <a:lstStyle>
            <a:lvl1pPr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439309B1-1221-0F17-7E50-E7451F8AE566}"/>
              </a:ext>
            </a:extLst>
          </p:cNvPr>
          <p:cNvCxnSpPr>
            <a:cxnSpLocks/>
          </p:cNvCxnSpPr>
          <p:nvPr userDrawn="1"/>
        </p:nvCxnSpPr>
        <p:spPr>
          <a:xfrm>
            <a:off x="0" y="654613"/>
            <a:ext cx="12192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8072864C-CDCF-1694-8E5E-C715E448B2D8}"/>
              </a:ext>
            </a:extLst>
          </p:cNvPr>
          <p:cNvSpPr txBox="1">
            <a:spLocks/>
          </p:cNvSpPr>
          <p:nvPr userDrawn="1"/>
        </p:nvSpPr>
        <p:spPr>
          <a:xfrm>
            <a:off x="10549128" y="6547571"/>
            <a:ext cx="1575816" cy="263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79285F0-0F6F-464D-84C8-9E7CE7BB8F2D}" type="slidenum">
              <a:rPr lang="ko-KR" altLang="en-US" sz="900" b="1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 algn="r"/>
              <a:t>‹#›</a:t>
            </a:fld>
            <a:endParaRPr lang="ko-KR" altLang="en-US" sz="900" b="1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6D7F70D-2199-CEEC-7B38-F1C86E2645EC}"/>
              </a:ext>
            </a:extLst>
          </p:cNvPr>
          <p:cNvCxnSpPr>
            <a:cxnSpLocks/>
          </p:cNvCxnSpPr>
          <p:nvPr userDrawn="1"/>
        </p:nvCxnSpPr>
        <p:spPr>
          <a:xfrm>
            <a:off x="0" y="6547571"/>
            <a:ext cx="12192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 descr="스크린샷, 그래픽, 폰트, 디자인이(가) 표시된 사진">
            <a:extLst>
              <a:ext uri="{FF2B5EF4-FFF2-40B4-BE49-F238E27FC236}">
                <a16:creationId xmlns:a16="http://schemas.microsoft.com/office/drawing/2014/main" id="{766B21EF-2A89-51AD-B3E6-20CD00A989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9786" y="-298735"/>
            <a:ext cx="2037782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651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B1F0051-DB67-45A4-BAAB-2BAF9CB03E2A}"/>
              </a:ext>
            </a:extLst>
          </p:cNvPr>
          <p:cNvSpPr/>
          <p:nvPr userDrawn="1"/>
        </p:nvSpPr>
        <p:spPr>
          <a:xfrm>
            <a:off x="1" y="3"/>
            <a:ext cx="12192000" cy="91756"/>
          </a:xfrm>
          <a:prstGeom prst="rect">
            <a:avLst/>
          </a:prstGeom>
          <a:solidFill>
            <a:srgbClr val="5E2B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altLang="ko-KR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98ADA2A-9E9D-41DE-9957-48C1D8C4B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687"/>
            <a:ext cx="10515600" cy="365125"/>
          </a:xfrm>
        </p:spPr>
        <p:txBody>
          <a:bodyPr>
            <a:noAutofit/>
          </a:bodyPr>
          <a:lstStyle>
            <a:lvl1pPr>
              <a:defRPr sz="12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8072864C-CDCF-1694-8E5E-C715E448B2D8}"/>
              </a:ext>
            </a:extLst>
          </p:cNvPr>
          <p:cNvSpPr txBox="1">
            <a:spLocks/>
          </p:cNvSpPr>
          <p:nvPr userDrawn="1"/>
        </p:nvSpPr>
        <p:spPr>
          <a:xfrm>
            <a:off x="10549128" y="6547571"/>
            <a:ext cx="1575816" cy="263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79285F0-0F6F-464D-84C8-9E7CE7BB8F2D}" type="slidenum">
              <a:rPr lang="ko-KR" altLang="en-US" sz="900" b="1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 algn="r"/>
              <a:t>‹#›</a:t>
            </a:fld>
            <a:endParaRPr lang="ko-KR" altLang="en-US" sz="900" b="1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6D7F70D-2199-CEEC-7B38-F1C86E2645EC}"/>
              </a:ext>
            </a:extLst>
          </p:cNvPr>
          <p:cNvCxnSpPr>
            <a:cxnSpLocks/>
          </p:cNvCxnSpPr>
          <p:nvPr userDrawn="1"/>
        </p:nvCxnSpPr>
        <p:spPr>
          <a:xfrm>
            <a:off x="0" y="6547571"/>
            <a:ext cx="12192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 descr="스크린샷, 그래픽, 폰트, 디자인이(가) 표시된 사진">
            <a:extLst>
              <a:ext uri="{FF2B5EF4-FFF2-40B4-BE49-F238E27FC236}">
                <a16:creationId xmlns:a16="http://schemas.microsoft.com/office/drawing/2014/main" id="{766B21EF-2A89-51AD-B3E6-20CD00A989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9786" y="-298735"/>
            <a:ext cx="2037782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946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B1F0051-DB67-45A4-BAAB-2BAF9CB03E2A}"/>
              </a:ext>
            </a:extLst>
          </p:cNvPr>
          <p:cNvSpPr/>
          <p:nvPr userDrawn="1"/>
        </p:nvSpPr>
        <p:spPr>
          <a:xfrm>
            <a:off x="1" y="3"/>
            <a:ext cx="12192000" cy="91756"/>
          </a:xfrm>
          <a:prstGeom prst="rect">
            <a:avLst/>
          </a:prstGeom>
          <a:solidFill>
            <a:srgbClr val="5E2B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altLang="ko-KR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98ADA2A-9E9D-41DE-9957-48C1D8C4B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2337"/>
            <a:ext cx="10515600" cy="365125"/>
          </a:xfrm>
        </p:spPr>
        <p:txBody>
          <a:bodyPr>
            <a:noAutofit/>
          </a:bodyPr>
          <a:lstStyle>
            <a:lvl1pPr>
              <a:defRPr sz="12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8072864C-CDCF-1694-8E5E-C715E448B2D8}"/>
              </a:ext>
            </a:extLst>
          </p:cNvPr>
          <p:cNvSpPr txBox="1">
            <a:spLocks/>
          </p:cNvSpPr>
          <p:nvPr userDrawn="1"/>
        </p:nvSpPr>
        <p:spPr>
          <a:xfrm>
            <a:off x="10549128" y="6547571"/>
            <a:ext cx="1575816" cy="263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79285F0-0F6F-464D-84C8-9E7CE7BB8F2D}" type="slidenum">
              <a:rPr lang="ko-KR" altLang="en-US" sz="900" b="1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 algn="r"/>
              <a:t>‹#›</a:t>
            </a:fld>
            <a:endParaRPr lang="ko-KR" altLang="en-US" sz="900" b="1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" name="그림 6" descr="스크린샷, 그래픽, 폰트, 디자인이(가) 표시된 사진">
            <a:extLst>
              <a:ext uri="{FF2B5EF4-FFF2-40B4-BE49-F238E27FC236}">
                <a16:creationId xmlns:a16="http://schemas.microsoft.com/office/drawing/2014/main" id="{766B21EF-2A89-51AD-B3E6-20CD00A989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9786" y="-298735"/>
            <a:ext cx="2037782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248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B1F0051-DB67-45A4-BAAB-2BAF9CB03E2A}"/>
              </a:ext>
            </a:extLst>
          </p:cNvPr>
          <p:cNvSpPr/>
          <p:nvPr userDrawn="1"/>
        </p:nvSpPr>
        <p:spPr>
          <a:xfrm>
            <a:off x="1" y="3"/>
            <a:ext cx="12192000" cy="91756"/>
          </a:xfrm>
          <a:prstGeom prst="rect">
            <a:avLst/>
          </a:prstGeom>
          <a:solidFill>
            <a:srgbClr val="5E2B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altLang="ko-KR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98ADA2A-9E9D-41DE-9957-48C1D8C4B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800" y="91759"/>
            <a:ext cx="10515600" cy="365125"/>
          </a:xfrm>
        </p:spPr>
        <p:txBody>
          <a:bodyPr>
            <a:noAutofit/>
          </a:bodyPr>
          <a:lstStyle>
            <a:lvl1pPr>
              <a:defRPr sz="1000" b="0" i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8072864C-CDCF-1694-8E5E-C715E448B2D8}"/>
              </a:ext>
            </a:extLst>
          </p:cNvPr>
          <p:cNvSpPr txBox="1">
            <a:spLocks/>
          </p:cNvSpPr>
          <p:nvPr userDrawn="1"/>
        </p:nvSpPr>
        <p:spPr>
          <a:xfrm>
            <a:off x="10549128" y="6547571"/>
            <a:ext cx="1575816" cy="263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79285F0-0F6F-464D-84C8-9E7CE7BB8F2D}" type="slidenum">
              <a:rPr lang="ko-KR" altLang="en-US" sz="900" b="1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 algn="r"/>
              <a:t>‹#›</a:t>
            </a:fld>
            <a:endParaRPr lang="ko-KR" altLang="en-US" sz="900" b="1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C379C01-65CB-A4FE-7FA8-81F97CA3F43B}"/>
              </a:ext>
            </a:extLst>
          </p:cNvPr>
          <p:cNvCxnSpPr>
            <a:cxnSpLocks/>
          </p:cNvCxnSpPr>
          <p:nvPr userDrawn="1"/>
        </p:nvCxnSpPr>
        <p:spPr>
          <a:xfrm>
            <a:off x="50800" y="387034"/>
            <a:ext cx="911225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0F2A3D35-4726-F8A1-1810-9FFD488EB19D}"/>
              </a:ext>
            </a:extLst>
          </p:cNvPr>
          <p:cNvSpPr/>
          <p:nvPr userDrawn="1"/>
        </p:nvSpPr>
        <p:spPr>
          <a:xfrm>
            <a:off x="50800" y="138485"/>
            <a:ext cx="108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0">
                <a:solidFill>
                  <a:schemeClr val="tx1"/>
                </a:solidFill>
                <a:latin typeface="+mn-ea"/>
                <a:ea typeface="+mn-ea"/>
                <a:cs typeface="ADLaM Display" panose="020F0502020204030204" pitchFamily="2" charset="0"/>
              </a:rPr>
              <a:t>화면경로</a:t>
            </a:r>
          </a:p>
        </p:txBody>
      </p:sp>
    </p:spTree>
    <p:extLst>
      <p:ext uri="{BB962C8B-B14F-4D97-AF65-F5344CB8AC3E}">
        <p14:creationId xmlns:p14="http://schemas.microsoft.com/office/powerpoint/2010/main" val="3554593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B1F0051-DB67-45A4-BAAB-2BAF9CB03E2A}"/>
              </a:ext>
            </a:extLst>
          </p:cNvPr>
          <p:cNvSpPr/>
          <p:nvPr userDrawn="1"/>
        </p:nvSpPr>
        <p:spPr>
          <a:xfrm>
            <a:off x="1" y="3"/>
            <a:ext cx="12192000" cy="91756"/>
          </a:xfrm>
          <a:prstGeom prst="rect">
            <a:avLst/>
          </a:prstGeom>
          <a:solidFill>
            <a:srgbClr val="5E2B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altLang="ko-KR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98ADA2A-9E9D-41DE-9957-48C1D8C4B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759"/>
            <a:ext cx="10515600" cy="365125"/>
          </a:xfrm>
        </p:spPr>
        <p:txBody>
          <a:bodyPr>
            <a:noAutofit/>
          </a:bodyPr>
          <a:lstStyle>
            <a:lvl1pPr>
              <a:defRPr sz="1000" b="0" i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8072864C-CDCF-1694-8E5E-C715E448B2D8}"/>
              </a:ext>
            </a:extLst>
          </p:cNvPr>
          <p:cNvSpPr txBox="1">
            <a:spLocks/>
          </p:cNvSpPr>
          <p:nvPr userDrawn="1"/>
        </p:nvSpPr>
        <p:spPr>
          <a:xfrm>
            <a:off x="10549128" y="6547571"/>
            <a:ext cx="1575816" cy="263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79285F0-0F6F-464D-84C8-9E7CE7BB8F2D}" type="slidenum">
              <a:rPr lang="ko-KR" altLang="en-US" sz="900" b="1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 algn="r"/>
              <a:t>‹#›</a:t>
            </a:fld>
            <a:endParaRPr lang="ko-KR" altLang="en-US" sz="900" b="1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5413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B1F0051-DB67-45A4-BAAB-2BAF9CB03E2A}"/>
              </a:ext>
            </a:extLst>
          </p:cNvPr>
          <p:cNvSpPr/>
          <p:nvPr userDrawn="1"/>
        </p:nvSpPr>
        <p:spPr>
          <a:xfrm>
            <a:off x="1" y="2"/>
            <a:ext cx="12192000" cy="548639"/>
          </a:xfrm>
          <a:prstGeom prst="rect">
            <a:avLst/>
          </a:prstGeom>
          <a:solidFill>
            <a:srgbClr val="5E2B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altLang="ko-KR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98ADA2A-9E9D-41DE-9957-48C1D8C4B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" y="91758"/>
            <a:ext cx="10515600" cy="36512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684289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52232A-05F8-6E92-A7DE-FC300CF76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BBEB3E7-5258-8274-C9AB-6A451002C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0C4E4-B8D7-44C5-AE75-A2A151027218}" type="datetimeFigureOut">
              <a:rPr lang="ko-KR" altLang="en-US" smtClean="0"/>
              <a:pPr/>
              <a:t>2025. 12. 30.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6046F39-29CF-1880-75D9-575AE5140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CEE0CC-23AB-A3C4-6007-0B1C5151E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285F0-0F6F-464D-84C8-9E7CE7BB8F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3423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1FAE5B5-7384-45FA-BED4-60359666D919}"/>
              </a:ext>
            </a:extLst>
          </p:cNvPr>
          <p:cNvCxnSpPr>
            <a:cxnSpLocks/>
          </p:cNvCxnSpPr>
          <p:nvPr userDrawn="1"/>
        </p:nvCxnSpPr>
        <p:spPr>
          <a:xfrm>
            <a:off x="0" y="570851"/>
            <a:ext cx="12192000" cy="0"/>
          </a:xfrm>
          <a:prstGeom prst="line">
            <a:avLst/>
          </a:prstGeom>
          <a:ln w="6350">
            <a:solidFill>
              <a:srgbClr val="2C30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4AAEF5BC-C318-4C65-BB54-23BB96316B6F}"/>
              </a:ext>
            </a:extLst>
          </p:cNvPr>
          <p:cNvSpPr txBox="1">
            <a:spLocks/>
          </p:cNvSpPr>
          <p:nvPr userDrawn="1"/>
        </p:nvSpPr>
        <p:spPr>
          <a:xfrm>
            <a:off x="10549128" y="6547571"/>
            <a:ext cx="1575816" cy="263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79285F0-0F6F-464D-84C8-9E7CE7BB8F2D}" type="slidenum">
              <a:rPr lang="ko-KR" altLang="en-US" sz="900" b="1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 algn="r"/>
              <a:t>‹#›</a:t>
            </a:fld>
            <a:endParaRPr lang="ko-KR" altLang="en-US" sz="900" b="1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제목 8">
            <a:extLst>
              <a:ext uri="{FF2B5EF4-FFF2-40B4-BE49-F238E27FC236}">
                <a16:creationId xmlns:a16="http://schemas.microsoft.com/office/drawing/2014/main" id="{2A5C8A9E-98D1-42F6-963D-5C24F31FD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258" y="138315"/>
            <a:ext cx="10515600" cy="549275"/>
          </a:xfrm>
        </p:spPr>
        <p:txBody>
          <a:bodyPr>
            <a:normAutofit/>
          </a:bodyPr>
          <a:lstStyle>
            <a:lvl1pPr>
              <a:defRPr sz="1800" b="1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22E7217-41C0-4599-88A9-32C111EB8A0B}"/>
              </a:ext>
            </a:extLst>
          </p:cNvPr>
          <p:cNvCxnSpPr>
            <a:cxnSpLocks/>
          </p:cNvCxnSpPr>
          <p:nvPr userDrawn="1"/>
        </p:nvCxnSpPr>
        <p:spPr>
          <a:xfrm>
            <a:off x="0" y="6530946"/>
            <a:ext cx="12192000" cy="0"/>
          </a:xfrm>
          <a:prstGeom prst="line">
            <a:avLst/>
          </a:prstGeom>
          <a:ln w="6350">
            <a:solidFill>
              <a:srgbClr val="2C30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6773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6148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33968DA-D4F7-AABB-27B7-1132F55AC283}"/>
              </a:ext>
            </a:extLst>
          </p:cNvPr>
          <p:cNvCxnSpPr>
            <a:cxnSpLocks/>
          </p:cNvCxnSpPr>
          <p:nvPr userDrawn="1"/>
        </p:nvCxnSpPr>
        <p:spPr>
          <a:xfrm>
            <a:off x="0" y="827868"/>
            <a:ext cx="11508606" cy="0"/>
          </a:xfrm>
          <a:prstGeom prst="line">
            <a:avLst/>
          </a:prstGeom>
          <a:ln w="28575">
            <a:solidFill>
              <a:srgbClr val="5E2B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 descr="스크린샷, 그래픽, 폰트, 디자인이(가) 표시된 사진">
            <a:extLst>
              <a:ext uri="{FF2B5EF4-FFF2-40B4-BE49-F238E27FC236}">
                <a16:creationId xmlns:a16="http://schemas.microsoft.com/office/drawing/2014/main" id="{D748203D-5442-A1C1-51E1-1A1FEBA73F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9786" y="-298735"/>
            <a:ext cx="2037782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5941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스크린샷, 그래픽, 폰트, 디자인이(가) 표시된 사진">
            <a:extLst>
              <a:ext uri="{FF2B5EF4-FFF2-40B4-BE49-F238E27FC236}">
                <a16:creationId xmlns:a16="http://schemas.microsoft.com/office/drawing/2014/main" id="{1C291ED5-3FA6-BFC8-B571-B4FF0E15F0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9786" y="-298735"/>
            <a:ext cx="2037782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1291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스크린샷, 그래픽, 폰트, 디자인이(가) 표시된 사진">
            <a:extLst>
              <a:ext uri="{FF2B5EF4-FFF2-40B4-BE49-F238E27FC236}">
                <a16:creationId xmlns:a16="http://schemas.microsoft.com/office/drawing/2014/main" id="{1C291ED5-3FA6-BFC8-B571-B4FF0E15F0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9786" y="-298735"/>
            <a:ext cx="2037782" cy="1440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12B3D877-C82A-C52F-60FD-4FD0A8B70B6A}"/>
              </a:ext>
            </a:extLst>
          </p:cNvPr>
          <p:cNvSpPr/>
          <p:nvPr userDrawn="1"/>
        </p:nvSpPr>
        <p:spPr>
          <a:xfrm>
            <a:off x="0" y="0"/>
            <a:ext cx="3850105" cy="6858000"/>
          </a:xfrm>
          <a:prstGeom prst="rect">
            <a:avLst/>
          </a:prstGeom>
          <a:solidFill>
            <a:srgbClr val="5E2BB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10767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화면">
    <p:bg>
      <p:bgPr>
        <a:solidFill>
          <a:srgbClr val="5E2B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14943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화면">
    <p:bg>
      <p:bgPr>
        <a:solidFill>
          <a:srgbClr val="5E2B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폰트, 그래픽, 블랙, 스크린샷이(가) 표시된 사진">
            <a:extLst>
              <a:ext uri="{FF2B5EF4-FFF2-40B4-BE49-F238E27FC236}">
                <a16:creationId xmlns:a16="http://schemas.microsoft.com/office/drawing/2014/main" id="{41FC0E55-72B4-4C4C-3A82-5BB6DDCF13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1109" y="-300698"/>
            <a:ext cx="2037782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309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5129D2C4-C1CA-651D-3AE5-3D4D7F88F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22CC83A-0ED5-491F-DE89-7DF592BE0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271250" y="40531"/>
            <a:ext cx="869950" cy="273050"/>
          </a:xfrm>
        </p:spPr>
        <p:txBody>
          <a:bodyPr>
            <a:normAutofit/>
          </a:bodyPr>
          <a:lstStyle>
            <a:lvl1pPr>
              <a:defRPr sz="800"/>
            </a:lvl1pPr>
          </a:lstStyle>
          <a:p>
            <a:pPr lvl="0"/>
            <a:endParaRPr lang="ko-KR" altLang="en-US"/>
          </a:p>
        </p:txBody>
      </p:sp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E0CD9EF8-36DF-EE9D-B531-90969C93F7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969500" y="363705"/>
            <a:ext cx="2171700" cy="273050"/>
          </a:xfrm>
        </p:spPr>
        <p:txBody>
          <a:bodyPr>
            <a:normAutofit/>
          </a:bodyPr>
          <a:lstStyle>
            <a:lvl1pPr>
              <a:defRPr sz="800"/>
            </a:lvl1pPr>
          </a:lstStyle>
          <a:p>
            <a:pPr lvl="0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73243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스토리보드_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A4276E-0E54-4E9D-98D6-DF1F3E674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" y="47976"/>
            <a:ext cx="9201150" cy="285399"/>
          </a:xfrm>
          <a:prstGeom prst="rect">
            <a:avLst/>
          </a:prstGeom>
        </p:spPr>
        <p:txBody>
          <a:bodyPr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A92BD0-1F29-41B1-ADCB-383DD5889E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982200" y="333375"/>
            <a:ext cx="2124075" cy="304097"/>
          </a:xfrm>
          <a:prstGeom prst="rect">
            <a:avLst/>
          </a:prstGeom>
        </p:spPr>
        <p:txBody>
          <a:bodyPr/>
          <a:lstStyle>
            <a:lvl1pPr algn="ctr"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DE28C26-3F0C-355A-A448-5B80E431D3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290300" y="47625"/>
            <a:ext cx="815975" cy="2857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lvl="0"/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61002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05D203D-DCE8-4E17-803F-0F4A4B805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989EDD-5F06-482C-80D7-361898659E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F9D0B4-904E-415F-80D5-99F0EBCD98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A010C4E4-B8D7-44C5-AE75-A2A151027218}" type="datetimeFigureOut">
              <a:rPr lang="ko-KR" altLang="en-US" smtClean="0"/>
              <a:pPr/>
              <a:t>2025. 12. 30.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43B3BF-92B3-48E5-A6B3-3EC004FF3A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564440-46D4-453B-AD07-4D57744456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879285F0-0F6F-464D-84C8-9E7CE7BB8F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775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8" r:id="rId3"/>
    <p:sldLayoutId id="2147483689" r:id="rId4"/>
    <p:sldLayoutId id="2147483692" r:id="rId5"/>
    <p:sldLayoutId id="2147483691" r:id="rId6"/>
    <p:sldLayoutId id="2147483696" r:id="rId7"/>
    <p:sldLayoutId id="2147483667" r:id="rId8"/>
    <p:sldLayoutId id="2147483682" r:id="rId9"/>
    <p:sldLayoutId id="2147483661" r:id="rId10"/>
    <p:sldLayoutId id="2147483665" r:id="rId11"/>
    <p:sldLayoutId id="2147483688" r:id="rId12"/>
    <p:sldLayoutId id="2147483687" r:id="rId13"/>
    <p:sldLayoutId id="2147483690" r:id="rId14"/>
    <p:sldLayoutId id="2147483684" r:id="rId15"/>
    <p:sldLayoutId id="2147483686" r:id="rId1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F6058626-A5B8-44FC-A35B-CED6000EC059}"/>
              </a:ext>
            </a:extLst>
          </p:cNvPr>
          <p:cNvSpPr/>
          <p:nvPr userDrawn="1"/>
        </p:nvSpPr>
        <p:spPr>
          <a:xfrm>
            <a:off x="50244" y="45114"/>
            <a:ext cx="9194033" cy="27237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775DCEF-ED86-4E25-8A4F-08D7AD606C0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536338604"/>
              </p:ext>
            </p:extLst>
          </p:nvPr>
        </p:nvGraphicFramePr>
        <p:xfrm>
          <a:off x="9333970" y="45114"/>
          <a:ext cx="2781198" cy="6053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1573">
                  <a:extLst>
                    <a:ext uri="{9D8B030D-6E8A-4147-A177-3AD203B41FA5}">
                      <a16:colId xmlns:a16="http://schemas.microsoft.com/office/drawing/2014/main" val="831715918"/>
                    </a:ext>
                  </a:extLst>
                </a:gridCol>
                <a:gridCol w="729758">
                  <a:extLst>
                    <a:ext uri="{9D8B030D-6E8A-4147-A177-3AD203B41FA5}">
                      <a16:colId xmlns:a16="http://schemas.microsoft.com/office/drawing/2014/main" val="2173742454"/>
                    </a:ext>
                  </a:extLst>
                </a:gridCol>
                <a:gridCol w="548053">
                  <a:extLst>
                    <a:ext uri="{9D8B030D-6E8A-4147-A177-3AD203B41FA5}">
                      <a16:colId xmlns:a16="http://schemas.microsoft.com/office/drawing/2014/main" val="90814499"/>
                    </a:ext>
                  </a:extLst>
                </a:gridCol>
                <a:gridCol w="851814">
                  <a:extLst>
                    <a:ext uri="{9D8B030D-6E8A-4147-A177-3AD203B41FA5}">
                      <a16:colId xmlns:a16="http://schemas.microsoft.com/office/drawing/2014/main" val="3992951082"/>
                    </a:ext>
                  </a:extLst>
                </a:gridCol>
              </a:tblGrid>
              <a:tr h="287172">
                <a:tc>
                  <a:txBody>
                    <a:bodyPr/>
                    <a:lstStyle/>
                    <a:p>
                      <a:pPr marL="0" marR="0" indent="0" algn="ctr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작성자</a:t>
                      </a:r>
                      <a:endParaRPr lang="en-US" altLang="ko-KR" sz="800" b="0" kern="120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kern="120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강재희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작성일</a:t>
                      </a:r>
                      <a:endParaRPr lang="en-US" altLang="ko-KR" sz="800" b="0" kern="120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kern="120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3093875"/>
                  </a:ext>
                </a:extLst>
              </a:tr>
              <a:tr h="318137">
                <a:tc>
                  <a:txBody>
                    <a:bodyPr/>
                    <a:lstStyle/>
                    <a:p>
                      <a:pPr marL="0" marR="0" indent="0" algn="ctr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endParaRPr lang="ko-KR" altLang="en-US" sz="800" b="1">
                        <a:solidFill>
                          <a:schemeClr val="tx2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4975383"/>
                  </a:ext>
                </a:extLst>
              </a:tr>
            </a:tbl>
          </a:graphicData>
        </a:graphic>
      </p:graphicFrame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379DD77-4042-45C0-92CC-0AE8483A5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44" y="40531"/>
            <a:ext cx="9194033" cy="2723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5B4302-7B62-4B4A-9C9B-8B1FB99502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98043" y="352567"/>
            <a:ext cx="2054257" cy="2723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endParaRPr lang="ko-KR" altLang="en-US" dirty="0"/>
          </a:p>
        </p:txBody>
      </p:sp>
      <p:sp>
        <p:nvSpPr>
          <p:cNvPr id="17" name="슬라이드 번호 개체 틀 4">
            <a:extLst>
              <a:ext uri="{FF2B5EF4-FFF2-40B4-BE49-F238E27FC236}">
                <a16:creationId xmlns:a16="http://schemas.microsoft.com/office/drawing/2014/main" id="{8B108F53-1441-45AC-80EA-956569E918F4}"/>
              </a:ext>
            </a:extLst>
          </p:cNvPr>
          <p:cNvSpPr txBox="1">
            <a:spLocks/>
          </p:cNvSpPr>
          <p:nvPr userDrawn="1"/>
        </p:nvSpPr>
        <p:spPr>
          <a:xfrm>
            <a:off x="10528551" y="6525233"/>
            <a:ext cx="1575816" cy="263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79285F0-0F6F-464D-84C8-9E7CE7BB8F2D}" type="slidenum">
              <a:rPr lang="ko-KR" altLang="en-US" sz="900" b="1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 algn="r"/>
              <a:t>‹#›</a:t>
            </a:fld>
            <a:endParaRPr lang="ko-KR" altLang="en-US" sz="900" b="1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62B5B05-FDF3-41E3-976E-2095C4D0EC88}"/>
              </a:ext>
            </a:extLst>
          </p:cNvPr>
          <p:cNvSpPr/>
          <p:nvPr userDrawn="1"/>
        </p:nvSpPr>
        <p:spPr>
          <a:xfrm>
            <a:off x="50244" y="317488"/>
            <a:ext cx="9194033" cy="64712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CE471F4-6489-999C-0C15-CEC591904843}"/>
              </a:ext>
            </a:extLst>
          </p:cNvPr>
          <p:cNvSpPr/>
          <p:nvPr userDrawn="1"/>
        </p:nvSpPr>
        <p:spPr>
          <a:xfrm>
            <a:off x="9330160" y="644327"/>
            <a:ext cx="27864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0">
                <a:solidFill>
                  <a:schemeClr val="tx1"/>
                </a:solidFill>
                <a:latin typeface="+mn-ea"/>
                <a:ea typeface="+mn-ea"/>
                <a:cs typeface="ADLaM Display" panose="020F0502020204030204" pitchFamily="2" charset="0"/>
              </a:rPr>
              <a:t>Description</a:t>
            </a:r>
            <a:endParaRPr lang="ko-KR" altLang="en-US" sz="1000" b="0">
              <a:solidFill>
                <a:schemeClr val="tx1"/>
              </a:solidFill>
              <a:latin typeface="+mn-ea"/>
              <a:ea typeface="+mn-ea"/>
              <a:cs typeface="ADLaM Display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0017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1000" b="1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j-cs"/>
        </a:defRPr>
      </a:lvl1pPr>
    </p:titleStyle>
    <p:bodyStyle>
      <a:lvl1pPr marL="0" indent="0" algn="ctr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8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slide" Target="slide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21D6C2B-5E1C-451C-9D0B-3F0418168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021" y="2645310"/>
            <a:ext cx="11227845" cy="1759817"/>
          </a:xfrm>
        </p:spPr>
        <p:txBody>
          <a:bodyPr anchor="ctr">
            <a:normAutofit/>
          </a:bodyPr>
          <a:lstStyle/>
          <a:p>
            <a:r>
              <a:rPr lang="en-US" altLang="ko-KR" sz="35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Draftify</a:t>
            </a:r>
            <a:r>
              <a:rPr lang="en-US" altLang="ko-KR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 </a:t>
            </a:r>
            <a:r>
              <a:rPr lang="ko-KR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기획서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9C918CB7-8A62-EA15-7C80-4E0BBB0669A8}"/>
              </a:ext>
            </a:extLst>
          </p:cNvPr>
          <p:cNvCxnSpPr>
            <a:cxnSpLocks/>
          </p:cNvCxnSpPr>
          <p:nvPr/>
        </p:nvCxnSpPr>
        <p:spPr>
          <a:xfrm>
            <a:off x="2366433" y="2472266"/>
            <a:ext cx="806450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3434197C-443E-1D63-A2F1-C1998DDAAC48}"/>
              </a:ext>
            </a:extLst>
          </p:cNvPr>
          <p:cNvCxnSpPr>
            <a:cxnSpLocks/>
          </p:cNvCxnSpPr>
          <p:nvPr/>
        </p:nvCxnSpPr>
        <p:spPr>
          <a:xfrm>
            <a:off x="2366433" y="4555066"/>
            <a:ext cx="806450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부제목 4">
            <a:extLst>
              <a:ext uri="{FF2B5EF4-FFF2-40B4-BE49-F238E27FC236}">
                <a16:creationId xmlns:a16="http://schemas.microsoft.com/office/drawing/2014/main" id="{5C4031EC-7FDD-1A37-81EE-F908BC906128}"/>
              </a:ext>
            </a:extLst>
          </p:cNvPr>
          <p:cNvSpPr txBox="1">
            <a:spLocks/>
          </p:cNvSpPr>
          <p:nvPr/>
        </p:nvSpPr>
        <p:spPr>
          <a:xfrm>
            <a:off x="9880600" y="5649913"/>
            <a:ext cx="2182813" cy="104457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chemeClr val="bg1"/>
                </a:solidFill>
                <a:latin typeface="+mn-ea"/>
                <a:ea typeface="+mn-ea"/>
              </a:rPr>
              <a:t>공통서비스기획팀 </a:t>
            </a:r>
            <a:endParaRPr lang="en-US" altLang="ko-KR" sz="1000" dirty="0">
              <a:solidFill>
                <a:schemeClr val="bg1"/>
              </a:solidFill>
              <a:latin typeface="+mn-ea"/>
              <a:ea typeface="+mn-ea"/>
            </a:endParaRPr>
          </a:p>
          <a:p>
            <a:pPr marL="0" indent="0" algn="r">
              <a:lnSpc>
                <a:spcPct val="100000"/>
              </a:lnSpc>
              <a:buNone/>
            </a:pPr>
            <a:r>
              <a:rPr lang="en-US" altLang="ko-KR" sz="1000" dirty="0">
                <a:solidFill>
                  <a:schemeClr val="bg1"/>
                </a:solidFill>
                <a:latin typeface="+mn-ea"/>
                <a:ea typeface="+mn-ea"/>
              </a:rPr>
              <a:t>Last update </a:t>
            </a:r>
            <a:r>
              <a:rPr lang="en-US" altLang="ko-KR" sz="1000">
                <a:solidFill>
                  <a:schemeClr val="bg1"/>
                </a:solidFill>
                <a:latin typeface="+mn-ea"/>
                <a:ea typeface="+mn-ea"/>
              </a:rPr>
              <a:t>: 2025-12-16</a:t>
            </a:r>
            <a:endParaRPr lang="ko-KR" altLang="en-US" sz="1000" dirty="0">
              <a:solidFill>
                <a:schemeClr val="bg1"/>
              </a:solidFill>
              <a:latin typeface="+mn-ea"/>
              <a:ea typeface="+mn-ea"/>
            </a:endParaRPr>
          </a:p>
          <a:p>
            <a:pPr marL="0" indent="0" algn="r">
              <a:lnSpc>
                <a:spcPct val="100000"/>
              </a:lnSpc>
              <a:buNone/>
            </a:pPr>
            <a:r>
              <a:rPr lang="en-US" altLang="ko-KR" sz="1000" dirty="0">
                <a:solidFill>
                  <a:schemeClr val="bg1"/>
                </a:solidFill>
                <a:latin typeface="+mn-ea"/>
                <a:ea typeface="+mn-ea"/>
              </a:rPr>
              <a:t>Version: 0.1</a:t>
            </a:r>
          </a:p>
        </p:txBody>
      </p:sp>
    </p:spTree>
    <p:extLst>
      <p:ext uri="{BB962C8B-B14F-4D97-AF65-F5344CB8AC3E}">
        <p14:creationId xmlns:p14="http://schemas.microsoft.com/office/powerpoint/2010/main" val="3978138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6D7F1A-EDEE-6119-C0A6-30042188C456}"/>
              </a:ext>
            </a:extLst>
          </p:cNvPr>
          <p:cNvSpPr txBox="1"/>
          <p:nvPr/>
        </p:nvSpPr>
        <p:spPr>
          <a:xfrm>
            <a:off x="319788" y="504814"/>
            <a:ext cx="18369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solidFill>
                  <a:srgbClr val="5E2BB8"/>
                </a:solidFill>
                <a:latin typeface="+mj-ea"/>
                <a:ea typeface="+mj-ea"/>
              </a:rPr>
              <a:t>HISTORY</a:t>
            </a:r>
            <a:endParaRPr lang="ko-KR" altLang="en-US" sz="2000" b="1" dirty="0">
              <a:solidFill>
                <a:srgbClr val="5E2BB8"/>
              </a:solidFill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7CE1C10-5CC7-719A-26A0-0C0FDA4B1C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1195986"/>
              </p:ext>
            </p:extLst>
          </p:nvPr>
        </p:nvGraphicFramePr>
        <p:xfrm>
          <a:off x="464995" y="1175851"/>
          <a:ext cx="11354471" cy="410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9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54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7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87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108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9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ver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98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900">
                          <a:latin typeface="+mn-ea"/>
                          <a:ea typeface="+mn-ea"/>
                        </a:rPr>
                        <a:t>0.1</a:t>
                      </a: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900">
                          <a:latin typeface="+mn-ea"/>
                          <a:ea typeface="+mn-ea"/>
                        </a:rPr>
                        <a:t>2025.12.16</a:t>
                      </a: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최초작성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900">
                          <a:latin typeface="+mn-ea"/>
                          <a:ea typeface="+mn-ea"/>
                        </a:rPr>
                        <a:t>강재희</a:t>
                      </a:r>
                      <a:endParaRPr lang="en-US" altLang="ko-KR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98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175141"/>
                  </a:ext>
                </a:extLst>
              </a:tr>
              <a:tr h="19998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581863"/>
                  </a:ext>
                </a:extLst>
              </a:tr>
              <a:tr h="19998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9075957"/>
                  </a:ext>
                </a:extLst>
              </a:tr>
              <a:tr h="19998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6038369"/>
                  </a:ext>
                </a:extLst>
              </a:tr>
              <a:tr h="19998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2729712"/>
                  </a:ext>
                </a:extLst>
              </a:tr>
              <a:tr h="19998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2296724"/>
                  </a:ext>
                </a:extLst>
              </a:tr>
              <a:tr h="19998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444425"/>
                  </a:ext>
                </a:extLst>
              </a:tr>
              <a:tr h="19998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202317"/>
                  </a:ext>
                </a:extLst>
              </a:tr>
              <a:tr h="19998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2073"/>
                  </a:ext>
                </a:extLst>
              </a:tr>
              <a:tr h="19998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7061133"/>
                  </a:ext>
                </a:extLst>
              </a:tr>
              <a:tr h="19998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4522125"/>
                  </a:ext>
                </a:extLst>
              </a:tr>
              <a:tr h="19998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040243"/>
                  </a:ext>
                </a:extLst>
              </a:tr>
              <a:tr h="19998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5615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0876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20372-D6E1-43DD-337D-4C328BACD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2DAAAA0-22C0-D353-FFD1-FC89E3B5D2AC}"/>
              </a:ext>
            </a:extLst>
          </p:cNvPr>
          <p:cNvSpPr txBox="1"/>
          <p:nvPr/>
        </p:nvSpPr>
        <p:spPr>
          <a:xfrm>
            <a:off x="1159843" y="1129727"/>
            <a:ext cx="22274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>
                <a:solidFill>
                  <a:srgbClr val="5E2BB8"/>
                </a:solidFill>
                <a:latin typeface="+mj-ea"/>
                <a:ea typeface="+mj-ea"/>
              </a:rPr>
              <a:t>CONTENTS</a:t>
            </a:r>
            <a:endParaRPr lang="ko-KR" altLang="en-US" sz="3200" b="1" dirty="0">
              <a:solidFill>
                <a:srgbClr val="5E2BB8"/>
              </a:solidFill>
              <a:latin typeface="+mj-ea"/>
              <a:ea typeface="+mj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19C7C5-E358-D720-8FE8-20026519EC5D}"/>
              </a:ext>
            </a:extLst>
          </p:cNvPr>
          <p:cNvSpPr txBox="1"/>
          <p:nvPr/>
        </p:nvSpPr>
        <p:spPr>
          <a:xfrm>
            <a:off x="1212592" y="1700882"/>
            <a:ext cx="2844000" cy="338554"/>
          </a:xfrm>
          <a:prstGeom prst="rect">
            <a:avLst/>
          </a:prstGeom>
          <a:solidFill>
            <a:srgbClr val="5E2BB8"/>
          </a:solidFill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하나투어 회원 정책 및 프로세스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E1FE9C87-3EED-3295-CD1D-5E39A3D5F250}"/>
              </a:ext>
            </a:extLst>
          </p:cNvPr>
          <p:cNvGrpSpPr/>
          <p:nvPr/>
        </p:nvGrpSpPr>
        <p:grpSpPr>
          <a:xfrm>
            <a:off x="5862379" y="2445109"/>
            <a:ext cx="2700153" cy="879298"/>
            <a:chOff x="3467099" y="1754072"/>
            <a:chExt cx="2700153" cy="879298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08E047C-52CF-8B14-13F5-F54655780CE0}"/>
                </a:ext>
              </a:extLst>
            </p:cNvPr>
            <p:cNvSpPr txBox="1"/>
            <p:nvPr/>
          </p:nvSpPr>
          <p:spPr>
            <a:xfrm>
              <a:off x="3467099" y="1754072"/>
              <a:ext cx="27001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ko-KR" altLang="en-US" sz="1400">
                  <a:latin typeface="+mj-ea"/>
                  <a:ea typeface="+mj-ea"/>
                  <a:cs typeface="KoPubWorld돋움체 Bold" panose="00000800000000000000" pitchFamily="2" charset="-127"/>
                </a:rPr>
                <a:t>로그인 정책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1D7BE77-8B06-63F9-8788-A1DFA34B4733}"/>
                </a:ext>
              </a:extLst>
            </p:cNvPr>
            <p:cNvSpPr txBox="1"/>
            <p:nvPr/>
          </p:nvSpPr>
          <p:spPr>
            <a:xfrm>
              <a:off x="3467100" y="2083732"/>
              <a:ext cx="1640183" cy="5496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7800" indent="-177800" algn="l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>
                  <a:latin typeface="+mn-ea"/>
                  <a:cs typeface="KoPubWorld돋움체 Light" panose="00000300000000000000" pitchFamily="2" charset="-127"/>
                </a:rPr>
                <a:t>로그인정책</a:t>
              </a:r>
              <a:endParaRPr lang="en-US" altLang="ko-KR" sz="1200">
                <a:latin typeface="+mn-ea"/>
                <a:cs typeface="KoPubWorld돋움체 Light" panose="00000300000000000000" pitchFamily="2" charset="-127"/>
              </a:endParaRPr>
            </a:p>
            <a:p>
              <a:pPr marL="177800" indent="-177800" algn="l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>
                  <a:latin typeface="+mn-ea"/>
                  <a:cs typeface="KoPubWorld돋움체 Light" panose="00000300000000000000" pitchFamily="2" charset="-127"/>
                </a:rPr>
                <a:t>비밀번호정책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99B84814-8D3A-ABB7-4FF4-2FDDDB90266D}"/>
              </a:ext>
            </a:extLst>
          </p:cNvPr>
          <p:cNvGrpSpPr/>
          <p:nvPr/>
        </p:nvGrpSpPr>
        <p:grpSpPr>
          <a:xfrm>
            <a:off x="5841729" y="1323550"/>
            <a:ext cx="2700153" cy="895831"/>
            <a:chOff x="3467099" y="1737539"/>
            <a:chExt cx="2700153" cy="89583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2019795-838B-D7D7-6FA5-4643B932D6B8}"/>
                </a:ext>
              </a:extLst>
            </p:cNvPr>
            <p:cNvSpPr txBox="1"/>
            <p:nvPr/>
          </p:nvSpPr>
          <p:spPr>
            <a:xfrm>
              <a:off x="3467099" y="1737539"/>
              <a:ext cx="27001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>
                  <a:latin typeface="+mj-ea"/>
                  <a:ea typeface="+mj-ea"/>
                </a:rPr>
                <a:t>회원분류 및 주요 정책</a:t>
              </a:r>
              <a:endParaRPr lang="ko-KR" altLang="en-US" sz="1400">
                <a:latin typeface="+mn-ea"/>
                <a:cs typeface="KoPubWorld돋움체 Bold" panose="00000800000000000000" pitchFamily="2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47C09F3-1F8C-9E75-9919-F73DE18AB710}"/>
                </a:ext>
              </a:extLst>
            </p:cNvPr>
            <p:cNvSpPr txBox="1"/>
            <p:nvPr/>
          </p:nvSpPr>
          <p:spPr>
            <a:xfrm>
              <a:off x="3467100" y="2083732"/>
              <a:ext cx="1640183" cy="5496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7800" indent="-177800" algn="l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>
                  <a:latin typeface="+mn-ea"/>
                  <a:cs typeface="KoPubWorld돋움체 Light" panose="00000300000000000000" pitchFamily="2" charset="-127"/>
                </a:rPr>
                <a:t>회원분류</a:t>
              </a:r>
              <a:endParaRPr lang="en-US" altLang="ko-KR" sz="1200">
                <a:latin typeface="+mn-ea"/>
                <a:cs typeface="KoPubWorld돋움체 Light" panose="00000300000000000000" pitchFamily="2" charset="-127"/>
              </a:endParaRPr>
            </a:p>
            <a:p>
              <a:pPr marL="177800" indent="-177800" algn="l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>
                  <a:latin typeface="+mn-ea"/>
                  <a:cs typeface="KoPubWorld돋움체 Light" panose="00000300000000000000" pitchFamily="2" charset="-127"/>
                </a:rPr>
                <a:t>주요정책</a:t>
              </a: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0AB677DB-13FE-7E29-C875-94C147BAF61C}"/>
              </a:ext>
            </a:extLst>
          </p:cNvPr>
          <p:cNvGrpSpPr/>
          <p:nvPr/>
        </p:nvGrpSpPr>
        <p:grpSpPr>
          <a:xfrm>
            <a:off x="5862379" y="3562574"/>
            <a:ext cx="2700153" cy="1119363"/>
            <a:chOff x="3467099" y="1754072"/>
            <a:chExt cx="2700153" cy="1119363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A7FDB85-3D70-0975-0A46-999F8F32DBAC}"/>
                </a:ext>
              </a:extLst>
            </p:cNvPr>
            <p:cNvSpPr txBox="1"/>
            <p:nvPr/>
          </p:nvSpPr>
          <p:spPr>
            <a:xfrm>
              <a:off x="3467099" y="1754072"/>
              <a:ext cx="27001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ko-KR" altLang="en-US" sz="1400">
                  <a:latin typeface="+mj-ea"/>
                  <a:ea typeface="+mj-ea"/>
                  <a:cs typeface="KoPubWorld돋움체 Bold" panose="00000800000000000000" pitchFamily="2" charset="-127"/>
                </a:rPr>
                <a:t>통합회원 정책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C5FAFE2-BDD1-59CE-AB74-ED361C8A8EF3}"/>
                </a:ext>
              </a:extLst>
            </p:cNvPr>
            <p:cNvSpPr txBox="1"/>
            <p:nvPr/>
          </p:nvSpPr>
          <p:spPr>
            <a:xfrm>
              <a:off x="3467100" y="2083732"/>
              <a:ext cx="1640183" cy="7897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7800" indent="-177800" algn="l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>
                  <a:latin typeface="+mn-ea"/>
                  <a:cs typeface="KoPubWorld돋움체 Light" panose="00000300000000000000" pitchFamily="2" charset="-127"/>
                </a:rPr>
                <a:t>통합회원</a:t>
              </a:r>
              <a:endParaRPr lang="en-US" altLang="ko-KR" sz="1200">
                <a:latin typeface="+mn-ea"/>
                <a:cs typeface="KoPubWorld돋움체 Light" panose="00000300000000000000" pitchFamily="2" charset="-127"/>
              </a:endParaRPr>
            </a:p>
            <a:p>
              <a:pPr marL="177800" indent="-177800" algn="l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>
                  <a:latin typeface="+mn-ea"/>
                  <a:cs typeface="KoPubWorld돋움체 Light" panose="00000300000000000000" pitchFamily="2" charset="-127"/>
                </a:rPr>
                <a:t>통합회원 가입</a:t>
              </a:r>
              <a:endParaRPr lang="en-US" altLang="ko-KR" sz="1200">
                <a:latin typeface="+mn-ea"/>
                <a:cs typeface="KoPubWorld돋움체 Light" panose="00000300000000000000" pitchFamily="2" charset="-127"/>
              </a:endParaRPr>
            </a:p>
            <a:p>
              <a:pPr marL="177800" indent="-177800" algn="l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>
                  <a:latin typeface="+mn-ea"/>
                  <a:cs typeface="KoPubWorld돋움체 Light" panose="00000300000000000000" pitchFamily="2" charset="-127"/>
                </a:rPr>
                <a:t>통합회원 전환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2B39B2FF-BE2C-3681-1650-587BD94EB8CE}"/>
              </a:ext>
            </a:extLst>
          </p:cNvPr>
          <p:cNvSpPr txBox="1"/>
          <p:nvPr/>
        </p:nvSpPr>
        <p:spPr>
          <a:xfrm>
            <a:off x="8954630" y="1316012"/>
            <a:ext cx="2700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latin typeface="+mj-ea"/>
                <a:ea typeface="+mj-ea"/>
                <a:cs typeface="KoPubWorld돋움체 Bold" panose="00000800000000000000" pitchFamily="2" charset="-127"/>
              </a:rPr>
              <a:t>탈퇴 정책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A79873B-6FA7-6B43-274A-935165490835}"/>
              </a:ext>
            </a:extLst>
          </p:cNvPr>
          <p:cNvSpPr txBox="1"/>
          <p:nvPr/>
        </p:nvSpPr>
        <p:spPr>
          <a:xfrm>
            <a:off x="8954630" y="2085714"/>
            <a:ext cx="2700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latin typeface="+mj-ea"/>
                <a:ea typeface="+mj-ea"/>
                <a:cs typeface="KoPubWorld돋움체 Bold" panose="00000800000000000000" pitchFamily="2" charset="-127"/>
              </a:rPr>
              <a:t>프로세스 흐름도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7C4C3A5-1A5F-2A3B-80CC-1D000AEC0E66}"/>
              </a:ext>
            </a:extLst>
          </p:cNvPr>
          <p:cNvSpPr txBox="1"/>
          <p:nvPr/>
        </p:nvSpPr>
        <p:spPr>
          <a:xfrm>
            <a:off x="8954629" y="2855416"/>
            <a:ext cx="2700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latin typeface="+mj-ea"/>
                <a:ea typeface="+mj-ea"/>
                <a:cs typeface="KoPubWorld돋움체 Bold" panose="00000800000000000000" pitchFamily="2" charset="-127"/>
              </a:rPr>
              <a:t>화면상세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2B13BC-1662-FE1C-878E-BE2E515B7730}"/>
              </a:ext>
            </a:extLst>
          </p:cNvPr>
          <p:cNvSpPr txBox="1"/>
          <p:nvPr/>
        </p:nvSpPr>
        <p:spPr>
          <a:xfrm>
            <a:off x="5862379" y="5017411"/>
            <a:ext cx="2700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latin typeface="+mj-ea"/>
                <a:ea typeface="+mj-ea"/>
                <a:cs typeface="KoPubWorld돋움체 Bold" panose="00000800000000000000" pitchFamily="2" charset="-127"/>
              </a:rPr>
              <a:t>SNS</a:t>
            </a:r>
            <a:r>
              <a:rPr lang="ko-KR" altLang="en-US" sz="1400">
                <a:latin typeface="+mj-ea"/>
                <a:ea typeface="+mj-ea"/>
                <a:cs typeface="KoPubWorld돋움체 Bold" panose="00000800000000000000" pitchFamily="2" charset="-127"/>
              </a:rPr>
              <a:t>회원 정책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0EDC85-619C-24C5-83F3-183A1468E4BE}"/>
              </a:ext>
            </a:extLst>
          </p:cNvPr>
          <p:cNvSpPr txBox="1"/>
          <p:nvPr/>
        </p:nvSpPr>
        <p:spPr>
          <a:xfrm>
            <a:off x="5862380" y="5347071"/>
            <a:ext cx="1619533" cy="789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7800" indent="-17780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+mn-ea"/>
                <a:cs typeface="KoPubWorld돋움체 Light" panose="00000300000000000000" pitchFamily="2" charset="-127"/>
              </a:rPr>
              <a:t>네이버 </a:t>
            </a:r>
            <a:endParaRPr lang="en-US" altLang="ko-KR" sz="1200">
              <a:latin typeface="+mn-ea"/>
              <a:cs typeface="KoPubWorld돋움체 Light" panose="00000300000000000000" pitchFamily="2" charset="-127"/>
            </a:endParaRPr>
          </a:p>
          <a:p>
            <a:pPr marL="177800" indent="-1778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+mn-ea"/>
                <a:cs typeface="KoPubWorld돋움체 Light" panose="00000300000000000000" pitchFamily="2" charset="-127"/>
              </a:rPr>
              <a:t>카카오</a:t>
            </a:r>
            <a:endParaRPr lang="en-US" altLang="ko-KR" sz="1200">
              <a:latin typeface="+mn-ea"/>
              <a:cs typeface="KoPubWorld돋움체 Light" panose="00000300000000000000" pitchFamily="2" charset="-127"/>
            </a:endParaRPr>
          </a:p>
          <a:p>
            <a:pPr marL="177800" indent="-1778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+mn-ea"/>
                <a:cs typeface="KoPubWorld돋움체 Light" panose="00000300000000000000" pitchFamily="2" charset="-127"/>
              </a:rPr>
              <a:t>애플</a:t>
            </a:r>
            <a:endParaRPr lang="en-US" altLang="ko-KR" sz="1200">
              <a:latin typeface="+mn-ea"/>
              <a:cs typeface="KoPubWorld돋움체 Light" panose="00000300000000000000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79A278A-6374-16E9-56BE-208A50C1B85B}"/>
              </a:ext>
            </a:extLst>
          </p:cNvPr>
          <p:cNvSpPr/>
          <p:nvPr/>
        </p:nvSpPr>
        <p:spPr>
          <a:xfrm>
            <a:off x="8541882" y="1263789"/>
            <a:ext cx="36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>
                <a:solidFill>
                  <a:sysClr val="windowText" lastClr="000000"/>
                </a:solidFill>
                <a:latin typeface="+mj-ea"/>
                <a:ea typeface="+mj-ea"/>
              </a:rPr>
              <a:t>05</a:t>
            </a:r>
            <a:endParaRPr lang="ko-KR" altLang="en-US" sz="1400"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2CCB652-F181-C498-6281-65481E5AEF12}"/>
              </a:ext>
            </a:extLst>
          </p:cNvPr>
          <p:cNvSpPr/>
          <p:nvPr/>
        </p:nvSpPr>
        <p:spPr>
          <a:xfrm>
            <a:off x="8541882" y="2045586"/>
            <a:ext cx="36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>
                <a:solidFill>
                  <a:sysClr val="windowText" lastClr="000000"/>
                </a:solidFill>
                <a:latin typeface="+mj-ea"/>
                <a:ea typeface="+mj-ea"/>
              </a:rPr>
              <a:t>06</a:t>
            </a:r>
            <a:endParaRPr lang="ko-KR" altLang="en-US" sz="1400"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6077306-0DD3-08F8-94B5-41F5B8BDB79D}"/>
              </a:ext>
            </a:extLst>
          </p:cNvPr>
          <p:cNvSpPr/>
          <p:nvPr/>
        </p:nvSpPr>
        <p:spPr>
          <a:xfrm>
            <a:off x="8541882" y="2824922"/>
            <a:ext cx="36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>
                <a:solidFill>
                  <a:sysClr val="windowText" lastClr="000000"/>
                </a:solidFill>
                <a:latin typeface="+mj-ea"/>
                <a:ea typeface="+mj-ea"/>
              </a:rPr>
              <a:t>07</a:t>
            </a:r>
            <a:endParaRPr lang="ko-KR" altLang="en-US" sz="1400"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5CF20D3-7CE0-5A9F-8223-BDE1FC2B4F48}"/>
              </a:ext>
            </a:extLst>
          </p:cNvPr>
          <p:cNvSpPr/>
          <p:nvPr/>
        </p:nvSpPr>
        <p:spPr>
          <a:xfrm>
            <a:off x="5433622" y="1297438"/>
            <a:ext cx="36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>
                <a:solidFill>
                  <a:sysClr val="windowText" lastClr="000000"/>
                </a:solidFill>
                <a:latin typeface="+mj-ea"/>
                <a:ea typeface="+mj-ea"/>
              </a:rPr>
              <a:t>01</a:t>
            </a:r>
            <a:endParaRPr lang="ko-KR" altLang="en-US" sz="1400"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1629284-7995-423A-3BF2-D653E37CBC2F}"/>
              </a:ext>
            </a:extLst>
          </p:cNvPr>
          <p:cNvSpPr/>
          <p:nvPr/>
        </p:nvSpPr>
        <p:spPr>
          <a:xfrm>
            <a:off x="5433622" y="2392886"/>
            <a:ext cx="36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>
                <a:solidFill>
                  <a:sysClr val="windowText" lastClr="000000"/>
                </a:solidFill>
                <a:latin typeface="+mj-ea"/>
                <a:ea typeface="+mj-ea"/>
              </a:rPr>
              <a:t>02</a:t>
            </a:r>
            <a:endParaRPr lang="ko-KR" altLang="en-US" sz="1400"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E81A5AB-950F-8FA5-5558-3DD8CC6F71E5}"/>
              </a:ext>
            </a:extLst>
          </p:cNvPr>
          <p:cNvSpPr/>
          <p:nvPr/>
        </p:nvSpPr>
        <p:spPr>
          <a:xfrm>
            <a:off x="5433622" y="3536462"/>
            <a:ext cx="36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>
                <a:solidFill>
                  <a:sysClr val="windowText" lastClr="000000"/>
                </a:solidFill>
                <a:latin typeface="+mj-ea"/>
                <a:ea typeface="+mj-ea"/>
              </a:rPr>
              <a:t>03</a:t>
            </a:r>
            <a:endParaRPr lang="ko-KR" altLang="en-US" sz="1400"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ECD4D2B8-382D-C58C-596D-59E8E622DA16}"/>
              </a:ext>
            </a:extLst>
          </p:cNvPr>
          <p:cNvSpPr/>
          <p:nvPr/>
        </p:nvSpPr>
        <p:spPr>
          <a:xfrm>
            <a:off x="5433622" y="4955399"/>
            <a:ext cx="36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>
                <a:solidFill>
                  <a:sysClr val="windowText" lastClr="000000"/>
                </a:solidFill>
                <a:latin typeface="+mj-ea"/>
                <a:ea typeface="+mj-ea"/>
              </a:rPr>
              <a:t>04</a:t>
            </a:r>
            <a:endParaRPr lang="ko-KR" altLang="en-US" sz="1400"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36653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3B8DD-A149-1188-327F-C033AD902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EAE1208A-52CA-59FE-DF7F-125922593D8D}"/>
              </a:ext>
            </a:extLst>
          </p:cNvPr>
          <p:cNvSpPr/>
          <p:nvPr/>
        </p:nvSpPr>
        <p:spPr>
          <a:xfrm>
            <a:off x="5418740" y="3800865"/>
            <a:ext cx="288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>
                <a:solidFill>
                  <a:sysClr val="windowText" lastClr="000000"/>
                </a:solidFill>
                <a:latin typeface="+mn-ea"/>
              </a:rPr>
              <a:t>01</a:t>
            </a:r>
            <a:endParaRPr lang="ko-KR" altLang="en-US" sz="140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28DC53-E249-7845-8132-0260324C9BE9}"/>
              </a:ext>
            </a:extLst>
          </p:cNvPr>
          <p:cNvSpPr txBox="1"/>
          <p:nvPr/>
        </p:nvSpPr>
        <p:spPr>
          <a:xfrm>
            <a:off x="5760740" y="3775588"/>
            <a:ext cx="27001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latin typeface="+mn-ea"/>
                <a:cs typeface="KoPubWorld돋움체 Bold" panose="00000800000000000000" pitchFamily="2" charset="-127"/>
              </a:rPr>
              <a:t>회원분류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39D0563-86E9-4742-06D5-EE53A16C5E54}"/>
              </a:ext>
            </a:extLst>
          </p:cNvPr>
          <p:cNvSpPr/>
          <p:nvPr/>
        </p:nvSpPr>
        <p:spPr>
          <a:xfrm>
            <a:off x="5418740" y="4282639"/>
            <a:ext cx="288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>
                <a:solidFill>
                  <a:sysClr val="windowText" lastClr="000000"/>
                </a:solidFill>
                <a:latin typeface="+mn-ea"/>
              </a:rPr>
              <a:t>02</a:t>
            </a:r>
            <a:endParaRPr lang="ko-KR" altLang="en-US" sz="140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322F83-6876-2E24-69BA-57D20FA477E9}"/>
              </a:ext>
            </a:extLst>
          </p:cNvPr>
          <p:cNvSpPr txBox="1"/>
          <p:nvPr/>
        </p:nvSpPr>
        <p:spPr>
          <a:xfrm>
            <a:off x="5760740" y="4257362"/>
            <a:ext cx="27001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latin typeface="+mn-ea"/>
                <a:cs typeface="KoPubWorld돋움체 Bold" panose="00000800000000000000" pitchFamily="2" charset="-127"/>
              </a:rPr>
              <a:t>주요정책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A9876EA-CD38-B2D4-3C11-894A641F35AA}"/>
              </a:ext>
            </a:extLst>
          </p:cNvPr>
          <p:cNvSpPr/>
          <p:nvPr/>
        </p:nvSpPr>
        <p:spPr>
          <a:xfrm>
            <a:off x="2501900" y="2248961"/>
            <a:ext cx="7188200" cy="976697"/>
          </a:xfrm>
          <a:prstGeom prst="roundRect">
            <a:avLst>
              <a:gd name="adj" fmla="val 0"/>
            </a:avLst>
          </a:prstGeom>
          <a:solidFill>
            <a:srgbClr val="5E2BB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>
                <a:solidFill>
                  <a:srgbClr val="08D2D9"/>
                </a:solidFill>
                <a:latin typeface="+mj-ea"/>
                <a:ea typeface="+mj-ea"/>
              </a:rPr>
              <a:t>01</a:t>
            </a:r>
            <a:r>
              <a:rPr lang="en-US" altLang="ko-KR" sz="3200">
                <a:latin typeface="+mj-ea"/>
                <a:ea typeface="+mj-ea"/>
              </a:rPr>
              <a:t> </a:t>
            </a:r>
            <a:r>
              <a:rPr lang="ko-KR" altLang="en-US" sz="3200">
                <a:latin typeface="+mj-ea"/>
                <a:ea typeface="+mj-ea"/>
              </a:rPr>
              <a:t>회원분류 및 주요정책</a:t>
            </a:r>
            <a:endParaRPr lang="ko-KR" altLang="en-US" sz="3200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038351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B0725-9E40-6E3E-AA3C-87EF935BD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12">
            <a:extLst>
              <a:ext uri="{FF2B5EF4-FFF2-40B4-BE49-F238E27FC236}">
                <a16:creationId xmlns:a16="http://schemas.microsoft.com/office/drawing/2014/main" id="{B56413BA-DD0C-2EF4-DDC6-EE22BFD23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1200" b="0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1. </a:t>
            </a:r>
            <a:r>
              <a:rPr lang="ko-KR" altLang="en-US" sz="1200" b="0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회원종류 및 주요정책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2223DFB-50B2-FCAE-566A-E5072B41C85E}"/>
              </a:ext>
            </a:extLst>
          </p:cNvPr>
          <p:cNvGrpSpPr/>
          <p:nvPr/>
        </p:nvGrpSpPr>
        <p:grpSpPr>
          <a:xfrm>
            <a:off x="366187" y="623347"/>
            <a:ext cx="1466393" cy="400110"/>
            <a:chOff x="250684" y="527628"/>
            <a:chExt cx="1466393" cy="40011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51EEEA6-2AA3-80B9-9BB5-63CF7A111901}"/>
                </a:ext>
              </a:extLst>
            </p:cNvPr>
            <p:cNvSpPr txBox="1"/>
            <p:nvPr/>
          </p:nvSpPr>
          <p:spPr>
            <a:xfrm>
              <a:off x="610684" y="527628"/>
              <a:ext cx="11063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dirty="0">
                  <a:solidFill>
                    <a:srgbClr val="5E2BB8"/>
                  </a:solidFill>
                  <a:latin typeface="+mj-ea"/>
                  <a:ea typeface="+mj-ea"/>
                </a:rPr>
                <a:t>회원분류</a:t>
              </a: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5BAE840-FB4F-2952-F20C-9447936DDA5D}"/>
                </a:ext>
              </a:extLst>
            </p:cNvPr>
            <p:cNvSpPr/>
            <p:nvPr/>
          </p:nvSpPr>
          <p:spPr>
            <a:xfrm>
              <a:off x="250684" y="547683"/>
              <a:ext cx="324000" cy="324000"/>
            </a:xfrm>
            <a:prstGeom prst="rect">
              <a:avLst/>
            </a:prstGeom>
            <a:solidFill>
              <a:srgbClr val="5E2BB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600" dirty="0">
                  <a:solidFill>
                    <a:srgbClr val="FFFFFF"/>
                  </a:solidFill>
                  <a:latin typeface="+mj-ea"/>
                  <a:ea typeface="+mj-ea"/>
                </a:rPr>
                <a:t>01</a:t>
              </a:r>
              <a:endParaRPr lang="ko-KR" altLang="en-US" sz="1600" dirty="0">
                <a:solidFill>
                  <a:srgbClr val="FFFFFF"/>
                </a:solidFill>
                <a:latin typeface="+mj-ea"/>
                <a:ea typeface="+mj-ea"/>
              </a:endParaRPr>
            </a:p>
          </p:txBody>
        </p:sp>
      </p:grp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C0973F0-7C54-D857-0C61-903DE29383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6821312"/>
              </p:ext>
            </p:extLst>
          </p:nvPr>
        </p:nvGraphicFramePr>
        <p:xfrm>
          <a:off x="366186" y="1139230"/>
          <a:ext cx="11706180" cy="48953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8686">
                  <a:extLst>
                    <a:ext uri="{9D8B030D-6E8A-4147-A177-3AD203B41FA5}">
                      <a16:colId xmlns:a16="http://schemas.microsoft.com/office/drawing/2014/main" val="1705014954"/>
                    </a:ext>
                  </a:extLst>
                </a:gridCol>
                <a:gridCol w="694441">
                  <a:extLst>
                    <a:ext uri="{9D8B030D-6E8A-4147-A177-3AD203B41FA5}">
                      <a16:colId xmlns:a16="http://schemas.microsoft.com/office/drawing/2014/main" val="162167933"/>
                    </a:ext>
                  </a:extLst>
                </a:gridCol>
                <a:gridCol w="927095">
                  <a:extLst>
                    <a:ext uri="{9D8B030D-6E8A-4147-A177-3AD203B41FA5}">
                      <a16:colId xmlns:a16="http://schemas.microsoft.com/office/drawing/2014/main" val="1279677673"/>
                    </a:ext>
                  </a:extLst>
                </a:gridCol>
                <a:gridCol w="1133437">
                  <a:extLst>
                    <a:ext uri="{9D8B030D-6E8A-4147-A177-3AD203B41FA5}">
                      <a16:colId xmlns:a16="http://schemas.microsoft.com/office/drawing/2014/main" val="1463419658"/>
                    </a:ext>
                  </a:extLst>
                </a:gridCol>
                <a:gridCol w="3991051">
                  <a:extLst>
                    <a:ext uri="{9D8B030D-6E8A-4147-A177-3AD203B41FA5}">
                      <a16:colId xmlns:a16="http://schemas.microsoft.com/office/drawing/2014/main" val="1554736361"/>
                    </a:ext>
                  </a:extLst>
                </a:gridCol>
                <a:gridCol w="701068">
                  <a:extLst>
                    <a:ext uri="{9D8B030D-6E8A-4147-A177-3AD203B41FA5}">
                      <a16:colId xmlns:a16="http://schemas.microsoft.com/office/drawing/2014/main" val="1488135255"/>
                    </a:ext>
                  </a:extLst>
                </a:gridCol>
                <a:gridCol w="701068">
                  <a:extLst>
                    <a:ext uri="{9D8B030D-6E8A-4147-A177-3AD203B41FA5}">
                      <a16:colId xmlns:a16="http://schemas.microsoft.com/office/drawing/2014/main" val="2158808544"/>
                    </a:ext>
                  </a:extLst>
                </a:gridCol>
                <a:gridCol w="701068">
                  <a:extLst>
                    <a:ext uri="{9D8B030D-6E8A-4147-A177-3AD203B41FA5}">
                      <a16:colId xmlns:a16="http://schemas.microsoft.com/office/drawing/2014/main" val="1812610426"/>
                    </a:ext>
                  </a:extLst>
                </a:gridCol>
                <a:gridCol w="865071">
                  <a:extLst>
                    <a:ext uri="{9D8B030D-6E8A-4147-A177-3AD203B41FA5}">
                      <a16:colId xmlns:a16="http://schemas.microsoft.com/office/drawing/2014/main" val="862512705"/>
                    </a:ext>
                  </a:extLst>
                </a:gridCol>
                <a:gridCol w="1173195">
                  <a:extLst>
                    <a:ext uri="{9D8B030D-6E8A-4147-A177-3AD203B41FA5}">
                      <a16:colId xmlns:a16="http://schemas.microsoft.com/office/drawing/2014/main" val="4147720027"/>
                    </a:ext>
                  </a:extLst>
                </a:gridCol>
              </a:tblGrid>
              <a:tr h="312489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분류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회원상태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통합회원여부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회원구분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상세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채널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데이터유무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2216924"/>
                  </a:ext>
                </a:extLst>
              </a:tr>
              <a:tr h="5077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고객번호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CI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로그인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HC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회원번호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개인정보 수집 및 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이용에 대한 동의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579598"/>
                  </a:ext>
                </a:extLst>
              </a:tr>
              <a:tr h="669248">
                <a:tc rowSpan="5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식별고객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통합회원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통합회원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통신사 본인인증을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통한 신규 가입회원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애플가입자를 </a:t>
                      </a:r>
                      <a:r>
                        <a:rPr lang="ko-KR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제외한 </a:t>
                      </a:r>
                      <a:r>
                        <a:rPr lang="en-US" altLang="ko-KR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SNS (</a:t>
                      </a:r>
                      <a:r>
                        <a:rPr lang="ko-KR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네이버</a:t>
                      </a:r>
                      <a:r>
                        <a:rPr lang="en-US" altLang="ko-KR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카카오</a:t>
                      </a:r>
                      <a:r>
                        <a:rPr lang="en-US" altLang="ko-KR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인증 가입자</a:t>
                      </a:r>
                      <a:endParaRPr lang="en-US" altLang="ko-KR" sz="10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통합회원전환</a:t>
                      </a:r>
                      <a:r>
                        <a:rPr lang="en-US" altLang="ko-KR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을 진행한 기존회원</a:t>
                      </a:r>
                      <a:r>
                        <a:rPr lang="en-US" altLang="ko-KR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통합전회원</a:t>
                      </a:r>
                      <a:r>
                        <a:rPr lang="en-US" altLang="ko-KR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※ CI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</a:rPr>
                        <a:t>수집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 : 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</a:rPr>
                        <a:t>신규가입자는 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CI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</a:rPr>
                        <a:t>수집을 필수로 하나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</a:rPr>
                        <a:t>통합전회원의 통합회원 전환시에는 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CI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</a:rPr>
                        <a:t>수집을 필수로 하지 않음 </a:t>
                      </a:r>
                      <a:endParaRPr lang="en-US" altLang="ko-KR" sz="9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여행그자체 Light"/>
                          <a:ea typeface="여행그자체 Light"/>
                          <a:cs typeface="+mn-cs"/>
                        </a:rPr>
                        <a:t>●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▲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여행그자체 Light"/>
                          <a:ea typeface="여행그자체 Light"/>
                          <a:cs typeface="+mn-cs"/>
                        </a:rPr>
                        <a:t>●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여행그자체 Light"/>
                          <a:ea typeface="여행그자체 Light"/>
                          <a:cs typeface="+mn-cs"/>
                        </a:rPr>
                        <a:t>●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●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741869"/>
                  </a:ext>
                </a:extLst>
              </a:tr>
              <a:tr h="962207"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통합전회원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HC only 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제휴카드</a:t>
                      </a:r>
                      <a:r>
                        <a:rPr lang="en-US" altLang="ko-KR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(KB/</a:t>
                      </a:r>
                      <a:r>
                        <a:rPr lang="ko-KR" altLang="en-US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신한</a:t>
                      </a:r>
                      <a:r>
                        <a:rPr lang="en-US" altLang="ko-KR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고객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모바일월렛</a:t>
                      </a:r>
                      <a:r>
                        <a:rPr lang="en-US" altLang="ko-KR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네이버페이</a:t>
                      </a:r>
                      <a:r>
                        <a:rPr lang="en-US" altLang="ko-KR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시럽</a:t>
                      </a:r>
                      <a:r>
                        <a:rPr lang="en-US" altLang="ko-KR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하나투어 멥버십 카드 생성 고객</a:t>
                      </a:r>
                      <a:endParaRPr lang="en-US" altLang="ko-KR" sz="10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※ 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HC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회원번호를 가졌으나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닷컴 로그인 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 없음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indent="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※ </a:t>
                      </a:r>
                      <a:r>
                        <a:rPr lang="en-US" altLang="ko-KR" sz="9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</a:t>
                      </a:r>
                      <a:r>
                        <a:rPr lang="ko-KR" altLang="en-US" sz="9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수집 </a:t>
                      </a:r>
                      <a:r>
                        <a:rPr lang="en-US" altLang="ko-KR" sz="9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9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카드사 회원 </a:t>
                      </a:r>
                      <a:r>
                        <a:rPr lang="en-US" altLang="ko-KR" sz="9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</a:t>
                      </a:r>
                      <a:r>
                        <a:rPr lang="ko-KR" altLang="en-US" sz="9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정보 수집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여행그자체 Light"/>
                          <a:ea typeface="여행그자체 Light"/>
                          <a:cs typeface="+mn-cs"/>
                        </a:rPr>
                        <a:t>●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▲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X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여행그자체 Light"/>
                          <a:ea typeface="여행그자체 Light"/>
                          <a:cs typeface="+mn-cs"/>
                        </a:rPr>
                        <a:t>●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X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089129"/>
                  </a:ext>
                </a:extLst>
              </a:tr>
              <a:tr h="475244"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애플 가입자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애플 간편 가입으로 가입한 고객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여행그자체 Light"/>
                          <a:ea typeface="여행그자체 Light"/>
                          <a:cs typeface="+mn-cs"/>
                        </a:rPr>
                        <a:t>●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X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●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X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X</a:t>
                      </a:r>
                      <a:endParaRPr lang="ko-KR" altLang="en-US" sz="10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3977883"/>
                  </a:ext>
                </a:extLst>
              </a:tr>
              <a:tr h="507795"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과거 가입 데이터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2025</a:t>
                      </a:r>
                      <a:r>
                        <a:rPr lang="ko-KR" altLang="en-US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en-US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  <a:r>
                        <a:rPr lang="ko-KR" altLang="en-US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 이전 가입한 </a:t>
                      </a:r>
                      <a:r>
                        <a:rPr lang="en-US" altLang="ko-KR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SNS(</a:t>
                      </a:r>
                      <a:r>
                        <a:rPr lang="ko-KR" altLang="en-US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네이버</a:t>
                      </a:r>
                      <a:r>
                        <a:rPr lang="en-US" altLang="ko-KR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카카오</a:t>
                      </a:r>
                      <a:r>
                        <a:rPr lang="en-US" altLang="ko-KR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인증 가입자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2020</a:t>
                      </a:r>
                      <a:r>
                        <a:rPr lang="ko-KR" altLang="en-US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 이전 구닷컴 가입자 </a:t>
                      </a:r>
                      <a:r>
                        <a:rPr lang="en-US" altLang="ko-KR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차세대 이전 데이터</a:t>
                      </a:r>
                      <a:r>
                        <a:rPr lang="en-US" altLang="ko-KR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여행그자체 Light"/>
                          <a:ea typeface="여행그자체 Light"/>
                          <a:cs typeface="+mn-cs"/>
                        </a:rPr>
                        <a:t>●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▲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●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▲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X</a:t>
                      </a:r>
                      <a:endParaRPr lang="ko-KR" altLang="en-US" sz="10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746535"/>
                  </a:ext>
                </a:extLst>
              </a:tr>
              <a:tr h="475244"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비회원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회원가입없이 예약만</a:t>
                      </a:r>
                      <a:r>
                        <a:rPr lang="en-US" altLang="ko-KR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예약자</a:t>
                      </a:r>
                      <a:r>
                        <a:rPr lang="en-US" altLang="ko-KR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여행자</a:t>
                      </a:r>
                      <a:r>
                        <a:rPr lang="en-US" altLang="ko-KR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생성된 고객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여행그자체 Light"/>
                          <a:ea typeface="여행그자체 Light"/>
                          <a:cs typeface="+mn-cs"/>
                        </a:rPr>
                        <a:t>●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X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869719"/>
                  </a:ext>
                </a:extLst>
              </a:tr>
              <a:tr h="47524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미식별고객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식별 되지 않는 고객 </a:t>
                      </a:r>
                      <a:r>
                        <a:rPr lang="en-US" altLang="ko-KR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C999999999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487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6276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3BC0F-7C67-26DA-BA6F-0335AE894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D3B7A26F-E1F2-D6FD-7EE7-5DC9E453D943}"/>
              </a:ext>
            </a:extLst>
          </p:cNvPr>
          <p:cNvSpPr/>
          <p:nvPr/>
        </p:nvSpPr>
        <p:spPr>
          <a:xfrm>
            <a:off x="5167996" y="3538844"/>
            <a:ext cx="288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>
                <a:solidFill>
                  <a:sysClr val="windowText" lastClr="000000"/>
                </a:solidFill>
                <a:latin typeface="+mn-ea"/>
              </a:rPr>
              <a:t>01</a:t>
            </a:r>
            <a:endParaRPr lang="ko-KR" altLang="en-US" sz="140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F14150-C8EA-26E4-4F21-851C8B89E9F4}"/>
              </a:ext>
            </a:extLst>
          </p:cNvPr>
          <p:cNvSpPr txBox="1"/>
          <p:nvPr/>
        </p:nvSpPr>
        <p:spPr>
          <a:xfrm>
            <a:off x="5527996" y="3513567"/>
            <a:ext cx="27001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latin typeface="+mn-ea"/>
                <a:cs typeface="KoPubWorld돋움체 Bold" panose="00000800000000000000" pitchFamily="2" charset="-127"/>
              </a:rPr>
              <a:t>로그인정책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5FD1B90-6B2A-31EA-18D2-B94CFEE25EE1}"/>
              </a:ext>
            </a:extLst>
          </p:cNvPr>
          <p:cNvSpPr/>
          <p:nvPr/>
        </p:nvSpPr>
        <p:spPr>
          <a:xfrm>
            <a:off x="5167996" y="4020618"/>
            <a:ext cx="288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>
                <a:solidFill>
                  <a:sysClr val="windowText" lastClr="000000"/>
                </a:solidFill>
                <a:latin typeface="+mn-ea"/>
              </a:rPr>
              <a:t>02</a:t>
            </a:r>
            <a:endParaRPr lang="ko-KR" altLang="en-US" sz="140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23DC07-C303-E3C6-D97D-FD1EA95B143B}"/>
              </a:ext>
            </a:extLst>
          </p:cNvPr>
          <p:cNvSpPr txBox="1"/>
          <p:nvPr/>
        </p:nvSpPr>
        <p:spPr>
          <a:xfrm>
            <a:off x="5527996" y="3995341"/>
            <a:ext cx="27001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latin typeface="+mn-ea"/>
                <a:cs typeface="KoPubWorld돋움체 Bold" panose="00000800000000000000" pitchFamily="2" charset="-127"/>
              </a:rPr>
              <a:t>비밀번호 정책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D07E8BE-B55B-C7E3-051D-9273B505ECC6}"/>
              </a:ext>
            </a:extLst>
          </p:cNvPr>
          <p:cNvSpPr/>
          <p:nvPr/>
        </p:nvSpPr>
        <p:spPr>
          <a:xfrm>
            <a:off x="2694406" y="2231962"/>
            <a:ext cx="7188200" cy="976697"/>
          </a:xfrm>
          <a:prstGeom prst="roundRect">
            <a:avLst>
              <a:gd name="adj" fmla="val 0"/>
            </a:avLst>
          </a:prstGeom>
          <a:solidFill>
            <a:srgbClr val="5E2BB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>
                <a:solidFill>
                  <a:srgbClr val="08D2D9"/>
                </a:solidFill>
                <a:latin typeface="+mj-ea"/>
                <a:ea typeface="+mj-ea"/>
              </a:rPr>
              <a:t>02</a:t>
            </a:r>
            <a:r>
              <a:rPr lang="en-US" altLang="ko-KR" sz="3200">
                <a:latin typeface="+mj-ea"/>
                <a:ea typeface="+mj-ea"/>
              </a:rPr>
              <a:t> </a:t>
            </a:r>
            <a:r>
              <a:rPr lang="ko-KR" altLang="en-US" sz="3200">
                <a:latin typeface="+mj-ea"/>
                <a:ea typeface="+mj-ea"/>
              </a:rPr>
              <a:t>로그인 정책</a:t>
            </a:r>
            <a:endParaRPr lang="ko-KR" altLang="en-US" sz="3200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26503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5D969-2D80-81F3-B6DC-C491D4D78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12">
            <a:extLst>
              <a:ext uri="{FF2B5EF4-FFF2-40B4-BE49-F238E27FC236}">
                <a16:creationId xmlns:a16="http://schemas.microsoft.com/office/drawing/2014/main" id="{E5867B18-FCFA-4C4D-3DCF-589DA6022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1200" b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2. </a:t>
            </a:r>
            <a:r>
              <a:rPr lang="ko-KR" altLang="en-US" sz="1200" b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로그인 정책</a:t>
            </a: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16D583AF-18DD-D034-DA1C-39AA6CAEB463}"/>
              </a:ext>
            </a:extLst>
          </p:cNvPr>
          <p:cNvGrpSpPr/>
          <p:nvPr/>
        </p:nvGrpSpPr>
        <p:grpSpPr>
          <a:xfrm>
            <a:off x="366187" y="623347"/>
            <a:ext cx="1987369" cy="400110"/>
            <a:chOff x="250684" y="527628"/>
            <a:chExt cx="1987369" cy="400110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FE292D5-D547-1D11-FCAB-86DAA6F4E0B7}"/>
                </a:ext>
              </a:extLst>
            </p:cNvPr>
            <p:cNvSpPr txBox="1"/>
            <p:nvPr/>
          </p:nvSpPr>
          <p:spPr>
            <a:xfrm>
              <a:off x="610684" y="527628"/>
              <a:ext cx="162736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>
                  <a:solidFill>
                    <a:srgbClr val="5E2BB8"/>
                  </a:solidFill>
                  <a:latin typeface="+mj-ea"/>
                  <a:ea typeface="+mj-ea"/>
                </a:rPr>
                <a:t>비밀번호 정책</a:t>
              </a: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572D31D6-7C43-AA2A-D4AC-06C65B56057E}"/>
                </a:ext>
              </a:extLst>
            </p:cNvPr>
            <p:cNvSpPr/>
            <p:nvPr/>
          </p:nvSpPr>
          <p:spPr>
            <a:xfrm>
              <a:off x="250684" y="547683"/>
              <a:ext cx="324000" cy="324000"/>
            </a:xfrm>
            <a:prstGeom prst="rect">
              <a:avLst/>
            </a:prstGeom>
            <a:solidFill>
              <a:srgbClr val="5E2BB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600">
                  <a:solidFill>
                    <a:srgbClr val="FFFFFF"/>
                  </a:solidFill>
                  <a:latin typeface="+mj-ea"/>
                  <a:ea typeface="+mj-ea"/>
                </a:rPr>
                <a:t>02</a:t>
              </a:r>
              <a:endParaRPr lang="ko-KR" altLang="en-US" sz="1600">
                <a:solidFill>
                  <a:srgbClr val="FFFFFF"/>
                </a:solidFill>
                <a:latin typeface="+mj-ea"/>
                <a:ea typeface="+mj-ea"/>
              </a:endParaRPr>
            </a:p>
          </p:txBody>
        </p:sp>
      </p:grp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D4C461F-FBED-579C-76F5-1679895B11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3086374"/>
              </p:ext>
            </p:extLst>
          </p:nvPr>
        </p:nvGraphicFramePr>
        <p:xfrm>
          <a:off x="690187" y="1422614"/>
          <a:ext cx="11239375" cy="215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7677">
                  <a:extLst>
                    <a:ext uri="{9D8B030D-6E8A-4147-A177-3AD203B41FA5}">
                      <a16:colId xmlns:a16="http://schemas.microsoft.com/office/drawing/2014/main" val="4125639485"/>
                    </a:ext>
                  </a:extLst>
                </a:gridCol>
                <a:gridCol w="5796280">
                  <a:extLst>
                    <a:ext uri="{9D8B030D-6E8A-4147-A177-3AD203B41FA5}">
                      <a16:colId xmlns:a16="http://schemas.microsoft.com/office/drawing/2014/main" val="3528545467"/>
                    </a:ext>
                  </a:extLst>
                </a:gridCol>
                <a:gridCol w="3975418">
                  <a:extLst>
                    <a:ext uri="{9D8B030D-6E8A-4147-A177-3AD203B41FA5}">
                      <a16:colId xmlns:a16="http://schemas.microsoft.com/office/drawing/2014/main" val="41078127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정책내용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015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/>
                        <a:t>비밀번호 구성 규칙</a:t>
                      </a:r>
                      <a:endParaRPr lang="ko-KR" altLang="en-US" sz="1000" b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/>
                        <a:t>비밀번호는 영문 소문자</a:t>
                      </a:r>
                      <a:r>
                        <a:rPr lang="en-US" altLang="ko-KR" sz="1000" b="0"/>
                        <a:t>, </a:t>
                      </a:r>
                      <a:r>
                        <a:rPr lang="ko-KR" altLang="en-US" sz="1000" b="0"/>
                        <a:t>대문자</a:t>
                      </a:r>
                      <a:r>
                        <a:rPr lang="en-US" altLang="ko-KR" sz="1000" b="0"/>
                        <a:t>, </a:t>
                      </a:r>
                      <a:r>
                        <a:rPr lang="ko-KR" altLang="en-US" sz="1000" b="0"/>
                        <a:t>숫자</a:t>
                      </a:r>
                      <a:r>
                        <a:rPr lang="en-US" altLang="ko-KR" sz="1000" b="0"/>
                        <a:t>, </a:t>
                      </a:r>
                      <a:r>
                        <a:rPr lang="ko-KR" altLang="en-US" sz="1000" b="0"/>
                        <a:t>특수문자 중 </a:t>
                      </a:r>
                      <a:r>
                        <a:rPr lang="en-US" altLang="ko-KR" sz="1000" b="0"/>
                        <a:t>2</a:t>
                      </a:r>
                      <a:r>
                        <a:rPr lang="ko-KR" altLang="en-US" sz="1000" b="0"/>
                        <a:t>개 이상을 조합하여 </a:t>
                      </a:r>
                      <a:r>
                        <a:rPr lang="en-US" altLang="ko-KR" sz="1000" b="0"/>
                        <a:t>8</a:t>
                      </a:r>
                      <a:r>
                        <a:rPr lang="ko-KR" altLang="en-US" sz="1000" b="0"/>
                        <a:t>자 이상 </a:t>
                      </a:r>
                      <a:r>
                        <a:rPr lang="en-US" altLang="ko-KR" sz="1000" b="0"/>
                        <a:t>16</a:t>
                      </a:r>
                      <a:r>
                        <a:rPr lang="ko-KR" altLang="en-US" sz="1000" b="0"/>
                        <a:t>자 이하로 입력해야 함</a:t>
                      </a:r>
                      <a:r>
                        <a:rPr lang="en-US" altLang="ko-KR" sz="1000" b="0"/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/>
                        <a:t>사용 가능한 특수문자는 </a:t>
                      </a:r>
                      <a:r>
                        <a:rPr lang="en-US" altLang="ko-KR" sz="1000" b="0"/>
                        <a:t>! @ # $ % ^ &amp; * ( )</a:t>
                      </a:r>
                      <a:r>
                        <a:rPr lang="ko-KR" altLang="en-US" sz="1000" b="0"/>
                        <a:t> 만 허용</a:t>
                      </a:r>
                      <a:endParaRPr lang="en-US" altLang="ko-KR" sz="1000" b="0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endParaRPr lang="en-US" altLang="ko-KR" sz="1000" b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273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/>
                        <a:t>변경 주기</a:t>
                      </a:r>
                      <a:endParaRPr lang="ko-KR" altLang="en-US" sz="1000" b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/>
                        <a:t>보안 강화를 위해 </a:t>
                      </a:r>
                      <a:r>
                        <a:rPr lang="en-US" altLang="ko-KR" sz="1000" b="0"/>
                        <a:t>90</a:t>
                      </a:r>
                      <a:r>
                        <a:rPr lang="ko-KR" altLang="en-US" sz="1000" b="0"/>
                        <a:t>일 마다 비밀번호 변경 권장</a:t>
                      </a:r>
                      <a:endParaRPr lang="ko-KR" altLang="en-US" sz="1000" b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>
                          <a:latin typeface="+mn-ea"/>
                          <a:ea typeface="+mn-ea"/>
                        </a:rPr>
                        <a:t>비밀번호 변경 </a:t>
                      </a:r>
                      <a:r>
                        <a:rPr lang="en-US" altLang="ko-KR" sz="1000" b="0">
                          <a:latin typeface="+mn-ea"/>
                          <a:ea typeface="+mn-ea"/>
                        </a:rPr>
                        <a:t>90</a:t>
                      </a:r>
                      <a:r>
                        <a:rPr lang="ko-KR" altLang="en-US" sz="1000" b="0">
                          <a:latin typeface="+mn-ea"/>
                          <a:ea typeface="+mn-ea"/>
                        </a:rPr>
                        <a:t>일 이후 로그인시 비밀번호 변경 팝업 노출하여 변경유도</a:t>
                      </a:r>
                      <a:endParaRPr lang="en-US" altLang="ko-KR" sz="1000" b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575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>
                          <a:latin typeface="+mn-ea"/>
                          <a:ea typeface="+mn-ea"/>
                        </a:rPr>
                        <a:t>비밀번호 변경</a:t>
                      </a:r>
                      <a:endParaRPr lang="en-US" altLang="ko-KR" sz="1000" b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/>
                        <a:t>“</a:t>
                      </a:r>
                      <a:r>
                        <a:rPr lang="ko-KR" altLang="en-US" sz="1000" b="0"/>
                        <a:t>비밀번호 찾기”를 통해 등록된 휴대폰번호</a:t>
                      </a:r>
                      <a:r>
                        <a:rPr lang="en-US" altLang="ko-KR" sz="1000" b="0"/>
                        <a:t>,</a:t>
                      </a:r>
                      <a:r>
                        <a:rPr lang="ko-KR" altLang="en-US" sz="1000" b="0"/>
                        <a:t> 이메일 인증 혹은 휴대폰</a:t>
                      </a:r>
                      <a:r>
                        <a:rPr lang="en-US" altLang="ko-KR" sz="1000" b="0"/>
                        <a:t>(</a:t>
                      </a:r>
                      <a:r>
                        <a:rPr lang="ko-KR" altLang="en-US" sz="1000" b="0"/>
                        <a:t>통신사</a:t>
                      </a:r>
                      <a:r>
                        <a:rPr lang="en-US" altLang="ko-KR" sz="1000" b="0"/>
                        <a:t>)</a:t>
                      </a:r>
                      <a:r>
                        <a:rPr lang="ko-KR" altLang="en-US" sz="1000" b="0"/>
                        <a:t>본인인증으로 변경가능</a:t>
                      </a:r>
                      <a:r>
                        <a:rPr lang="en-US" altLang="ko-KR" sz="1000" b="0"/>
                        <a:t>. </a:t>
                      </a: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/>
                        <a:t>SNS </a:t>
                      </a:r>
                      <a:r>
                        <a:rPr lang="ko-KR" altLang="en-US" sz="1000" b="0"/>
                        <a:t>간편가입 회원</a:t>
                      </a:r>
                      <a:r>
                        <a:rPr lang="en-US" altLang="ko-KR" sz="1000" b="0"/>
                        <a:t>(</a:t>
                      </a:r>
                      <a:r>
                        <a:rPr lang="ko-KR" altLang="en-US" sz="1000" b="0"/>
                        <a:t>네이버</a:t>
                      </a:r>
                      <a:r>
                        <a:rPr lang="en-US" altLang="ko-KR" sz="1000" b="0"/>
                        <a:t>·</a:t>
                      </a:r>
                      <a:r>
                        <a:rPr lang="ko-KR" altLang="en-US" sz="1000" b="0"/>
                        <a:t>카카오</a:t>
                      </a:r>
                      <a:r>
                        <a:rPr lang="en-US" altLang="ko-KR" sz="1000" b="0"/>
                        <a:t>·</a:t>
                      </a:r>
                      <a:r>
                        <a:rPr lang="ko-KR" altLang="en-US" sz="1000" b="0"/>
                        <a:t>애플</a:t>
                      </a:r>
                      <a:r>
                        <a:rPr lang="en-US" altLang="ko-KR" sz="1000" b="0"/>
                        <a:t>)</a:t>
                      </a:r>
                      <a:r>
                        <a:rPr lang="ko-KR" altLang="en-US" sz="1000" b="0"/>
                        <a:t>은 별도의 비밀번호를 사용하지 않으며</a:t>
                      </a:r>
                      <a:r>
                        <a:rPr lang="en-US" altLang="ko-KR" sz="1000" b="0"/>
                        <a:t>, </a:t>
                      </a:r>
                      <a:r>
                        <a:rPr lang="ko-KR" altLang="en-US" sz="1000" b="0"/>
                        <a:t>해당 플랫폼 인증으로 대체함</a:t>
                      </a:r>
                      <a:r>
                        <a:rPr lang="en-US" altLang="ko-KR" sz="1000" b="0"/>
                        <a:t>.</a:t>
                      </a:r>
                      <a:endParaRPr lang="ko-KR" altLang="en-US" sz="1000" b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endParaRPr lang="en-US" altLang="ko-KR" sz="1000" b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136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>
                          <a:latin typeface="+mn-ea"/>
                          <a:ea typeface="+mn-ea"/>
                        </a:rPr>
                        <a:t>비밀번호 오류처리 </a:t>
                      </a:r>
                      <a:endParaRPr lang="en-US" altLang="ko-KR" sz="1000" b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/>
                        <a:t>ID/PW</a:t>
                      </a:r>
                      <a:r>
                        <a:rPr lang="ko-KR" altLang="en-US" sz="1000" b="0"/>
                        <a:t> </a:t>
                      </a:r>
                      <a:r>
                        <a:rPr lang="en-US" altLang="ko-KR" sz="1000" b="0"/>
                        <a:t>5</a:t>
                      </a:r>
                      <a:r>
                        <a:rPr lang="ko-KR" altLang="en-US" sz="1000" b="0"/>
                        <a:t>회 이상 연속으로 틀린 경우</a:t>
                      </a:r>
                      <a:r>
                        <a:rPr lang="en-US" altLang="ko-KR" sz="1000" b="0"/>
                        <a:t>, </a:t>
                      </a:r>
                      <a:r>
                        <a:rPr lang="ko-KR" altLang="en-US" sz="1000" b="0"/>
                        <a:t>자동입력 방지문자</a:t>
                      </a:r>
                      <a:r>
                        <a:rPr lang="en-US" altLang="ko-KR" sz="1000" b="0"/>
                        <a:t>(CAPTCHA) </a:t>
                      </a:r>
                      <a:r>
                        <a:rPr lang="ko-KR" altLang="en-US" sz="1000" b="0"/>
                        <a:t>입력 추가</a:t>
                      </a:r>
                      <a:endParaRPr lang="en-US" altLang="ko-KR" sz="1000" b="0"/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/>
                        <a:t>PC </a:t>
                      </a:r>
                      <a:r>
                        <a:rPr lang="ko-KR" altLang="en-US" sz="1000" b="0"/>
                        <a:t>또는 </a:t>
                      </a:r>
                      <a:r>
                        <a:rPr lang="en-US" altLang="ko-KR" sz="1000" b="0"/>
                        <a:t>MO </a:t>
                      </a:r>
                      <a:r>
                        <a:rPr lang="ko-KR" altLang="en-US" sz="1000" b="0"/>
                        <a:t>중 한쪽에서 </a:t>
                      </a:r>
                      <a:r>
                        <a:rPr lang="en-US" altLang="ko-KR" sz="1000" b="0"/>
                        <a:t>5</a:t>
                      </a:r>
                      <a:r>
                        <a:rPr lang="ko-KR" altLang="en-US" sz="1000" b="0"/>
                        <a:t>회 이상 오류가 누적되면 양쪽 채널 모두 </a:t>
                      </a:r>
                      <a:r>
                        <a:rPr lang="en-US" altLang="ko-KR" sz="1000" b="0"/>
                        <a:t>CAPTCHA </a:t>
                      </a:r>
                      <a:r>
                        <a:rPr lang="ko-KR" altLang="en-US" sz="1000" b="0"/>
                        <a:t>입력이 필수 진행</a:t>
                      </a:r>
                      <a:endParaRPr lang="ko-KR" altLang="en-US" sz="10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자동방지 입력문자 네이버 캡차 </a:t>
                      </a:r>
                      <a:r>
                        <a:rPr lang="en-US" altLang="ko-KR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 </a:t>
                      </a:r>
                      <a:r>
                        <a:rPr lang="ko-KR" altLang="en-US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32988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775C683-7012-44ED-065F-9F5D99563B81}"/>
              </a:ext>
            </a:extLst>
          </p:cNvPr>
          <p:cNvSpPr txBox="1"/>
          <p:nvPr/>
        </p:nvSpPr>
        <p:spPr>
          <a:xfrm>
            <a:off x="366187" y="1114837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highlight>
                  <a:srgbClr val="EDF1F5"/>
                </a:highlight>
              </a:rPr>
              <a:t>[1] </a:t>
            </a:r>
            <a:r>
              <a:rPr lang="ko-KR" altLang="en-US" sz="1400" b="1">
                <a:highlight>
                  <a:srgbClr val="EDF1F5"/>
                </a:highlight>
              </a:rPr>
              <a:t>비밀번호 정책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A5DD7A-76DF-B97F-381B-E7F792978C62}"/>
              </a:ext>
            </a:extLst>
          </p:cNvPr>
          <p:cNvSpPr txBox="1"/>
          <p:nvPr/>
        </p:nvSpPr>
        <p:spPr>
          <a:xfrm>
            <a:off x="410637" y="3705022"/>
            <a:ext cx="2154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highlight>
                  <a:srgbClr val="EDF1F5"/>
                </a:highlight>
              </a:rPr>
              <a:t>[2] </a:t>
            </a:r>
            <a:r>
              <a:rPr lang="ko-KR" altLang="en-US" sz="1400" b="1">
                <a:highlight>
                  <a:srgbClr val="EDF1F5"/>
                </a:highlight>
              </a:rPr>
              <a:t>비밀번호 변경 체크로직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F87A8E2-6708-5B4A-47B7-1CD15161CF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1742207"/>
              </p:ext>
            </p:extLst>
          </p:nvPr>
        </p:nvGraphicFramePr>
        <p:xfrm>
          <a:off x="755849" y="4066654"/>
          <a:ext cx="11173713" cy="2376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101">
                  <a:extLst>
                    <a:ext uri="{9D8B030D-6E8A-4147-A177-3AD203B41FA5}">
                      <a16:colId xmlns:a16="http://schemas.microsoft.com/office/drawing/2014/main" val="4125639485"/>
                    </a:ext>
                  </a:extLst>
                </a:gridCol>
                <a:gridCol w="2860875">
                  <a:extLst>
                    <a:ext uri="{9D8B030D-6E8A-4147-A177-3AD203B41FA5}">
                      <a16:colId xmlns:a16="http://schemas.microsoft.com/office/drawing/2014/main" val="3528545467"/>
                    </a:ext>
                  </a:extLst>
                </a:gridCol>
                <a:gridCol w="6928737">
                  <a:extLst>
                    <a:ext uri="{9D8B030D-6E8A-4147-A177-3AD203B41FA5}">
                      <a16:colId xmlns:a16="http://schemas.microsoft.com/office/drawing/2014/main" val="41078127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코드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안내메세지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015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>
                          <a:effectLst/>
                          <a:latin typeface="Atlassian Sans"/>
                        </a:rPr>
                        <a:t>EBCCSTAPI043</a:t>
                      </a:r>
                    </a:p>
                  </a:txBody>
                  <a:tcPr marL="50800" marR="50800" marT="50800" marB="508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1000" b="0">
                          <a:effectLst/>
                          <a:latin typeface="Atlassian Sans"/>
                        </a:rPr>
                        <a:t>길이오류 </a:t>
                      </a:r>
                      <a:endParaRPr lang="en-US" altLang="ko-KR" sz="1000" b="0">
                        <a:effectLst/>
                        <a:latin typeface="Atlassian Sans"/>
                      </a:endParaRPr>
                    </a:p>
                  </a:txBody>
                  <a:tcPr marL="50800" marR="50800" marT="50800" marB="508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1000" b="0">
                          <a:effectLst/>
                          <a:latin typeface="Atlassian Sans"/>
                        </a:rPr>
                        <a:t>비밀번호는 영문 소문자</a:t>
                      </a:r>
                      <a:r>
                        <a:rPr lang="en-US" altLang="ko-KR" sz="1000" b="0">
                          <a:effectLst/>
                          <a:latin typeface="Atlassian Sans"/>
                        </a:rPr>
                        <a:t>, </a:t>
                      </a:r>
                      <a:r>
                        <a:rPr lang="ko-KR" altLang="en-US" sz="1000" b="0">
                          <a:effectLst/>
                          <a:latin typeface="Atlassian Sans"/>
                        </a:rPr>
                        <a:t>대문자</a:t>
                      </a:r>
                      <a:r>
                        <a:rPr lang="en-US" altLang="ko-KR" sz="1000" b="0">
                          <a:effectLst/>
                          <a:latin typeface="Atlassian Sans"/>
                        </a:rPr>
                        <a:t>, </a:t>
                      </a:r>
                      <a:r>
                        <a:rPr lang="ko-KR" altLang="en-US" sz="1000" b="0">
                          <a:effectLst/>
                          <a:latin typeface="Atlassian Sans"/>
                        </a:rPr>
                        <a:t>숫자</a:t>
                      </a:r>
                      <a:r>
                        <a:rPr lang="en-US" altLang="ko-KR" sz="1000" b="0">
                          <a:effectLst/>
                          <a:latin typeface="Atlassian Sans"/>
                        </a:rPr>
                        <a:t>, </a:t>
                      </a:r>
                      <a:r>
                        <a:rPr lang="ko-KR" altLang="en-US" sz="1000" b="0">
                          <a:effectLst/>
                          <a:latin typeface="Atlassian Sans"/>
                        </a:rPr>
                        <a:t>특수문자 중 </a:t>
                      </a:r>
                      <a:r>
                        <a:rPr lang="en-US" altLang="ko-KR" sz="1000" b="0">
                          <a:effectLst/>
                          <a:latin typeface="Atlassian Sans"/>
                        </a:rPr>
                        <a:t>2</a:t>
                      </a:r>
                      <a:r>
                        <a:rPr lang="ko-KR" altLang="en-US" sz="1000" b="0">
                          <a:effectLst/>
                          <a:latin typeface="Atlassian Sans"/>
                        </a:rPr>
                        <a:t>개 이상을 조합하여 </a:t>
                      </a:r>
                      <a:r>
                        <a:rPr lang="en-US" altLang="ko-KR" sz="1000" b="0">
                          <a:effectLst/>
                          <a:latin typeface="Atlassian Sans"/>
                        </a:rPr>
                        <a:t>8</a:t>
                      </a:r>
                      <a:r>
                        <a:rPr lang="ko-KR" altLang="en-US" sz="1000" b="0">
                          <a:effectLst/>
                          <a:latin typeface="Atlassian Sans"/>
                        </a:rPr>
                        <a:t>자 이상 </a:t>
                      </a:r>
                      <a:r>
                        <a:rPr lang="en-US" altLang="ko-KR" sz="1000" b="0">
                          <a:effectLst/>
                          <a:latin typeface="Atlassian Sans"/>
                        </a:rPr>
                        <a:t>16</a:t>
                      </a:r>
                      <a:r>
                        <a:rPr lang="ko-KR" altLang="en-US" sz="1000" b="0">
                          <a:effectLst/>
                          <a:latin typeface="Atlassian Sans"/>
                        </a:rPr>
                        <a:t>자 이하로 입력해 주세요</a:t>
                      </a:r>
                      <a:r>
                        <a:rPr lang="en-US" altLang="ko-KR" sz="1000" b="0">
                          <a:effectLst/>
                          <a:latin typeface="Atlassian Sans"/>
                        </a:rPr>
                        <a:t>. </a:t>
                      </a:r>
                    </a:p>
                    <a:p>
                      <a:pPr algn="l" fontAlgn="t">
                        <a:buNone/>
                      </a:pPr>
                      <a:r>
                        <a:rPr lang="en-US" altLang="ko-KR" sz="1000" b="0">
                          <a:effectLst/>
                          <a:latin typeface="Atlassian Sans"/>
                        </a:rPr>
                        <a:t>(</a:t>
                      </a:r>
                      <a:r>
                        <a:rPr lang="ko-KR" altLang="en-US" sz="1000" b="0">
                          <a:effectLst/>
                          <a:latin typeface="Atlassian Sans"/>
                        </a:rPr>
                        <a:t>특수문자는 </a:t>
                      </a:r>
                      <a:r>
                        <a:rPr lang="en-US" altLang="ko-KR" sz="1000" b="0">
                          <a:effectLst/>
                          <a:latin typeface="Atlassian Sans"/>
                        </a:rPr>
                        <a:t>-!@#$%^*?_~</a:t>
                      </a:r>
                      <a:r>
                        <a:rPr lang="ko-KR" altLang="en-US" sz="1000" b="0">
                          <a:effectLst/>
                          <a:latin typeface="Atlassian Sans"/>
                        </a:rPr>
                        <a:t>만 허용됩니다</a:t>
                      </a:r>
                      <a:r>
                        <a:rPr lang="en-US" altLang="ko-KR" sz="1000" b="0">
                          <a:effectLst/>
                          <a:latin typeface="Atlassian Sans"/>
                        </a:rPr>
                        <a:t>.)</a:t>
                      </a:r>
                    </a:p>
                  </a:txBody>
                  <a:tcPr marL="50800" marR="50800" marT="50800" marB="508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273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>
                          <a:effectLst/>
                          <a:latin typeface="Atlassian Sans"/>
                        </a:rPr>
                        <a:t>EBCCSTAPI044</a:t>
                      </a:r>
                    </a:p>
                  </a:txBody>
                  <a:tcPr marL="50800" marR="50800" marT="50800" marB="508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1000" b="0">
                          <a:effectLst/>
                          <a:latin typeface="Atlassian Sans"/>
                        </a:rPr>
                        <a:t>동일문자 </a:t>
                      </a:r>
                      <a:r>
                        <a:rPr lang="en-US" altLang="ko-KR" sz="1000" b="0">
                          <a:effectLst/>
                          <a:latin typeface="Atlassian Sans"/>
                        </a:rPr>
                        <a:t>3</a:t>
                      </a:r>
                      <a:r>
                        <a:rPr lang="ko-KR" altLang="en-US" sz="1000" b="0">
                          <a:effectLst/>
                          <a:latin typeface="Atlassian Sans"/>
                        </a:rPr>
                        <a:t>개 이상 중복 </a:t>
                      </a:r>
                      <a:endParaRPr lang="en-US" altLang="ko-KR" sz="1000" b="0">
                        <a:effectLst/>
                        <a:latin typeface="Atlassian Sans"/>
                      </a:endParaRPr>
                    </a:p>
                  </a:txBody>
                  <a:tcPr marL="50800" marR="50800" marT="50800" marB="508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1000" b="0">
                          <a:effectLst/>
                          <a:latin typeface="Atlassian Sans"/>
                        </a:rPr>
                        <a:t>동일 문자</a:t>
                      </a:r>
                      <a:r>
                        <a:rPr lang="en-US" altLang="ko-KR" sz="1000" b="0">
                          <a:effectLst/>
                          <a:latin typeface="Atlassian Sans"/>
                        </a:rPr>
                        <a:t>, </a:t>
                      </a:r>
                      <a:r>
                        <a:rPr lang="ko-KR" altLang="en-US" sz="1000" b="0">
                          <a:effectLst/>
                          <a:latin typeface="Atlassian Sans"/>
                        </a:rPr>
                        <a:t>숫자가 연속으로 </a:t>
                      </a:r>
                      <a:r>
                        <a:rPr lang="en-US" altLang="ko-KR" sz="1000" b="0">
                          <a:effectLst/>
                          <a:latin typeface="Atlassian Sans"/>
                        </a:rPr>
                        <a:t>3</a:t>
                      </a:r>
                      <a:r>
                        <a:rPr lang="ko-KR" altLang="en-US" sz="1000" b="0">
                          <a:effectLst/>
                          <a:latin typeface="Atlassian Sans"/>
                        </a:rPr>
                        <a:t>자 이상 들어가지 않게 입력해 주세요</a:t>
                      </a:r>
                      <a:r>
                        <a:rPr lang="en-US" altLang="ko-KR" sz="1000" b="0">
                          <a:effectLst/>
                          <a:latin typeface="Atlassian Sans"/>
                        </a:rPr>
                        <a:t>.</a:t>
                      </a:r>
                    </a:p>
                  </a:txBody>
                  <a:tcPr marL="50800" marR="50800" marT="50800" marB="508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575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>
                          <a:effectLst/>
                          <a:latin typeface="Atlassian Sans"/>
                        </a:rPr>
                        <a:t>EBCCSTAPI049</a:t>
                      </a:r>
                    </a:p>
                  </a:txBody>
                  <a:tcPr marL="50800" marR="50800" marT="50800" marB="508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1000" b="0">
                          <a:effectLst/>
                          <a:latin typeface="Atlassian Sans"/>
                        </a:rPr>
                        <a:t>연속문자 </a:t>
                      </a:r>
                      <a:r>
                        <a:rPr lang="en-US" altLang="ko-KR" sz="1000" b="0">
                          <a:effectLst/>
                          <a:latin typeface="Atlassian Sans"/>
                        </a:rPr>
                        <a:t>3</a:t>
                      </a:r>
                      <a:r>
                        <a:rPr lang="ko-KR" altLang="en-US" sz="1000" b="0">
                          <a:effectLst/>
                          <a:latin typeface="Atlassian Sans"/>
                        </a:rPr>
                        <a:t>개 이상 중복 </a:t>
                      </a:r>
                      <a:endParaRPr lang="en-US" altLang="ko-KR" sz="1000" b="0">
                        <a:effectLst/>
                        <a:latin typeface="Atlassian Sans"/>
                      </a:endParaRPr>
                    </a:p>
                  </a:txBody>
                  <a:tcPr marL="50800" marR="50800" marT="50800" marB="508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1000" b="0">
                          <a:effectLst/>
                          <a:latin typeface="Atlassian Sans"/>
                        </a:rPr>
                        <a:t>동일 문자</a:t>
                      </a:r>
                      <a:r>
                        <a:rPr lang="en-US" altLang="ko-KR" sz="1000" b="0">
                          <a:effectLst/>
                          <a:latin typeface="Atlassian Sans"/>
                        </a:rPr>
                        <a:t>, </a:t>
                      </a:r>
                      <a:r>
                        <a:rPr lang="ko-KR" altLang="en-US" sz="1000" b="0">
                          <a:effectLst/>
                          <a:latin typeface="Atlassian Sans"/>
                        </a:rPr>
                        <a:t>숫자가 연속으로 </a:t>
                      </a:r>
                      <a:r>
                        <a:rPr lang="en-US" altLang="ko-KR" sz="1000" b="0">
                          <a:effectLst/>
                          <a:latin typeface="Atlassian Sans"/>
                        </a:rPr>
                        <a:t>3</a:t>
                      </a:r>
                      <a:r>
                        <a:rPr lang="ko-KR" altLang="en-US" sz="1000" b="0">
                          <a:effectLst/>
                          <a:latin typeface="Atlassian Sans"/>
                        </a:rPr>
                        <a:t>자 이상 들어가지 않게 입력해 주세요</a:t>
                      </a:r>
                      <a:r>
                        <a:rPr lang="en-US" altLang="ko-KR" sz="1000" b="0">
                          <a:effectLst/>
                          <a:latin typeface="Atlassian Sans"/>
                        </a:rPr>
                        <a:t>.</a:t>
                      </a:r>
                    </a:p>
                  </a:txBody>
                  <a:tcPr marL="50800" marR="50800" marT="50800" marB="508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136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>
                          <a:effectLst/>
                          <a:latin typeface="Atlassian Sans"/>
                        </a:rPr>
                        <a:t>EBCCSTAPI050</a:t>
                      </a:r>
                    </a:p>
                  </a:txBody>
                  <a:tcPr marL="50800" marR="50800" marT="50800" marB="508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1000" b="0">
                          <a:effectLst/>
                          <a:latin typeface="Atlassian Sans"/>
                        </a:rPr>
                        <a:t>연속숫자 </a:t>
                      </a:r>
                      <a:r>
                        <a:rPr lang="en-US" altLang="ko-KR" sz="1000" b="0">
                          <a:effectLst/>
                          <a:latin typeface="Atlassian Sans"/>
                        </a:rPr>
                        <a:t>3</a:t>
                      </a:r>
                      <a:r>
                        <a:rPr lang="ko-KR" altLang="en-US" sz="1000" b="0">
                          <a:effectLst/>
                          <a:latin typeface="Atlassian Sans"/>
                        </a:rPr>
                        <a:t>개 이상 중복 </a:t>
                      </a:r>
                      <a:endParaRPr lang="en-US" altLang="ko-KR" sz="1000" b="0">
                        <a:effectLst/>
                        <a:latin typeface="Atlassian Sans"/>
                      </a:endParaRPr>
                    </a:p>
                  </a:txBody>
                  <a:tcPr marL="50800" marR="50800" marT="50800" marB="508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1000" b="0">
                          <a:effectLst/>
                          <a:latin typeface="Atlassian Sans"/>
                        </a:rPr>
                        <a:t>동일 문자</a:t>
                      </a:r>
                      <a:r>
                        <a:rPr lang="en-US" altLang="ko-KR" sz="1000" b="0">
                          <a:effectLst/>
                          <a:latin typeface="Atlassian Sans"/>
                        </a:rPr>
                        <a:t>, </a:t>
                      </a:r>
                      <a:r>
                        <a:rPr lang="ko-KR" altLang="en-US" sz="1000" b="0">
                          <a:effectLst/>
                          <a:latin typeface="Atlassian Sans"/>
                        </a:rPr>
                        <a:t>숫자가 연속으로 </a:t>
                      </a:r>
                      <a:r>
                        <a:rPr lang="en-US" altLang="ko-KR" sz="1000" b="0">
                          <a:effectLst/>
                          <a:latin typeface="Atlassian Sans"/>
                        </a:rPr>
                        <a:t>3</a:t>
                      </a:r>
                      <a:r>
                        <a:rPr lang="ko-KR" altLang="en-US" sz="1000" b="0">
                          <a:effectLst/>
                          <a:latin typeface="Atlassian Sans"/>
                        </a:rPr>
                        <a:t>자 이상 들어가지 않게 입력해 주세요</a:t>
                      </a:r>
                      <a:r>
                        <a:rPr lang="en-US" altLang="ko-KR" sz="1000" b="0">
                          <a:effectLst/>
                          <a:latin typeface="Atlassian Sans"/>
                        </a:rPr>
                        <a:t>.</a:t>
                      </a:r>
                    </a:p>
                  </a:txBody>
                  <a:tcPr marL="50800" marR="50800" marT="50800" marB="508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329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>
                          <a:effectLst/>
                          <a:latin typeface="Atlassian Sans"/>
                        </a:rPr>
                        <a:t>EBCCSTAPI051</a:t>
                      </a:r>
                    </a:p>
                  </a:txBody>
                  <a:tcPr marL="50800" marR="50800" marT="50800" marB="508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1000" b="0">
                          <a:effectLst/>
                          <a:latin typeface="Atlassian Sans"/>
                        </a:rPr>
                        <a:t>영문 대</a:t>
                      </a:r>
                      <a:r>
                        <a:rPr lang="en-US" altLang="ko-KR" sz="1000" b="0">
                          <a:effectLst/>
                          <a:latin typeface="Atlassian Sans"/>
                        </a:rPr>
                        <a:t>.</a:t>
                      </a:r>
                      <a:r>
                        <a:rPr lang="ko-KR" altLang="en-US" sz="1000" b="0">
                          <a:effectLst/>
                          <a:latin typeface="Atlassian Sans"/>
                        </a:rPr>
                        <a:t>소문자</a:t>
                      </a:r>
                      <a:r>
                        <a:rPr lang="en-US" altLang="ko-KR" sz="1000" b="0">
                          <a:effectLst/>
                          <a:latin typeface="Atlassian Sans"/>
                        </a:rPr>
                        <a:t>, </a:t>
                      </a:r>
                      <a:r>
                        <a:rPr lang="ko-KR" altLang="en-US" sz="1000" b="0">
                          <a:effectLst/>
                          <a:latin typeface="Atlassian Sans"/>
                        </a:rPr>
                        <a:t>숫자</a:t>
                      </a:r>
                      <a:r>
                        <a:rPr lang="en-US" altLang="ko-KR" sz="1000" b="0">
                          <a:effectLst/>
                          <a:latin typeface="Atlassian Sans"/>
                        </a:rPr>
                        <a:t>, </a:t>
                      </a:r>
                      <a:r>
                        <a:rPr lang="ko-KR" altLang="en-US" sz="1000" b="0">
                          <a:effectLst/>
                          <a:latin typeface="Atlassian Sans"/>
                        </a:rPr>
                        <a:t>특수문자 중 </a:t>
                      </a:r>
                      <a:r>
                        <a:rPr lang="en-US" altLang="ko-KR" sz="1000" b="0">
                          <a:effectLst/>
                          <a:latin typeface="Atlassian Sans"/>
                        </a:rPr>
                        <a:t>2</a:t>
                      </a:r>
                      <a:r>
                        <a:rPr lang="ko-KR" altLang="en-US" sz="1000" b="0">
                          <a:effectLst/>
                          <a:latin typeface="Atlassian Sans"/>
                        </a:rPr>
                        <a:t>개 이상 조합 필요 </a:t>
                      </a:r>
                      <a:endParaRPr lang="en-US" altLang="ko-KR" sz="1000" b="0">
                        <a:effectLst/>
                        <a:latin typeface="Atlassian Sans"/>
                      </a:endParaRPr>
                    </a:p>
                  </a:txBody>
                  <a:tcPr marL="50800" marR="50800" marT="50800" marB="508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1000" b="0">
                          <a:effectLst/>
                          <a:latin typeface="Atlassian Sans"/>
                        </a:rPr>
                        <a:t>비밀번호는 영문 소문자</a:t>
                      </a:r>
                      <a:r>
                        <a:rPr lang="en-US" altLang="ko-KR" sz="1000" b="0">
                          <a:effectLst/>
                          <a:latin typeface="Atlassian Sans"/>
                        </a:rPr>
                        <a:t>, </a:t>
                      </a:r>
                      <a:r>
                        <a:rPr lang="ko-KR" altLang="en-US" sz="1000" b="0">
                          <a:effectLst/>
                          <a:latin typeface="Atlassian Sans"/>
                        </a:rPr>
                        <a:t>대문자</a:t>
                      </a:r>
                      <a:r>
                        <a:rPr lang="en-US" altLang="ko-KR" sz="1000" b="0">
                          <a:effectLst/>
                          <a:latin typeface="Atlassian Sans"/>
                        </a:rPr>
                        <a:t>, </a:t>
                      </a:r>
                      <a:r>
                        <a:rPr lang="ko-KR" altLang="en-US" sz="1000" b="0">
                          <a:effectLst/>
                          <a:latin typeface="Atlassian Sans"/>
                        </a:rPr>
                        <a:t>숫자</a:t>
                      </a:r>
                      <a:r>
                        <a:rPr lang="en-US" altLang="ko-KR" sz="1000" b="0">
                          <a:effectLst/>
                          <a:latin typeface="Atlassian Sans"/>
                        </a:rPr>
                        <a:t>, </a:t>
                      </a:r>
                      <a:r>
                        <a:rPr lang="ko-KR" altLang="en-US" sz="1000" b="0">
                          <a:effectLst/>
                          <a:latin typeface="Atlassian Sans"/>
                        </a:rPr>
                        <a:t>특수문자 중 </a:t>
                      </a:r>
                      <a:r>
                        <a:rPr lang="en-US" altLang="ko-KR" sz="1000" b="0">
                          <a:effectLst/>
                          <a:latin typeface="Atlassian Sans"/>
                        </a:rPr>
                        <a:t>2</a:t>
                      </a:r>
                      <a:r>
                        <a:rPr lang="ko-KR" altLang="en-US" sz="1000" b="0">
                          <a:effectLst/>
                          <a:latin typeface="Atlassian Sans"/>
                        </a:rPr>
                        <a:t>개 이상을 조합하여 </a:t>
                      </a:r>
                      <a:r>
                        <a:rPr lang="en-US" altLang="ko-KR" sz="1000" b="0">
                          <a:effectLst/>
                          <a:latin typeface="Atlassian Sans"/>
                        </a:rPr>
                        <a:t>8</a:t>
                      </a:r>
                      <a:r>
                        <a:rPr lang="ko-KR" altLang="en-US" sz="1000" b="0">
                          <a:effectLst/>
                          <a:latin typeface="Atlassian Sans"/>
                        </a:rPr>
                        <a:t>자 이상 </a:t>
                      </a:r>
                      <a:r>
                        <a:rPr lang="en-US" altLang="ko-KR" sz="1000" b="0">
                          <a:effectLst/>
                          <a:latin typeface="Atlassian Sans"/>
                        </a:rPr>
                        <a:t>16</a:t>
                      </a:r>
                      <a:r>
                        <a:rPr lang="ko-KR" altLang="en-US" sz="1000" b="0">
                          <a:effectLst/>
                          <a:latin typeface="Atlassian Sans"/>
                        </a:rPr>
                        <a:t>자 이하로 입력해 주세요</a:t>
                      </a:r>
                      <a:r>
                        <a:rPr lang="en-US" altLang="ko-KR" sz="1000" b="0">
                          <a:effectLst/>
                          <a:latin typeface="Atlassian Sans"/>
                        </a:rPr>
                        <a:t>. </a:t>
                      </a:r>
                    </a:p>
                    <a:p>
                      <a:pPr algn="l" fontAlgn="t">
                        <a:buNone/>
                      </a:pPr>
                      <a:r>
                        <a:rPr lang="en-US" altLang="ko-KR" sz="1000" b="0">
                          <a:effectLst/>
                          <a:latin typeface="Atlassian Sans"/>
                        </a:rPr>
                        <a:t>(</a:t>
                      </a:r>
                      <a:r>
                        <a:rPr lang="ko-KR" altLang="en-US" sz="1000" b="0">
                          <a:effectLst/>
                          <a:latin typeface="Atlassian Sans"/>
                        </a:rPr>
                        <a:t>특수문자는 </a:t>
                      </a:r>
                      <a:r>
                        <a:rPr lang="en-US" altLang="ko-KR" sz="1000" b="0">
                          <a:effectLst/>
                          <a:latin typeface="Atlassian Sans"/>
                        </a:rPr>
                        <a:t>-!@#$%^*?_~</a:t>
                      </a:r>
                      <a:r>
                        <a:rPr lang="ko-KR" altLang="en-US" sz="1000" b="0">
                          <a:effectLst/>
                          <a:latin typeface="Atlassian Sans"/>
                        </a:rPr>
                        <a:t>만 허용됩니다</a:t>
                      </a:r>
                      <a:r>
                        <a:rPr lang="en-US" altLang="ko-KR" sz="1000" b="0">
                          <a:effectLst/>
                          <a:latin typeface="Atlassian Sans"/>
                        </a:rPr>
                        <a:t>.)</a:t>
                      </a:r>
                    </a:p>
                  </a:txBody>
                  <a:tcPr marL="50800" marR="50800" marT="50800" marB="508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4008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>
                          <a:effectLst/>
                          <a:latin typeface="Atlassian Sans"/>
                        </a:rPr>
                        <a:t>EBCCSTAPI045</a:t>
                      </a:r>
                    </a:p>
                  </a:txBody>
                  <a:tcPr marL="50800" marR="50800" marT="50800" marB="508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1000" b="0">
                          <a:effectLst/>
                          <a:latin typeface="Atlassian Sans"/>
                        </a:rPr>
                        <a:t>로그인</a:t>
                      </a:r>
                      <a:r>
                        <a:rPr lang="en-US" altLang="ko-KR" sz="1000" b="0">
                          <a:effectLst/>
                          <a:latin typeface="Atlassian Sans"/>
                        </a:rPr>
                        <a:t>ID </a:t>
                      </a:r>
                      <a:r>
                        <a:rPr lang="ko-KR" altLang="en-US" sz="1000" b="0">
                          <a:effectLst/>
                          <a:latin typeface="Atlassian Sans"/>
                        </a:rPr>
                        <a:t>사용불가 </a:t>
                      </a:r>
                      <a:endParaRPr lang="en-US" altLang="ko-KR" sz="1000" b="0">
                        <a:effectLst/>
                        <a:latin typeface="Atlassian Sans"/>
                      </a:endParaRPr>
                    </a:p>
                  </a:txBody>
                  <a:tcPr marL="50800" marR="50800" marT="50800" marB="508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1000" b="0">
                          <a:effectLst/>
                          <a:latin typeface="Atlassian Sans"/>
                        </a:rPr>
                        <a:t>비밀번호 문자는 로그인</a:t>
                      </a:r>
                      <a:r>
                        <a:rPr lang="en-US" altLang="ko-KR" sz="1000" b="0">
                          <a:effectLst/>
                          <a:latin typeface="Atlassian Sans"/>
                        </a:rPr>
                        <a:t>ID</a:t>
                      </a:r>
                      <a:r>
                        <a:rPr lang="ko-KR" altLang="en-US" sz="1000" b="0">
                          <a:effectLst/>
                          <a:latin typeface="Atlassian Sans"/>
                        </a:rPr>
                        <a:t>와 같지 않게 입력해 주세요</a:t>
                      </a:r>
                      <a:r>
                        <a:rPr lang="en-US" altLang="ko-KR" sz="1000" b="0">
                          <a:effectLst/>
                          <a:latin typeface="Atlassian Sans"/>
                        </a:rPr>
                        <a:t>.</a:t>
                      </a:r>
                    </a:p>
                  </a:txBody>
                  <a:tcPr marL="50800" marR="50800" marT="50800" marB="508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784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>
                          <a:effectLst/>
                          <a:latin typeface="Atlassian Sans"/>
                        </a:rPr>
                        <a:t>EBCCSTAPI047</a:t>
                      </a:r>
                    </a:p>
                  </a:txBody>
                  <a:tcPr marL="50800" marR="50800" marT="50800" marB="508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1000" b="0">
                          <a:effectLst/>
                          <a:latin typeface="Atlassian Sans"/>
                        </a:rPr>
                        <a:t>생년월일 사용불가 </a:t>
                      </a:r>
                      <a:endParaRPr lang="en-US" altLang="ko-KR" sz="1000" b="0">
                        <a:effectLst/>
                        <a:latin typeface="Atlassian Sans"/>
                      </a:endParaRPr>
                    </a:p>
                  </a:txBody>
                  <a:tcPr marL="50800" marR="50800" marT="50800" marB="508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1000" b="0">
                          <a:effectLst/>
                          <a:latin typeface="Atlassian Sans"/>
                        </a:rPr>
                        <a:t>비밀번호 숫자는 생년월일과 같지 않게 입력해 주세요</a:t>
                      </a:r>
                      <a:r>
                        <a:rPr lang="en-US" altLang="ko-KR" sz="1000" b="0">
                          <a:effectLst/>
                          <a:latin typeface="Atlassian Sans"/>
                        </a:rPr>
                        <a:t>.</a:t>
                      </a:r>
                    </a:p>
                  </a:txBody>
                  <a:tcPr marL="50800" marR="50800" marT="50800" marB="508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508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2261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B0FDE-EE2E-202B-44BB-BD2478ACD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1D0E46C2-9FE1-3CE6-EA8E-195809A2A155}"/>
              </a:ext>
            </a:extLst>
          </p:cNvPr>
          <p:cNvSpPr/>
          <p:nvPr/>
        </p:nvSpPr>
        <p:spPr>
          <a:xfrm>
            <a:off x="5254222" y="3646613"/>
            <a:ext cx="288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>
                <a:solidFill>
                  <a:sysClr val="windowText" lastClr="000000"/>
                </a:solidFill>
                <a:latin typeface="+mn-ea"/>
              </a:rPr>
              <a:t>01</a:t>
            </a:r>
            <a:endParaRPr lang="ko-KR" altLang="en-US" sz="140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3D6318-D477-3204-12E1-B94D03E05FB7}"/>
              </a:ext>
            </a:extLst>
          </p:cNvPr>
          <p:cNvSpPr txBox="1"/>
          <p:nvPr/>
        </p:nvSpPr>
        <p:spPr>
          <a:xfrm>
            <a:off x="5576122" y="3611881"/>
            <a:ext cx="27001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latin typeface="+mn-ea"/>
                <a:cs typeface="KoPubWorld돋움체 Bold" panose="00000800000000000000" pitchFamily="2" charset="-127"/>
              </a:rPr>
              <a:t>통합회원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3EDACC2-A8A9-3465-4CB6-5500905F7560}"/>
              </a:ext>
            </a:extLst>
          </p:cNvPr>
          <p:cNvSpPr/>
          <p:nvPr/>
        </p:nvSpPr>
        <p:spPr>
          <a:xfrm>
            <a:off x="5254222" y="4128387"/>
            <a:ext cx="288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>
                <a:solidFill>
                  <a:sysClr val="windowText" lastClr="000000"/>
                </a:solidFill>
                <a:latin typeface="+mn-ea"/>
              </a:rPr>
              <a:t>02</a:t>
            </a:r>
            <a:endParaRPr lang="ko-KR" altLang="en-US" sz="140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DEC8B9-5DB5-EE27-3BD7-117900C1720F}"/>
              </a:ext>
            </a:extLst>
          </p:cNvPr>
          <p:cNvSpPr txBox="1"/>
          <p:nvPr/>
        </p:nvSpPr>
        <p:spPr>
          <a:xfrm>
            <a:off x="5576122" y="4093655"/>
            <a:ext cx="27001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latin typeface="+mn-ea"/>
                <a:cs typeface="KoPubWorld돋움체 Bold" panose="00000800000000000000" pitchFamily="2" charset="-127"/>
              </a:rPr>
              <a:t>통합회원 가입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AC55B0A-F33A-8349-918D-71C008F7943C}"/>
              </a:ext>
            </a:extLst>
          </p:cNvPr>
          <p:cNvSpPr/>
          <p:nvPr/>
        </p:nvSpPr>
        <p:spPr>
          <a:xfrm>
            <a:off x="5254222" y="4610161"/>
            <a:ext cx="288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>
                <a:solidFill>
                  <a:sysClr val="windowText" lastClr="000000"/>
                </a:solidFill>
                <a:latin typeface="+mn-ea"/>
              </a:rPr>
              <a:t>03</a:t>
            </a:r>
            <a:endParaRPr lang="ko-KR" altLang="en-US" sz="140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BEF672-0CE7-A512-2C9C-4701F97E93D7}"/>
              </a:ext>
            </a:extLst>
          </p:cNvPr>
          <p:cNvSpPr txBox="1"/>
          <p:nvPr/>
        </p:nvSpPr>
        <p:spPr>
          <a:xfrm>
            <a:off x="5576122" y="4575429"/>
            <a:ext cx="27001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latin typeface="+mn-ea"/>
                <a:cs typeface="KoPubWorld돋움체 Bold" panose="00000800000000000000" pitchFamily="2" charset="-127"/>
              </a:rPr>
              <a:t>통합회원 전환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9B955D8-E395-E58B-F9D1-5DC5B090B636}"/>
              </a:ext>
            </a:extLst>
          </p:cNvPr>
          <p:cNvSpPr/>
          <p:nvPr/>
        </p:nvSpPr>
        <p:spPr>
          <a:xfrm>
            <a:off x="2501900" y="2269423"/>
            <a:ext cx="7188200" cy="976697"/>
          </a:xfrm>
          <a:prstGeom prst="roundRect">
            <a:avLst>
              <a:gd name="adj" fmla="val 0"/>
            </a:avLst>
          </a:prstGeom>
          <a:solidFill>
            <a:srgbClr val="5E2BB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>
                <a:solidFill>
                  <a:srgbClr val="08D2D9"/>
                </a:solidFill>
                <a:latin typeface="+mj-ea"/>
                <a:ea typeface="+mj-ea"/>
              </a:rPr>
              <a:t>03</a:t>
            </a:r>
            <a:r>
              <a:rPr lang="en-US" altLang="ko-KR" sz="320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ko-KR" altLang="en-US" sz="3200">
                <a:solidFill>
                  <a:schemeClr val="bg1"/>
                </a:solidFill>
                <a:latin typeface="+mj-ea"/>
                <a:ea typeface="+mj-ea"/>
              </a:rPr>
              <a:t>통합회원 정책</a:t>
            </a:r>
          </a:p>
        </p:txBody>
      </p:sp>
    </p:spTree>
    <p:extLst>
      <p:ext uri="{BB962C8B-B14F-4D97-AF65-F5344CB8AC3E}">
        <p14:creationId xmlns:p14="http://schemas.microsoft.com/office/powerpoint/2010/main" val="950093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D0FA7-8749-3716-6D44-02C3E0450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12">
            <a:extLst>
              <a:ext uri="{FF2B5EF4-FFF2-40B4-BE49-F238E27FC236}">
                <a16:creationId xmlns:a16="http://schemas.microsoft.com/office/drawing/2014/main" id="{39973C32-8970-4A53-916B-D8898992C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3. </a:t>
            </a:r>
            <a:r>
              <a:rPr lang="ko-KR" altLang="en-US" b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통합회원 정책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EFA14E4-093B-B533-419E-698F18B38851}"/>
              </a:ext>
            </a:extLst>
          </p:cNvPr>
          <p:cNvGrpSpPr/>
          <p:nvPr/>
        </p:nvGrpSpPr>
        <p:grpSpPr>
          <a:xfrm>
            <a:off x="366187" y="623347"/>
            <a:ext cx="1987369" cy="400110"/>
            <a:chOff x="250684" y="527628"/>
            <a:chExt cx="1987369" cy="40011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EA0550C-FC72-B84A-9A5E-039836D89CE8}"/>
                </a:ext>
              </a:extLst>
            </p:cNvPr>
            <p:cNvSpPr txBox="1"/>
            <p:nvPr/>
          </p:nvSpPr>
          <p:spPr>
            <a:xfrm>
              <a:off x="610684" y="527628"/>
              <a:ext cx="162736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>
                  <a:solidFill>
                    <a:srgbClr val="5E2BB8"/>
                  </a:solidFill>
                  <a:latin typeface="+mj-ea"/>
                  <a:ea typeface="+mj-ea"/>
                </a:rPr>
                <a:t>통합회원 전환</a:t>
              </a: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13EDC8D-7B4D-8895-F867-385C000587FC}"/>
                </a:ext>
              </a:extLst>
            </p:cNvPr>
            <p:cNvSpPr/>
            <p:nvPr/>
          </p:nvSpPr>
          <p:spPr>
            <a:xfrm>
              <a:off x="250684" y="565683"/>
              <a:ext cx="324000" cy="324000"/>
            </a:xfrm>
            <a:prstGeom prst="rect">
              <a:avLst/>
            </a:prstGeom>
            <a:solidFill>
              <a:srgbClr val="5E2BB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600">
                  <a:solidFill>
                    <a:srgbClr val="FFFFFF"/>
                  </a:solidFill>
                  <a:latin typeface="+mj-ea"/>
                  <a:ea typeface="+mj-ea"/>
                </a:rPr>
                <a:t>03</a:t>
              </a:r>
              <a:endParaRPr lang="ko-KR" altLang="en-US" sz="1600">
                <a:solidFill>
                  <a:srgbClr val="FFFFFF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93E37E02-FF0B-7669-C6D1-3D32B007E8C1}"/>
              </a:ext>
            </a:extLst>
          </p:cNvPr>
          <p:cNvSpPr txBox="1"/>
          <p:nvPr/>
        </p:nvSpPr>
        <p:spPr>
          <a:xfrm>
            <a:off x="601287" y="1417368"/>
            <a:ext cx="9498113" cy="9889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00">
                <a:latin typeface="+mn-ea"/>
              </a:rPr>
              <a:t>[</a:t>
            </a:r>
            <a:r>
              <a:rPr lang="ko-KR" altLang="en-US" sz="1000">
                <a:latin typeface="+mn-ea"/>
              </a:rPr>
              <a:t>통합전회원</a:t>
            </a:r>
            <a:r>
              <a:rPr lang="en-US" altLang="ko-KR" sz="1000">
                <a:latin typeface="+mn-ea"/>
              </a:rPr>
              <a:t>]</a:t>
            </a:r>
            <a:r>
              <a:rPr lang="ko-KR" altLang="en-US" sz="1000">
                <a:latin typeface="+mn-ea"/>
              </a:rPr>
              <a:t>은 통합회원전환 절차를 거쳐 </a:t>
            </a:r>
            <a:r>
              <a:rPr lang="en-US" altLang="ko-KR" sz="1000">
                <a:latin typeface="+mn-ea"/>
              </a:rPr>
              <a:t>[</a:t>
            </a:r>
            <a:r>
              <a:rPr lang="ko-KR" altLang="en-US" sz="1000">
                <a:latin typeface="+mn-ea"/>
              </a:rPr>
              <a:t>통합회원</a:t>
            </a:r>
            <a:r>
              <a:rPr lang="en-US" altLang="ko-KR" sz="1000">
                <a:latin typeface="+mn-ea"/>
              </a:rPr>
              <a:t>]</a:t>
            </a:r>
            <a:r>
              <a:rPr lang="ko-KR" altLang="en-US" sz="1000">
                <a:latin typeface="+mn-ea"/>
              </a:rPr>
              <a:t>으로 전환이 가능하다</a:t>
            </a:r>
            <a:r>
              <a:rPr lang="en-US" altLang="ko-KR" sz="1000">
                <a:latin typeface="+mn-ea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latin typeface="+mn-ea"/>
              </a:rPr>
              <a:t>통합회원 전환 절차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u="sng">
                <a:solidFill>
                  <a:srgbClr val="5E2BB8"/>
                </a:solidFill>
                <a:latin typeface="+mn-ea"/>
              </a:rPr>
              <a:t>휴대폰 점유인증 및 필수약관동의</a:t>
            </a:r>
            <a:endParaRPr lang="en-US" altLang="ko-KR" sz="1000" u="sng">
              <a:solidFill>
                <a:srgbClr val="5E2BB8"/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latin typeface="+mn-ea"/>
              </a:rPr>
              <a:t>통합전회원의 통합회원 전환은 강제하지 않는다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대부분의 닷컴 서비스는 통합전회원 상태에서도 정상적으로 이용 가능하므로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전환은 사용자 선택에 따른 자율 방식으로 운영한다</a:t>
            </a:r>
            <a:r>
              <a:rPr lang="en-US" altLang="ko-KR" sz="1000">
                <a:latin typeface="+mn-ea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latin typeface="+mn-ea"/>
              </a:rPr>
              <a:t>다만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통합회원 전용 서비스</a:t>
            </a:r>
            <a:r>
              <a:rPr lang="en-US" altLang="ko-KR" sz="1000">
                <a:latin typeface="+mn-ea"/>
              </a:rPr>
              <a:t>(</a:t>
            </a:r>
            <a:r>
              <a:rPr lang="ko-KR" altLang="en-US" sz="1000">
                <a:latin typeface="+mn-ea"/>
              </a:rPr>
              <a:t>예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항공 예약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특정 이벤트 참여 등</a:t>
            </a:r>
            <a:r>
              <a:rPr lang="en-US" altLang="ko-KR" sz="1000">
                <a:latin typeface="+mn-ea"/>
              </a:rPr>
              <a:t>) </a:t>
            </a:r>
            <a:r>
              <a:rPr lang="ko-KR" altLang="en-US" sz="1000">
                <a:latin typeface="+mn-ea"/>
              </a:rPr>
              <a:t>이용 시에는 통합회원 전환 안내 후 팝업을 통해 전환 절차를 진행할 수 있도록 유도한다</a:t>
            </a:r>
            <a:endParaRPr lang="en-US" altLang="ko-KR" sz="100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CB4BAA-BD9A-1E49-5EE4-86A0A1C7B116}"/>
              </a:ext>
            </a:extLst>
          </p:cNvPr>
          <p:cNvSpPr txBox="1"/>
          <p:nvPr/>
        </p:nvSpPr>
        <p:spPr>
          <a:xfrm>
            <a:off x="366187" y="2550701"/>
            <a:ext cx="27318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highlight>
                  <a:srgbClr val="EDF1F5"/>
                </a:highlight>
              </a:rPr>
              <a:t>[2] </a:t>
            </a:r>
            <a:r>
              <a:rPr lang="ko-KR" altLang="en-US" sz="1400" b="1">
                <a:highlight>
                  <a:srgbClr val="EDF1F5"/>
                </a:highlight>
              </a:rPr>
              <a:t>통합회원 전환 수집 및 동의항목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A96BEBB-29D3-C577-3B29-C6982BDF50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7899858"/>
              </p:ext>
            </p:extLst>
          </p:nvPr>
        </p:nvGraphicFramePr>
        <p:xfrm>
          <a:off x="690187" y="2896398"/>
          <a:ext cx="10841785" cy="1318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5605">
                  <a:extLst>
                    <a:ext uri="{9D8B030D-6E8A-4147-A177-3AD203B41FA5}">
                      <a16:colId xmlns:a16="http://schemas.microsoft.com/office/drawing/2014/main" val="4125639485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3528545467"/>
                    </a:ext>
                  </a:extLst>
                </a:gridCol>
                <a:gridCol w="6250100">
                  <a:extLst>
                    <a:ext uri="{9D8B030D-6E8A-4147-A177-3AD203B41FA5}">
                      <a16:colId xmlns:a16="http://schemas.microsoft.com/office/drawing/2014/main" val="41078127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015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>
                          <a:latin typeface="+mn-ea"/>
                          <a:ea typeface="+mn-ea"/>
                        </a:rPr>
                        <a:t>본인인증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>
                          <a:latin typeface="+mn-ea"/>
                          <a:ea typeface="+mn-ea"/>
                        </a:rPr>
                        <a:t>휴대폰번호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>
                          <a:latin typeface="+mn-ea"/>
                          <a:ea typeface="+mn-ea"/>
                        </a:rPr>
                        <a:t>휴대폰 점유인증</a:t>
                      </a:r>
                      <a:endParaRPr lang="en-US" altLang="ko-KR" sz="1000" b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273648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>
                          <a:latin typeface="+mn-ea"/>
                          <a:ea typeface="+mn-ea"/>
                        </a:rPr>
                        <a:t>필수약관동의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>
                          <a:latin typeface="+mn-ea"/>
                          <a:ea typeface="+mn-ea"/>
                        </a:rPr>
                        <a:t>통합회원 약관동의</a:t>
                      </a:r>
                      <a:endParaRPr lang="en-US" altLang="ko-KR" sz="1000" b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0">
                          <a:latin typeface="+mn-ea"/>
                          <a:ea typeface="+mn-ea"/>
                        </a:rPr>
                        <a:t>J01</a:t>
                      </a:r>
                      <a:endParaRPr lang="ko-KR" altLang="en-US" sz="1000" b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123473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개인정보수집및이용	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0">
                          <a:latin typeface="+mn-ea"/>
                          <a:ea typeface="+mn-ea"/>
                        </a:rPr>
                        <a:t>J02</a:t>
                      </a:r>
                      <a:endParaRPr lang="ko-KR" altLang="en-US" sz="1000" b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51486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개인정보제</a:t>
                      </a:r>
                      <a:r>
                        <a:rPr lang="en-US" altLang="ko-KR" sz="10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자제공</a:t>
                      </a:r>
                      <a:endParaRPr lang="ko-KR" altLang="en-US" sz="1000" b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000" b="0">
                          <a:latin typeface="+mn-ea"/>
                          <a:ea typeface="+mn-ea"/>
                        </a:rPr>
                        <a:t>J03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7387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D1A6EE2-6E37-7CC2-6369-503610C084F0}"/>
              </a:ext>
            </a:extLst>
          </p:cNvPr>
          <p:cNvSpPr txBox="1"/>
          <p:nvPr/>
        </p:nvSpPr>
        <p:spPr>
          <a:xfrm>
            <a:off x="366187" y="1119176"/>
            <a:ext cx="18020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highlight>
                  <a:srgbClr val="EDF1F5"/>
                </a:highlight>
              </a:rPr>
              <a:t>[1] </a:t>
            </a:r>
            <a:r>
              <a:rPr lang="ko-KR" altLang="en-US" sz="1400" b="1">
                <a:highlight>
                  <a:srgbClr val="EDF1F5"/>
                </a:highlight>
              </a:rPr>
              <a:t>통합회원</a:t>
            </a:r>
            <a:r>
              <a:rPr lang="en-US" altLang="ko-KR" sz="1400" b="1">
                <a:highlight>
                  <a:srgbClr val="EDF1F5"/>
                </a:highlight>
              </a:rPr>
              <a:t> </a:t>
            </a:r>
            <a:r>
              <a:rPr lang="ko-KR" altLang="en-US" sz="1400" b="1">
                <a:highlight>
                  <a:srgbClr val="EDF1F5"/>
                </a:highlight>
              </a:rPr>
              <a:t>전환</a:t>
            </a:r>
            <a:r>
              <a:rPr lang="en-US" altLang="ko-KR" sz="1400" b="1">
                <a:highlight>
                  <a:srgbClr val="EDF1F5"/>
                </a:highlight>
              </a:rPr>
              <a:t> </a:t>
            </a:r>
            <a:r>
              <a:rPr lang="ko-KR" altLang="en-US" sz="1400" b="1">
                <a:highlight>
                  <a:srgbClr val="EDF1F5"/>
                </a:highlight>
              </a:rPr>
              <a:t>정책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79F8C8-204B-F84E-2E9F-E4AB38FE384A}"/>
              </a:ext>
            </a:extLst>
          </p:cNvPr>
          <p:cNvSpPr txBox="1"/>
          <p:nvPr/>
        </p:nvSpPr>
        <p:spPr>
          <a:xfrm>
            <a:off x="601287" y="4263190"/>
            <a:ext cx="10515600" cy="296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/>
              <a:t>하나투어 회원 </a:t>
            </a:r>
            <a:r>
              <a:rPr lang="en-US" altLang="ko-KR" sz="1000"/>
              <a:t>DB</a:t>
            </a:r>
            <a:r>
              <a:rPr lang="ko-KR" altLang="en-US" sz="1000"/>
              <a:t>에서 기존 고객정보와 본인인증 정보</a:t>
            </a:r>
            <a:r>
              <a:rPr lang="en-US" altLang="ko-KR" sz="1000"/>
              <a:t>(</a:t>
            </a:r>
            <a:r>
              <a:rPr lang="ko-KR" altLang="en-US" sz="1000"/>
              <a:t>이름</a:t>
            </a:r>
            <a:r>
              <a:rPr lang="en-US" altLang="ko-KR" sz="1000"/>
              <a:t>/</a:t>
            </a:r>
            <a:r>
              <a:rPr lang="ko-KR" altLang="en-US" sz="1000"/>
              <a:t>생년월일</a:t>
            </a:r>
            <a:r>
              <a:rPr lang="en-US" altLang="ko-KR" sz="1000"/>
              <a:t>/</a:t>
            </a:r>
            <a:r>
              <a:rPr lang="ko-KR" altLang="en-US" sz="1000"/>
              <a:t>휴대폰번호</a:t>
            </a:r>
            <a:r>
              <a:rPr lang="en-US" altLang="ko-KR" sz="1000"/>
              <a:t>)</a:t>
            </a:r>
            <a:r>
              <a:rPr lang="ko-KR" altLang="en-US" sz="1000"/>
              <a:t>로 동일 회원이 매칭되는 경우에 한해</a:t>
            </a:r>
            <a:r>
              <a:rPr lang="en-US" altLang="ko-KR" sz="1000"/>
              <a:t>, </a:t>
            </a:r>
            <a:r>
              <a:rPr lang="ko-KR" altLang="en-US" sz="1000"/>
              <a:t>본인인증 완료 및 통합회원 전환 처리를 수행한다</a:t>
            </a:r>
            <a:r>
              <a:rPr lang="en-US" altLang="ko-KR" sz="1000"/>
              <a:t>. </a:t>
            </a:r>
            <a:endParaRPr lang="ko-KR" altLang="en-US" sz="10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32564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26B41-34B7-9A3C-4D67-ECF91A8ED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12">
            <a:extLst>
              <a:ext uri="{FF2B5EF4-FFF2-40B4-BE49-F238E27FC236}">
                <a16:creationId xmlns:a16="http://schemas.microsoft.com/office/drawing/2014/main" id="{BC3D884E-C6CF-FFB8-779F-3D3E76914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3. </a:t>
            </a:r>
            <a:r>
              <a:rPr lang="ko-KR" altLang="en-US" b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통합회원 정책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C92F740-A82F-AFFE-ED9C-895505BED493}"/>
              </a:ext>
            </a:extLst>
          </p:cNvPr>
          <p:cNvGrpSpPr/>
          <p:nvPr/>
        </p:nvGrpSpPr>
        <p:grpSpPr>
          <a:xfrm>
            <a:off x="366187" y="623347"/>
            <a:ext cx="1987369" cy="400110"/>
            <a:chOff x="250684" y="527628"/>
            <a:chExt cx="1987369" cy="40011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CA650A9-EE95-5B7D-0B0B-CD6A2E0AFF6F}"/>
                </a:ext>
              </a:extLst>
            </p:cNvPr>
            <p:cNvSpPr txBox="1"/>
            <p:nvPr/>
          </p:nvSpPr>
          <p:spPr>
            <a:xfrm>
              <a:off x="610684" y="527628"/>
              <a:ext cx="162736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>
                  <a:solidFill>
                    <a:srgbClr val="5E2BB8"/>
                  </a:solidFill>
                  <a:latin typeface="+mj-ea"/>
                  <a:ea typeface="+mj-ea"/>
                </a:rPr>
                <a:t>통합회원 전환</a:t>
              </a: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D9E9675-C0D9-0BFC-97F7-AA85FEB28A93}"/>
                </a:ext>
              </a:extLst>
            </p:cNvPr>
            <p:cNvSpPr/>
            <p:nvPr/>
          </p:nvSpPr>
          <p:spPr>
            <a:xfrm>
              <a:off x="250684" y="565683"/>
              <a:ext cx="324000" cy="324000"/>
            </a:xfrm>
            <a:prstGeom prst="rect">
              <a:avLst/>
            </a:prstGeom>
            <a:solidFill>
              <a:srgbClr val="5E2BB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600">
                  <a:solidFill>
                    <a:srgbClr val="FFFFFF"/>
                  </a:solidFill>
                  <a:latin typeface="+mj-ea"/>
                  <a:ea typeface="+mj-ea"/>
                </a:rPr>
                <a:t>03</a:t>
              </a:r>
              <a:endParaRPr lang="ko-KR" altLang="en-US" sz="1600">
                <a:solidFill>
                  <a:srgbClr val="FFFFFF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60B3405-5D6B-6D5E-31FB-549B18D78CFB}"/>
              </a:ext>
            </a:extLst>
          </p:cNvPr>
          <p:cNvSpPr txBox="1"/>
          <p:nvPr/>
        </p:nvSpPr>
        <p:spPr>
          <a:xfrm>
            <a:off x="366187" y="1119176"/>
            <a:ext cx="26100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highlight>
                  <a:srgbClr val="EDF1F5"/>
                </a:highlight>
              </a:rPr>
              <a:t>[3] [</a:t>
            </a:r>
            <a:r>
              <a:rPr lang="ko-KR" altLang="en-US" sz="1400" b="1">
                <a:highlight>
                  <a:srgbClr val="EDF1F5"/>
                </a:highlight>
              </a:rPr>
              <a:t>통합전회원</a:t>
            </a:r>
            <a:r>
              <a:rPr lang="en-US" altLang="ko-KR" sz="1400" b="1">
                <a:highlight>
                  <a:srgbClr val="EDF1F5"/>
                </a:highlight>
              </a:rPr>
              <a:t>] </a:t>
            </a:r>
            <a:r>
              <a:rPr lang="ko-KR" altLang="en-US" sz="1400" b="1">
                <a:highlight>
                  <a:srgbClr val="EDF1F5"/>
                </a:highlight>
              </a:rPr>
              <a:t>닷컴서비스 이용</a:t>
            </a:r>
            <a:endParaRPr lang="ko-KR" altLang="en-US" sz="1400" b="1">
              <a:solidFill>
                <a:srgbClr val="FF0000"/>
              </a:solidFill>
              <a:highlight>
                <a:srgbClr val="EDF1F5"/>
              </a:highlight>
            </a:endParaRP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2D810A08-930B-DA45-866F-B61CAE6E55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563839"/>
              </p:ext>
            </p:extLst>
          </p:nvPr>
        </p:nvGraphicFramePr>
        <p:xfrm>
          <a:off x="690187" y="3903928"/>
          <a:ext cx="11316653" cy="1631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5605">
                  <a:extLst>
                    <a:ext uri="{9D8B030D-6E8A-4147-A177-3AD203B41FA5}">
                      <a16:colId xmlns:a16="http://schemas.microsoft.com/office/drawing/2014/main" val="4125639485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3528545467"/>
                    </a:ext>
                  </a:extLst>
                </a:gridCol>
                <a:gridCol w="6724968">
                  <a:extLst>
                    <a:ext uri="{9D8B030D-6E8A-4147-A177-3AD203B41FA5}">
                      <a16:colId xmlns:a16="http://schemas.microsoft.com/office/drawing/2014/main" val="41078127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000" b="1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000" b="1">
                          <a:solidFill>
                            <a:schemeClr val="tx1"/>
                          </a:solidFill>
                        </a:rPr>
                        <a:t>접근경로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000" b="1">
                          <a:solidFill>
                            <a:schemeClr val="tx1"/>
                          </a:solidFill>
                        </a:rPr>
                        <a:t>설명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015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/>
                        <a:t>① 서비스 이용 중 전환 안내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/>
                        <a:t>항공예약</a:t>
                      </a:r>
                      <a:r>
                        <a:rPr lang="en-US" altLang="ko-KR" sz="1000" b="0"/>
                        <a:t>, </a:t>
                      </a:r>
                      <a:r>
                        <a:rPr lang="ko-KR" altLang="en-US" sz="1000" b="0"/>
                        <a:t>이벤트 참여 등 통합회원 전용 기능 접근 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/>
                        <a:t>서비스 이용 불가 안내 팝업 노출 → 통합회원 전환 팝업  →  </a:t>
                      </a:r>
                      <a:r>
                        <a:rPr lang="en-US" altLang="ko-KR" sz="1000" b="0"/>
                        <a:t>[</a:t>
                      </a:r>
                      <a:r>
                        <a:rPr lang="ko-KR" altLang="en-US" sz="1000" b="0"/>
                        <a:t>휴대폰 점유인증 및 필수약관 동의 후</a:t>
                      </a:r>
                      <a:r>
                        <a:rPr lang="en-US" altLang="ko-KR" sz="1000" b="0"/>
                        <a:t>]</a:t>
                      </a:r>
                      <a:r>
                        <a:rPr lang="ko-KR" altLang="en-US" sz="1000" b="0"/>
                        <a:t> 통합회원 전환 처리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273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/>
                        <a:t>② 배너 노출  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/>
                        <a:t>마이페이지 </a:t>
                      </a:r>
                      <a:endParaRPr lang="en-US" altLang="ko-KR" sz="1000" b="0"/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</a:rPr>
                        <a:t>패키지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</a:rPr>
                        <a:t>호텔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</a:rPr>
                        <a:t>/FND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</a:rPr>
                        <a:t>예약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</a:rPr>
                        <a:t>및 결제화면 </a:t>
                      </a:r>
                      <a:endParaRPr lang="en-US" altLang="ko-KR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000" b="0"/>
                        <a:t>통합전회원 대상 전환 배너 노출 → 클릭시 휴대폰 점유인증 및 필수약관 동의후 통합회원 전환 처리</a:t>
                      </a:r>
                      <a:endParaRPr lang="en-US" altLang="ko-KR" sz="1000" b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1234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000" b="0"/>
                        <a:t>③ 상담원 안내 전환</a:t>
                      </a:r>
                      <a:endParaRPr lang="ko-KR" altLang="en-US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endParaRPr lang="ko-KR" altLang="en-US" sz="1000" b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000" b="0"/>
                        <a:t>마일리지 적립 불가 또는 전환 필요 고객에게 상담원이 전환 안내 및 링크 제공 </a:t>
                      </a:r>
                      <a:endParaRPr lang="en-US" altLang="ko-KR" sz="1000" b="0"/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000" b="0"/>
                        <a:t> → 링크 통해 휴대폰 점유인증 및 필수약관 동의 후 전환 처리</a:t>
                      </a:r>
                      <a:endParaRPr lang="en-US" altLang="ko-KR" sz="1000" b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514869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4BCDAFDB-F654-4D6C-E195-51B524691466}"/>
              </a:ext>
            </a:extLst>
          </p:cNvPr>
          <p:cNvSpPr txBox="1"/>
          <p:nvPr/>
        </p:nvSpPr>
        <p:spPr>
          <a:xfrm>
            <a:off x="366187" y="3565106"/>
            <a:ext cx="23487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highlight>
                  <a:srgbClr val="EDF1F5"/>
                </a:highlight>
              </a:rPr>
              <a:t>[4] [</a:t>
            </a:r>
            <a:r>
              <a:rPr lang="ko-KR" altLang="en-US" sz="1400" b="1">
                <a:highlight>
                  <a:srgbClr val="EDF1F5"/>
                </a:highlight>
              </a:rPr>
              <a:t>통합회원 전환</a:t>
            </a:r>
            <a:r>
              <a:rPr lang="en-US" altLang="ko-KR" sz="1400" b="1">
                <a:highlight>
                  <a:srgbClr val="EDF1F5"/>
                </a:highlight>
              </a:rPr>
              <a:t>]</a:t>
            </a:r>
            <a:r>
              <a:rPr lang="ko-KR" altLang="en-US" sz="1400" b="1">
                <a:highlight>
                  <a:srgbClr val="EDF1F5"/>
                </a:highlight>
              </a:rPr>
              <a:t> 접근 경로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A1F8959-2650-3C24-27BD-67E0F0F5A2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5377738"/>
              </p:ext>
            </p:extLst>
          </p:nvPr>
        </p:nvGraphicFramePr>
        <p:xfrm>
          <a:off x="528187" y="1457998"/>
          <a:ext cx="11353166" cy="1562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879">
                  <a:extLst>
                    <a:ext uri="{9D8B030D-6E8A-4147-A177-3AD203B41FA5}">
                      <a16:colId xmlns:a16="http://schemas.microsoft.com/office/drawing/2014/main" val="4125639485"/>
                    </a:ext>
                  </a:extLst>
                </a:gridCol>
                <a:gridCol w="2988733">
                  <a:extLst>
                    <a:ext uri="{9D8B030D-6E8A-4147-A177-3AD203B41FA5}">
                      <a16:colId xmlns:a16="http://schemas.microsoft.com/office/drawing/2014/main" val="3528545467"/>
                    </a:ext>
                  </a:extLst>
                </a:gridCol>
                <a:gridCol w="6658554">
                  <a:extLst>
                    <a:ext uri="{9D8B030D-6E8A-4147-A177-3AD203B41FA5}">
                      <a16:colId xmlns:a16="http://schemas.microsoft.com/office/drawing/2014/main" val="41078127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이용 가능 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015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>
                          <a:latin typeface="+mn-ea"/>
                          <a:ea typeface="+mn-ea"/>
                        </a:rPr>
                        <a:t>마이페이지 접근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>
                          <a:latin typeface="+mn-ea"/>
                          <a:ea typeface="+mn-ea"/>
                        </a:rPr>
                        <a:t>가능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>
                          <a:latin typeface="+mn-ea"/>
                          <a:ea typeface="+mn-ea"/>
                        </a:rPr>
                        <a:t>개인정보 수정 불가 </a:t>
                      </a:r>
                      <a:r>
                        <a:rPr lang="en-US" altLang="ko-KR" sz="1000" b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>
                          <a:latin typeface="+mn-ea"/>
                          <a:ea typeface="+mn-ea"/>
                        </a:rPr>
                        <a:t>읽기 전용</a:t>
                      </a:r>
                      <a:r>
                        <a:rPr lang="en-US" altLang="ko-KR" sz="1000" b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273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>
                          <a:latin typeface="+mn-ea"/>
                          <a:ea typeface="+mn-ea"/>
                        </a:rPr>
                        <a:t>패키지</a:t>
                      </a:r>
                      <a:r>
                        <a:rPr lang="en-US" altLang="ko-KR" sz="1000" b="0">
                          <a:latin typeface="+mn-ea"/>
                          <a:ea typeface="+mn-ea"/>
                        </a:rPr>
                        <a:t>/FND</a:t>
                      </a:r>
                      <a:r>
                        <a:rPr lang="ko-KR" altLang="en-US" sz="1000" b="0">
                          <a:latin typeface="+mn-ea"/>
                          <a:ea typeface="+mn-ea"/>
                        </a:rPr>
                        <a:t> 예약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>
                          <a:latin typeface="+mn-ea"/>
                          <a:ea typeface="+mn-ea"/>
                        </a:rPr>
                        <a:t>가능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>
                          <a:latin typeface="+mn-ea"/>
                          <a:ea typeface="+mn-ea"/>
                        </a:rPr>
                        <a:t>예약 및 결제 가능하나</a:t>
                      </a:r>
                      <a:r>
                        <a:rPr lang="en-US" altLang="ko-KR" sz="1000" b="0">
                          <a:latin typeface="+mn-ea"/>
                          <a:ea typeface="+mn-ea"/>
                        </a:rPr>
                        <a:t>, HC</a:t>
                      </a:r>
                      <a:r>
                        <a:rPr lang="ko-KR" altLang="en-US" sz="1000" b="0">
                          <a:latin typeface="+mn-ea"/>
                          <a:ea typeface="+mn-ea"/>
                        </a:rPr>
                        <a:t>회원번호가 없는 경우 마일리지 적립 불가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1234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>
                          <a:latin typeface="+mn-ea"/>
                          <a:ea typeface="+mn-ea"/>
                        </a:rPr>
                        <a:t>호텔예약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>
                          <a:latin typeface="+mn-ea"/>
                          <a:ea typeface="+mn-ea"/>
                        </a:rPr>
                        <a:t>일부 불가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>
                          <a:latin typeface="+mn-ea"/>
                          <a:ea typeface="+mn-ea"/>
                        </a:rPr>
                        <a:t>통합전회원</a:t>
                      </a:r>
                      <a:r>
                        <a:rPr lang="en-US" altLang="ko-KR" sz="1000" b="0">
                          <a:latin typeface="+mn-ea"/>
                          <a:ea typeface="+mn-ea"/>
                        </a:rPr>
                        <a:t>&amp;&amp;</a:t>
                      </a:r>
                      <a:r>
                        <a:rPr lang="ko-KR" altLang="en-US" sz="1000" b="0">
                          <a:latin typeface="+mn-ea"/>
                          <a:ea typeface="+mn-ea"/>
                        </a:rPr>
                        <a:t>애플로그인 예약불가→ </a:t>
                      </a:r>
                      <a:r>
                        <a:rPr lang="en-US" altLang="ko-KR" sz="1000" b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000" b="0">
                          <a:latin typeface="+mn-ea"/>
                          <a:ea typeface="+mn-ea"/>
                        </a:rPr>
                        <a:t>통합회원전환 안내</a:t>
                      </a:r>
                      <a:r>
                        <a:rPr lang="en-US" altLang="ko-KR" sz="1000" b="0">
                          <a:latin typeface="+mn-ea"/>
                          <a:ea typeface="+mn-ea"/>
                        </a:rPr>
                        <a:t>]</a:t>
                      </a:r>
                      <a:endParaRPr lang="ko-KR" altLang="en-US" sz="1000" b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5774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>
                          <a:latin typeface="+mn-ea"/>
                          <a:ea typeface="+mn-ea"/>
                        </a:rPr>
                        <a:t>항공예약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>
                          <a:latin typeface="+mn-ea"/>
                          <a:ea typeface="+mn-ea"/>
                        </a:rPr>
                        <a:t>불가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>
                          <a:latin typeface="+mn-ea"/>
                          <a:ea typeface="+mn-ea"/>
                        </a:rPr>
                        <a:t>통합전회원 예약불가→ </a:t>
                      </a:r>
                      <a:r>
                        <a:rPr lang="en-US" altLang="ko-KR" sz="1000" b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000" b="0">
                          <a:latin typeface="+mn-ea"/>
                          <a:ea typeface="+mn-ea"/>
                        </a:rPr>
                        <a:t>통합회원전환 안내</a:t>
                      </a:r>
                      <a:r>
                        <a:rPr lang="en-US" altLang="ko-KR" sz="1000" b="0">
                          <a:latin typeface="+mn-ea"/>
                          <a:ea typeface="+mn-ea"/>
                        </a:rPr>
                        <a:t>]</a:t>
                      </a:r>
                      <a:endParaRPr lang="ko-KR" altLang="en-US" sz="1000" b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514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>
                          <a:latin typeface="+mn-ea"/>
                          <a:ea typeface="+mn-ea"/>
                        </a:rPr>
                        <a:t>이벤트 참여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>
                          <a:latin typeface="+mn-ea"/>
                          <a:ea typeface="+mn-ea"/>
                        </a:rPr>
                        <a:t>제한적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000" b="0">
                          <a:latin typeface="+mn-ea"/>
                          <a:ea typeface="+mn-ea"/>
                        </a:rPr>
                        <a:t>일부 이벤트는 통합회원만 가능 → </a:t>
                      </a:r>
                      <a:r>
                        <a:rPr lang="en-US" altLang="ko-KR" sz="1000" b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000" b="0">
                          <a:latin typeface="+mn-ea"/>
                          <a:ea typeface="+mn-ea"/>
                        </a:rPr>
                        <a:t>통합회원전환 안내</a:t>
                      </a:r>
                      <a:r>
                        <a:rPr lang="en-US" altLang="ko-KR" sz="1000" b="0">
                          <a:latin typeface="+mn-ea"/>
                          <a:ea typeface="+mn-ea"/>
                        </a:rPr>
                        <a:t>]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738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3178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35B4A-53E5-64A7-02B9-E85D5AE9C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DB2CA80C-1388-E3DE-88EB-E72A08019B78}"/>
              </a:ext>
            </a:extLst>
          </p:cNvPr>
          <p:cNvSpPr/>
          <p:nvPr/>
        </p:nvSpPr>
        <p:spPr>
          <a:xfrm>
            <a:off x="5289848" y="3676992"/>
            <a:ext cx="288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>
                <a:solidFill>
                  <a:sysClr val="windowText" lastClr="000000"/>
                </a:solidFill>
                <a:latin typeface="+mn-ea"/>
              </a:rPr>
              <a:t>01</a:t>
            </a:r>
            <a:endParaRPr lang="ko-KR" altLang="en-US" sz="140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DF1BA8-78EC-8A73-1D27-A9D0529968EE}"/>
              </a:ext>
            </a:extLst>
          </p:cNvPr>
          <p:cNvSpPr txBox="1"/>
          <p:nvPr/>
        </p:nvSpPr>
        <p:spPr>
          <a:xfrm>
            <a:off x="5643498" y="3642260"/>
            <a:ext cx="27001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latin typeface="+mn-ea"/>
                <a:cs typeface="KoPubWorld돋움체 Bold" panose="00000800000000000000" pitchFamily="2" charset="-127"/>
              </a:rPr>
              <a:t>네이버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4AEF15A-E313-CA33-FFC0-DB0BCA0A00F0}"/>
              </a:ext>
            </a:extLst>
          </p:cNvPr>
          <p:cNvSpPr/>
          <p:nvPr/>
        </p:nvSpPr>
        <p:spPr>
          <a:xfrm>
            <a:off x="5289848" y="4158766"/>
            <a:ext cx="288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>
                <a:solidFill>
                  <a:sysClr val="windowText" lastClr="000000"/>
                </a:solidFill>
                <a:latin typeface="+mn-ea"/>
              </a:rPr>
              <a:t>02</a:t>
            </a:r>
            <a:endParaRPr lang="ko-KR" altLang="en-US" sz="140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3DF63C-C8B8-409B-D4A1-062D9F519D26}"/>
              </a:ext>
            </a:extLst>
          </p:cNvPr>
          <p:cNvSpPr txBox="1"/>
          <p:nvPr/>
        </p:nvSpPr>
        <p:spPr>
          <a:xfrm>
            <a:off x="5643498" y="4124034"/>
            <a:ext cx="27001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latin typeface="+mn-ea"/>
                <a:cs typeface="KoPubWorld돋움체 Bold" panose="00000800000000000000" pitchFamily="2" charset="-127"/>
              </a:rPr>
              <a:t>카카오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90307FE-BCAA-BC59-D54C-2A00BF099B4C}"/>
              </a:ext>
            </a:extLst>
          </p:cNvPr>
          <p:cNvSpPr/>
          <p:nvPr/>
        </p:nvSpPr>
        <p:spPr>
          <a:xfrm>
            <a:off x="5289848" y="4640540"/>
            <a:ext cx="288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>
                <a:solidFill>
                  <a:sysClr val="windowText" lastClr="000000"/>
                </a:solidFill>
                <a:latin typeface="+mn-ea"/>
              </a:rPr>
              <a:t>03</a:t>
            </a:r>
            <a:endParaRPr lang="ko-KR" altLang="en-US" sz="140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3AFED9-015D-D55B-52E8-8DB371B91EE0}"/>
              </a:ext>
            </a:extLst>
          </p:cNvPr>
          <p:cNvSpPr txBox="1"/>
          <p:nvPr/>
        </p:nvSpPr>
        <p:spPr>
          <a:xfrm>
            <a:off x="5643498" y="4605808"/>
            <a:ext cx="27001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latin typeface="+mn-ea"/>
                <a:cs typeface="KoPubWorld돋움체 Bold" panose="00000800000000000000" pitchFamily="2" charset="-127"/>
              </a:rPr>
              <a:t>애플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C7DCE76-D1D0-8F10-78BD-FF096A3AF87B}"/>
              </a:ext>
            </a:extLst>
          </p:cNvPr>
          <p:cNvSpPr/>
          <p:nvPr/>
        </p:nvSpPr>
        <p:spPr>
          <a:xfrm>
            <a:off x="2501900" y="2239044"/>
            <a:ext cx="7188200" cy="976697"/>
          </a:xfrm>
          <a:prstGeom prst="roundRect">
            <a:avLst>
              <a:gd name="adj" fmla="val 0"/>
            </a:avLst>
          </a:prstGeom>
          <a:solidFill>
            <a:srgbClr val="5E2BB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>
                <a:solidFill>
                  <a:srgbClr val="08D2D9"/>
                </a:solidFill>
                <a:latin typeface="+mj-ea"/>
                <a:ea typeface="+mj-ea"/>
              </a:rPr>
              <a:t>04</a:t>
            </a:r>
            <a:r>
              <a:rPr lang="en-US" altLang="ko-KR" sz="3200">
                <a:solidFill>
                  <a:schemeClr val="bg1"/>
                </a:solidFill>
                <a:latin typeface="+mj-ea"/>
                <a:ea typeface="+mj-ea"/>
              </a:rPr>
              <a:t> SNS</a:t>
            </a:r>
            <a:r>
              <a:rPr lang="ko-KR" altLang="en-US" sz="3200">
                <a:solidFill>
                  <a:schemeClr val="bg1"/>
                </a:solidFill>
                <a:latin typeface="+mj-ea"/>
                <a:ea typeface="+mj-ea"/>
              </a:rPr>
              <a:t>회원 정책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28E1846-D88F-FEEA-045D-802FEA35631B}"/>
              </a:ext>
            </a:extLst>
          </p:cNvPr>
          <p:cNvSpPr/>
          <p:nvPr/>
        </p:nvSpPr>
        <p:spPr>
          <a:xfrm>
            <a:off x="5289848" y="5131646"/>
            <a:ext cx="288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>
                <a:solidFill>
                  <a:sysClr val="windowText" lastClr="000000"/>
                </a:solidFill>
                <a:latin typeface="+mn-ea"/>
              </a:rPr>
              <a:t>04</a:t>
            </a:r>
            <a:endParaRPr lang="ko-KR" altLang="en-US" sz="140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0E3B24-91DA-3EDD-2AED-1FF9EAF9FA8C}"/>
              </a:ext>
            </a:extLst>
          </p:cNvPr>
          <p:cNvSpPr txBox="1"/>
          <p:nvPr/>
        </p:nvSpPr>
        <p:spPr>
          <a:xfrm>
            <a:off x="5643498" y="5096914"/>
            <a:ext cx="27001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latin typeface="+mn-ea"/>
                <a:cs typeface="KoPubWorld돋움체 Bold" panose="00000800000000000000" pitchFamily="2" charset="-127"/>
              </a:rPr>
              <a:t>참고사항</a:t>
            </a:r>
          </a:p>
        </p:txBody>
      </p:sp>
    </p:spTree>
    <p:extLst>
      <p:ext uri="{BB962C8B-B14F-4D97-AF65-F5344CB8AC3E}">
        <p14:creationId xmlns:p14="http://schemas.microsoft.com/office/powerpoint/2010/main" val="2742254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A033F-8605-DF14-FB28-071460659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12">
            <a:extLst>
              <a:ext uri="{FF2B5EF4-FFF2-40B4-BE49-F238E27FC236}">
                <a16:creationId xmlns:a16="http://schemas.microsoft.com/office/drawing/2014/main" id="{842D8404-1E7F-2FA0-3155-6F7C44821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4. SNS</a:t>
            </a:r>
            <a:r>
              <a:rPr lang="ko-KR" altLang="en-US" b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회원 정책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B3C3C16A-0A73-3539-2F84-E4A410DA93A0}"/>
              </a:ext>
            </a:extLst>
          </p:cNvPr>
          <p:cNvGrpSpPr/>
          <p:nvPr/>
        </p:nvGrpSpPr>
        <p:grpSpPr>
          <a:xfrm>
            <a:off x="366187" y="623347"/>
            <a:ext cx="3769908" cy="400110"/>
            <a:chOff x="250684" y="527628"/>
            <a:chExt cx="3769908" cy="40011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DD0C7B8F-AA01-082D-96D4-5D80FBC35D1C}"/>
                </a:ext>
              </a:extLst>
            </p:cNvPr>
            <p:cNvSpPr txBox="1"/>
            <p:nvPr/>
          </p:nvSpPr>
          <p:spPr>
            <a:xfrm>
              <a:off x="610684" y="527628"/>
              <a:ext cx="340990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>
                  <a:solidFill>
                    <a:srgbClr val="5E2BB8"/>
                  </a:solidFill>
                  <a:latin typeface="+mj-ea"/>
                  <a:ea typeface="+mj-ea"/>
                </a:rPr>
                <a:t>[</a:t>
              </a:r>
              <a:r>
                <a:rPr lang="ko-KR" altLang="en-US" sz="2000">
                  <a:solidFill>
                    <a:srgbClr val="5E2BB8"/>
                  </a:solidFill>
                  <a:latin typeface="+mj-ea"/>
                  <a:ea typeface="+mj-ea"/>
                </a:rPr>
                <a:t>네이버</a:t>
              </a:r>
              <a:r>
                <a:rPr lang="en-US" altLang="ko-KR" sz="2000">
                  <a:solidFill>
                    <a:srgbClr val="5E2BB8"/>
                  </a:solidFill>
                  <a:latin typeface="+mj-ea"/>
                  <a:ea typeface="+mj-ea"/>
                </a:rPr>
                <a:t>]</a:t>
              </a:r>
              <a:r>
                <a:rPr lang="ko-KR" altLang="en-US" sz="2000">
                  <a:solidFill>
                    <a:srgbClr val="5E2BB8"/>
                  </a:solidFill>
                  <a:latin typeface="+mj-ea"/>
                  <a:ea typeface="+mj-ea"/>
                </a:rPr>
                <a:t> 회원가입</a:t>
              </a:r>
              <a:r>
                <a:rPr lang="en-US" altLang="ko-KR" sz="2000">
                  <a:solidFill>
                    <a:srgbClr val="5E2BB8"/>
                  </a:solidFill>
                  <a:latin typeface="+mj-ea"/>
                  <a:ea typeface="+mj-ea"/>
                </a:rPr>
                <a:t>/</a:t>
              </a:r>
              <a:r>
                <a:rPr lang="ko-KR" altLang="en-US" sz="2000">
                  <a:solidFill>
                    <a:srgbClr val="5E2BB8"/>
                  </a:solidFill>
                  <a:latin typeface="+mj-ea"/>
                  <a:ea typeface="+mj-ea"/>
                </a:rPr>
                <a:t>로그인 정책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7C7048A-BF97-736C-2E16-9F7CD7AE1C16}"/>
                </a:ext>
              </a:extLst>
            </p:cNvPr>
            <p:cNvSpPr/>
            <p:nvPr/>
          </p:nvSpPr>
          <p:spPr>
            <a:xfrm>
              <a:off x="250684" y="565683"/>
              <a:ext cx="324000" cy="324000"/>
            </a:xfrm>
            <a:prstGeom prst="rect">
              <a:avLst/>
            </a:prstGeom>
            <a:solidFill>
              <a:srgbClr val="5E2BB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600">
                  <a:solidFill>
                    <a:srgbClr val="FFFFFF"/>
                  </a:solidFill>
                  <a:latin typeface="+mj-ea"/>
                  <a:ea typeface="+mj-ea"/>
                </a:rPr>
                <a:t>01</a:t>
              </a:r>
              <a:endParaRPr lang="ko-KR" altLang="en-US" sz="1600">
                <a:solidFill>
                  <a:srgbClr val="FFFFFF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6CCBBF8-62E4-0DBC-0CEB-494D02D857B0}"/>
              </a:ext>
            </a:extLst>
          </p:cNvPr>
          <p:cNvSpPr txBox="1"/>
          <p:nvPr/>
        </p:nvSpPr>
        <p:spPr>
          <a:xfrm>
            <a:off x="366187" y="1119176"/>
            <a:ext cx="18020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highlight>
                  <a:srgbClr val="EDF1F5"/>
                </a:highlight>
              </a:rPr>
              <a:t>[1] </a:t>
            </a:r>
            <a:r>
              <a:rPr lang="ko-KR" altLang="en-US" sz="1400" b="1">
                <a:highlight>
                  <a:srgbClr val="EDF1F5"/>
                </a:highlight>
              </a:rPr>
              <a:t>네이버 로그인 정책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BE09C1-0DBA-A2A3-775A-CF9B8EC485C8}"/>
              </a:ext>
            </a:extLst>
          </p:cNvPr>
          <p:cNvSpPr txBox="1"/>
          <p:nvPr/>
        </p:nvSpPr>
        <p:spPr>
          <a:xfrm>
            <a:off x="683941" y="1389311"/>
            <a:ext cx="5412059" cy="5269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 b="1"/>
              <a:t>로그인 가능 조건</a:t>
            </a:r>
            <a:r>
              <a:rPr lang="en-US" altLang="ko-KR" sz="1000"/>
              <a:t>: </a:t>
            </a:r>
            <a:r>
              <a:rPr lang="ko-KR" altLang="en-US" sz="1000"/>
              <a:t>하나투어 계정이 존재하고</a:t>
            </a:r>
            <a:r>
              <a:rPr lang="en-US" altLang="ko-KR" sz="1000"/>
              <a:t>, </a:t>
            </a:r>
            <a:r>
              <a:rPr lang="ko-KR" altLang="en-US" sz="1000"/>
              <a:t>네이버 계정과 연결</a:t>
            </a:r>
            <a:r>
              <a:rPr lang="en-US" altLang="ko-KR" sz="1000"/>
              <a:t>(</a:t>
            </a:r>
            <a:r>
              <a:rPr lang="ko-KR" altLang="en-US" sz="1000"/>
              <a:t>연동</a:t>
            </a:r>
            <a:r>
              <a:rPr lang="en-US" altLang="ko-KR" sz="1000"/>
              <a:t>)</a:t>
            </a:r>
            <a:r>
              <a:rPr lang="ko-KR" altLang="en-US" sz="1000"/>
              <a:t>된 회원만 로그인 가능하다</a:t>
            </a:r>
            <a:r>
              <a:rPr lang="en-US" altLang="ko-KR" sz="1000"/>
              <a:t>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ko-KR" sz="1000">
                <a:latin typeface="Arial" panose="020B0604020202020204" pitchFamily="34" charset="0"/>
              </a:rPr>
              <a:t>네이버 계정과 하나투어 계정은 1:1 연동 구조로 관리한다.</a:t>
            </a:r>
            <a:r>
              <a:rPr lang="en-US" altLang="ko-KR" sz="1000">
                <a:latin typeface="Arial" panose="020B0604020202020204" pitchFamily="34" charset="0"/>
              </a:rPr>
              <a:t> 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1781A203-4DE5-8F9C-8812-1644E50C4E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9565313"/>
              </p:ext>
            </p:extLst>
          </p:nvPr>
        </p:nvGraphicFramePr>
        <p:xfrm>
          <a:off x="683941" y="2164615"/>
          <a:ext cx="7630426" cy="1566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3071">
                  <a:extLst>
                    <a:ext uri="{9D8B030D-6E8A-4147-A177-3AD203B41FA5}">
                      <a16:colId xmlns:a16="http://schemas.microsoft.com/office/drawing/2014/main" val="4125639485"/>
                    </a:ext>
                  </a:extLst>
                </a:gridCol>
                <a:gridCol w="5947355">
                  <a:extLst>
                    <a:ext uri="{9D8B030D-6E8A-4147-A177-3AD203B41FA5}">
                      <a16:colId xmlns:a16="http://schemas.microsoft.com/office/drawing/2014/main" val="35285454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000" b="1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000" b="1">
                          <a:solidFill>
                            <a:schemeClr val="tx1"/>
                          </a:solidFill>
                        </a:rPr>
                        <a:t>설명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015312"/>
                  </a:ext>
                </a:extLst>
              </a:tr>
              <a:tr h="283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/>
                        <a:t>하나투어 계정이 있는 경우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/>
                        <a:t>최초 로그인 시 비밀번호 입력 후 네이버 계정과 연동 처리</a:t>
                      </a:r>
                      <a:endParaRPr lang="en-US" altLang="ko-KR" sz="1000" b="0"/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/>
                        <a:t>하나투어 아이디가 </a:t>
                      </a:r>
                      <a:r>
                        <a:rPr lang="en-US" altLang="ko-KR" sz="1000" b="0"/>
                        <a:t>2</a:t>
                      </a:r>
                      <a:r>
                        <a:rPr lang="ko-KR" altLang="en-US" sz="1000" b="0"/>
                        <a:t>개 이상일 경우</a:t>
                      </a:r>
                      <a:r>
                        <a:rPr lang="en-US" altLang="ko-KR" sz="1000" b="0"/>
                        <a:t>, </a:t>
                      </a:r>
                      <a:r>
                        <a:rPr lang="ko-KR" altLang="en-US" sz="1000" b="0"/>
                        <a:t>로그인 시 계정 선택 화면 노출</a:t>
                      </a:r>
                      <a:r>
                        <a:rPr lang="en-US" altLang="ko-KR" sz="1000" b="0"/>
                        <a:t>.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/>
                        <a:t>연동 이후에는 비밀번호 입력 없이 네이버 로그인만으로 자동 로그인 가능</a:t>
                      </a:r>
                      <a:r>
                        <a:rPr lang="en-US" altLang="ko-KR" sz="1000" b="0"/>
                        <a:t>.</a:t>
                      </a:r>
                      <a:endParaRPr lang="ko-KR" altLang="en-US" sz="1000" b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273648"/>
                  </a:ext>
                </a:extLst>
              </a:tr>
              <a:tr h="1971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/>
                        <a:t>하나투어 계정이 없는 경우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/>
                        <a:t>네이버에서 전달받은 사용자 정보 및 통신사 본인인증 정보 기반으로 하나투어 신규 회원가입 진행</a:t>
                      </a:r>
                      <a:r>
                        <a:rPr lang="en-US" altLang="ko-KR" sz="1000" b="0"/>
                        <a:t>.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/>
                        <a:t>회원가입 시 네이버 고유 </a:t>
                      </a:r>
                      <a:r>
                        <a:rPr lang="en-US" altLang="ko-KR" sz="1000" b="0"/>
                        <a:t>[</a:t>
                      </a:r>
                      <a:r>
                        <a:rPr lang="ko-KR" altLang="en-US" sz="1000" b="0"/>
                        <a:t>이용자식별자</a:t>
                      </a:r>
                      <a:r>
                        <a:rPr lang="en-US" altLang="ko-KR" sz="1000" b="0"/>
                        <a:t>]</a:t>
                      </a:r>
                      <a:r>
                        <a:rPr lang="ko-KR" altLang="en-US" sz="1000" b="0"/>
                        <a:t>를 하나투어 계정에 저장하여 연동 상태로 가입 처리</a:t>
                      </a:r>
                      <a:r>
                        <a:rPr lang="en-US" altLang="ko-KR" sz="1000" b="0"/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1234738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4C92B56C-CBDC-2C5C-A52F-657E274511D4}"/>
              </a:ext>
            </a:extLst>
          </p:cNvPr>
          <p:cNvSpPr txBox="1"/>
          <p:nvPr/>
        </p:nvSpPr>
        <p:spPr>
          <a:xfrm>
            <a:off x="621991" y="1918394"/>
            <a:ext cx="62458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[</a:t>
            </a:r>
            <a:r>
              <a:rPr lang="ko-KR" altLang="en-US" sz="1000" b="1"/>
              <a:t>케이스별 처리 로직</a:t>
            </a:r>
            <a:r>
              <a:rPr lang="en-US" altLang="ko-KR" sz="1000" b="1"/>
              <a:t>]</a:t>
            </a:r>
            <a:endParaRPr lang="ko-KR" altLang="en-US" sz="1000" b="1"/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C422B8D7-65F9-6D6B-C021-25F6D3346E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236749"/>
              </p:ext>
            </p:extLst>
          </p:nvPr>
        </p:nvGraphicFramePr>
        <p:xfrm>
          <a:off x="683941" y="4207170"/>
          <a:ext cx="7644263" cy="19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4313">
                  <a:extLst>
                    <a:ext uri="{9D8B030D-6E8A-4147-A177-3AD203B41FA5}">
                      <a16:colId xmlns:a16="http://schemas.microsoft.com/office/drawing/2014/main" val="4125639485"/>
                    </a:ext>
                  </a:extLst>
                </a:gridCol>
                <a:gridCol w="5949950">
                  <a:extLst>
                    <a:ext uri="{9D8B030D-6E8A-4147-A177-3AD203B41FA5}">
                      <a16:colId xmlns:a16="http://schemas.microsoft.com/office/drawing/2014/main" val="35285454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000" b="1">
                          <a:solidFill>
                            <a:schemeClr val="tx1"/>
                          </a:solidFill>
                        </a:rPr>
                        <a:t>항목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000" b="1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015312"/>
                  </a:ext>
                </a:extLst>
              </a:tr>
              <a:tr h="283473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</a:rPr>
                        <a:t>연동</a:t>
                      </a:r>
                      <a:endParaRPr lang="en-US" altLang="ko-KR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/>
                        <a:t>네이버 로그인 구분코드</a:t>
                      </a:r>
                      <a:r>
                        <a:rPr lang="en-US" altLang="ko-KR" sz="1000"/>
                        <a:t>(</a:t>
                      </a:r>
                      <a:r>
                        <a:rPr lang="en-US" altLang="ko-KR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en-US" altLang="ko-KR" sz="1000"/>
                        <a:t>01) </a:t>
                      </a:r>
                      <a:r>
                        <a:rPr lang="ko-KR" altLang="en-US" sz="1000"/>
                        <a:t>추가</a:t>
                      </a:r>
                      <a:endParaRPr lang="en-US" altLang="ko-KR" sz="1000"/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/>
                        <a:t>네이버에서 제공한 </a:t>
                      </a:r>
                      <a:r>
                        <a:rPr lang="en-US" altLang="ko-KR" sz="1000"/>
                        <a:t>[</a:t>
                      </a:r>
                      <a:r>
                        <a:rPr lang="ko-KR" altLang="en-US" sz="1000"/>
                        <a:t>고유식별자</a:t>
                      </a:r>
                      <a:r>
                        <a:rPr lang="en-US" altLang="ko-KR" sz="1000"/>
                        <a:t>]</a:t>
                      </a:r>
                      <a:r>
                        <a:rPr lang="ko-KR" altLang="en-US" sz="1000"/>
                        <a:t> 값을 하나투어 회원정보에 저장하여 연동</a:t>
                      </a:r>
                      <a:r>
                        <a:rPr lang="en-US" altLang="ko-KR" sz="1000"/>
                        <a:t>. 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273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000"/>
                        <a:t>연동 해제 경로</a:t>
                      </a:r>
                      <a:endParaRPr lang="ko-KR" altLang="en-US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/>
                        <a:t>하나투어닷컴 </a:t>
                      </a:r>
                      <a:r>
                        <a:rPr lang="en-US" altLang="ko-KR" sz="1000" b="0"/>
                        <a:t>&gt; </a:t>
                      </a:r>
                      <a:r>
                        <a:rPr lang="ko-KR" altLang="en-US" sz="1000" b="0"/>
                        <a:t>마이페이지 </a:t>
                      </a:r>
                      <a:r>
                        <a:rPr lang="en-US" altLang="ko-KR" sz="1000" b="0"/>
                        <a:t>&gt; </a:t>
                      </a:r>
                      <a:r>
                        <a:rPr lang="ko-KR" altLang="en-US" sz="1000" b="0"/>
                        <a:t>개인정보  </a:t>
                      </a:r>
                      <a:r>
                        <a:rPr lang="en-US" altLang="ko-KR" sz="1000" b="0"/>
                        <a:t>&gt; SNS</a:t>
                      </a:r>
                      <a:r>
                        <a:rPr lang="ko-KR" altLang="en-US" sz="1000" b="0"/>
                        <a:t>연동 메뉴에서 사용자 직접 해제 가능</a:t>
                      </a:r>
                      <a:r>
                        <a:rPr lang="en-US" altLang="ko-KR" sz="1000" b="0"/>
                        <a:t>. 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1234738"/>
                  </a:ext>
                </a:extLst>
              </a:tr>
              <a:tr h="369781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</a:rPr>
                        <a:t>연동 해제시 처리</a:t>
                      </a:r>
                      <a:endParaRPr lang="en-US" altLang="ko-KR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/>
                        <a:t>로그인구분코드</a:t>
                      </a:r>
                      <a:r>
                        <a:rPr lang="en-US" altLang="ko-KR" sz="1000"/>
                        <a:t>(</a:t>
                      </a:r>
                      <a:r>
                        <a:rPr lang="en-US" altLang="ko-KR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MEM_LGN_DV_CD</a:t>
                      </a:r>
                      <a:r>
                        <a:rPr lang="en-US" altLang="ko-KR" sz="1000"/>
                        <a:t>)=‘S01’ </a:t>
                      </a:r>
                      <a:r>
                        <a:rPr lang="ko-KR" altLang="en-US" sz="1000"/>
                        <a:t>삭제 처리 → 고유식별자 삭제 </a:t>
                      </a:r>
                      <a:endParaRPr lang="en-US" altLang="ko-KR" sz="1000" b="0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0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하나투어 회원정보 중 일치하는 고</a:t>
                      </a:r>
                      <a:r>
                        <a:rPr lang="ko-KR" altLang="en-US" sz="1000"/>
                        <a:t>유식별자 값이 </a:t>
                      </a:r>
                      <a:r>
                        <a:rPr lang="ko-KR" altLang="en-US" sz="10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없다면</a:t>
                      </a:r>
                      <a:r>
                        <a:rPr lang="en-US" altLang="ko-KR" sz="10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‘</a:t>
                      </a:r>
                      <a:r>
                        <a:rPr lang="ko-KR" altLang="en-US" sz="10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연동되지 않은 상태</a:t>
                      </a:r>
                      <a:r>
                        <a:rPr lang="en-US" altLang="ko-KR" sz="10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‘ </a:t>
                      </a:r>
                      <a:r>
                        <a:rPr lang="ko-KR" altLang="en-US" sz="10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 간주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480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</a:rPr>
                        <a:t>연동여부 확인 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관리자화면</a:t>
                      </a:r>
                      <a:r>
                        <a:rPr lang="en-US" altLang="ko-KR" sz="10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0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하나허브</a:t>
                      </a:r>
                      <a:r>
                        <a:rPr lang="en-US" altLang="ko-KR" sz="10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&gt; </a:t>
                      </a:r>
                      <a:r>
                        <a:rPr lang="ko-KR" altLang="en-US" sz="10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고객</a:t>
                      </a:r>
                      <a:r>
                        <a:rPr lang="en-US" altLang="ko-KR" sz="10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&gt; </a:t>
                      </a:r>
                      <a:r>
                        <a:rPr lang="ko-KR" altLang="en-US" sz="10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고객정보</a:t>
                      </a:r>
                      <a:r>
                        <a:rPr lang="en-US" altLang="ko-KR" sz="10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&gt; </a:t>
                      </a:r>
                      <a:r>
                        <a:rPr lang="ko-KR" altLang="en-US" sz="10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고객정보관리 </a:t>
                      </a:r>
                      <a:r>
                        <a:rPr lang="en-US" altLang="ko-KR" sz="10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&gt; </a:t>
                      </a:r>
                      <a:r>
                        <a:rPr lang="ko-KR" altLang="en-US" sz="10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네이버 </a:t>
                      </a:r>
                      <a:r>
                        <a:rPr lang="en-US" altLang="ko-KR" sz="10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lang="ko-KR" altLang="en-US" sz="10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여부 </a:t>
                      </a:r>
                      <a:r>
                        <a:rPr lang="en-US" altLang="ko-KR" sz="10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Y/N </a:t>
                      </a:r>
                      <a:r>
                        <a:rPr lang="ko-KR" altLang="en-US" sz="10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 연동 상태 확인 가능</a:t>
                      </a:r>
                      <a:r>
                        <a:rPr lang="en-US" altLang="ko-KR" sz="10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endParaRPr lang="ko-KR" altLang="en-US" sz="1000" b="0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82333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A29E445E-161C-FEFB-55C4-C46FE9C63CD0}"/>
              </a:ext>
            </a:extLst>
          </p:cNvPr>
          <p:cNvSpPr txBox="1"/>
          <p:nvPr/>
        </p:nvSpPr>
        <p:spPr>
          <a:xfrm>
            <a:off x="410637" y="3847276"/>
            <a:ext cx="23391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highlight>
                  <a:srgbClr val="EDF1F5"/>
                </a:highlight>
              </a:rPr>
              <a:t>[2] </a:t>
            </a:r>
            <a:r>
              <a:rPr lang="ko-KR" altLang="en-US" sz="1400" b="1">
                <a:highlight>
                  <a:srgbClr val="EDF1F5"/>
                </a:highlight>
              </a:rPr>
              <a:t>네이버계정 연동</a:t>
            </a:r>
            <a:r>
              <a:rPr lang="en-US" altLang="ko-KR" sz="1400" b="1">
                <a:highlight>
                  <a:srgbClr val="EDF1F5"/>
                </a:highlight>
              </a:rPr>
              <a:t>/</a:t>
            </a:r>
            <a:r>
              <a:rPr lang="ko-KR" altLang="en-US" sz="1400" b="1">
                <a:highlight>
                  <a:srgbClr val="EDF1F5"/>
                </a:highlight>
              </a:rPr>
              <a:t>연동해제</a:t>
            </a:r>
          </a:p>
        </p:txBody>
      </p:sp>
    </p:spTree>
    <p:extLst>
      <p:ext uri="{BB962C8B-B14F-4D97-AF65-F5344CB8AC3E}">
        <p14:creationId xmlns:p14="http://schemas.microsoft.com/office/powerpoint/2010/main" val="33742115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1A186-49A3-B58A-767C-C85F6D3AB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703A2B8-6DAC-605C-4D78-694FEEEF7B03}"/>
              </a:ext>
            </a:extLst>
          </p:cNvPr>
          <p:cNvSpPr/>
          <p:nvPr/>
        </p:nvSpPr>
        <p:spPr>
          <a:xfrm>
            <a:off x="2501900" y="2230922"/>
            <a:ext cx="7188200" cy="976697"/>
          </a:xfrm>
          <a:prstGeom prst="roundRect">
            <a:avLst>
              <a:gd name="adj" fmla="val 0"/>
            </a:avLst>
          </a:prstGeom>
          <a:solidFill>
            <a:srgbClr val="5E2BB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>
                <a:solidFill>
                  <a:srgbClr val="08D2D9"/>
                </a:solidFill>
                <a:latin typeface="+mj-ea"/>
                <a:ea typeface="+mj-ea"/>
              </a:rPr>
              <a:t>05 </a:t>
            </a:r>
            <a:r>
              <a:rPr lang="ko-KR" altLang="en-US" sz="3200">
                <a:solidFill>
                  <a:schemeClr val="bg1"/>
                </a:solidFill>
                <a:latin typeface="+mj-ea"/>
                <a:ea typeface="+mj-ea"/>
              </a:rPr>
              <a:t>탈퇴 정책</a:t>
            </a:r>
          </a:p>
        </p:txBody>
      </p:sp>
    </p:spTree>
    <p:extLst>
      <p:ext uri="{BB962C8B-B14F-4D97-AF65-F5344CB8AC3E}">
        <p14:creationId xmlns:p14="http://schemas.microsoft.com/office/powerpoint/2010/main" val="1224144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6EE82-86CF-4C28-6ACB-76D8A4E5A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12">
            <a:extLst>
              <a:ext uri="{FF2B5EF4-FFF2-40B4-BE49-F238E27FC236}">
                <a16:creationId xmlns:a16="http://schemas.microsoft.com/office/drawing/2014/main" id="{DDD311EC-1769-1052-9A37-EF9AAAC34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5. </a:t>
            </a:r>
            <a:r>
              <a:rPr lang="ko-KR" altLang="en-US" b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탈퇴정책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1CC175-BB5E-EBF8-867F-101B68436B5E}"/>
              </a:ext>
            </a:extLst>
          </p:cNvPr>
          <p:cNvSpPr txBox="1"/>
          <p:nvPr/>
        </p:nvSpPr>
        <p:spPr>
          <a:xfrm>
            <a:off x="366187" y="1119176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highlight>
                  <a:srgbClr val="EDF1F5"/>
                </a:highlight>
              </a:rPr>
              <a:t>[1] </a:t>
            </a:r>
            <a:r>
              <a:rPr lang="ko-KR" altLang="en-US" sz="1400" b="1">
                <a:highlight>
                  <a:srgbClr val="EDF1F5"/>
                </a:highlight>
              </a:rPr>
              <a:t>탈퇴처리 원칙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3FE83B-4939-ADA3-7293-5E8A12A5809D}"/>
              </a:ext>
            </a:extLst>
          </p:cNvPr>
          <p:cNvSpPr txBox="1"/>
          <p:nvPr/>
        </p:nvSpPr>
        <p:spPr>
          <a:xfrm>
            <a:off x="683941" y="1389311"/>
            <a:ext cx="9685609" cy="988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ko-KR" altLang="en-US" sz="1000"/>
              <a:t>하나투어 회원은 하나투어닷컴 홈페이지 내 마이페이지 </a:t>
            </a:r>
            <a:r>
              <a:rPr lang="en-US" altLang="ko-KR" sz="1000"/>
              <a:t>&gt; </a:t>
            </a:r>
            <a:r>
              <a:rPr lang="ko-KR" altLang="en-US" sz="1000"/>
              <a:t>회원탈퇴 메뉴를 통해 직접 탈퇴할 수 있으며</a:t>
            </a:r>
            <a:r>
              <a:rPr lang="en-US" altLang="ko-KR" sz="1000"/>
              <a:t>, </a:t>
            </a:r>
            <a:r>
              <a:rPr lang="ko-KR" altLang="en-US" sz="1000"/>
              <a:t>관리자는 하나허브에서 회원탈퇴 처리가 가능하다</a:t>
            </a:r>
            <a:r>
              <a:rPr lang="en-US" altLang="ko-KR" sz="1000"/>
              <a:t>.</a:t>
            </a:r>
          </a:p>
          <a:p>
            <a:pPr marL="171450" lvl="0" indent="-17145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ko-KR" altLang="en-US" sz="1000"/>
              <a:t>탈퇴 처리 시점 이후 회원정보</a:t>
            </a:r>
            <a:r>
              <a:rPr lang="en-US" altLang="ko-KR" sz="1000"/>
              <a:t>, </a:t>
            </a:r>
            <a:r>
              <a:rPr lang="ko-KR" altLang="en-US" sz="1000"/>
              <a:t>마일리지</a:t>
            </a:r>
            <a:r>
              <a:rPr lang="en-US" altLang="ko-KR" sz="1000"/>
              <a:t>, </a:t>
            </a:r>
            <a:r>
              <a:rPr lang="ko-KR" altLang="en-US" sz="1000"/>
              <a:t>쿠폰</a:t>
            </a:r>
            <a:r>
              <a:rPr lang="en-US" altLang="ko-KR" sz="1000"/>
              <a:t>, </a:t>
            </a:r>
            <a:r>
              <a:rPr lang="ko-KR" altLang="en-US" sz="1000"/>
              <a:t>가족합산정보 등 해당 계정에 연결된 데이터는 즉시 삭제되며</a:t>
            </a:r>
            <a:r>
              <a:rPr lang="en-US" altLang="ko-KR" sz="1000"/>
              <a:t>, </a:t>
            </a:r>
            <a:r>
              <a:rPr lang="ko-KR" altLang="en-US" sz="1000"/>
              <a:t>삭제 후에는 복구가 불가능하다 </a:t>
            </a:r>
            <a:endParaRPr lang="ko-KR" altLang="ko-KR" sz="1000">
              <a:latin typeface="+mn-ea"/>
            </a:endParaRPr>
          </a:p>
          <a:p>
            <a:pPr marL="171450" lvl="0" indent="-17145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ko-KR" altLang="en-US" sz="1000"/>
              <a:t>회원 탈퇴일로부터 </a:t>
            </a:r>
            <a:r>
              <a:rPr lang="en-US" altLang="ko-KR" sz="1000"/>
              <a:t>5</a:t>
            </a:r>
            <a:r>
              <a:rPr lang="ko-KR" altLang="en-US" sz="1000"/>
              <a:t>일간 재가입이 제한된다</a:t>
            </a:r>
            <a:r>
              <a:rPr lang="en-US" altLang="ko-KR" sz="1000"/>
              <a:t>.</a:t>
            </a:r>
          </a:p>
          <a:p>
            <a:pPr marL="171450" lvl="0" indent="-17145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ko-KR" altLang="ko-KR" sz="1000">
                <a:latin typeface="+mn-ea"/>
              </a:rPr>
              <a:t>개인정보는 「개인정보 보호법 제21조(개인정보의 파기)」에 따라 탈퇴 후 지체 없이(5일 이내) 파기되어야 하며,</a:t>
            </a:r>
            <a:r>
              <a:rPr lang="en-US" altLang="ko-KR" sz="1000">
                <a:latin typeface="+mn-ea"/>
              </a:rPr>
              <a:t> </a:t>
            </a:r>
            <a:r>
              <a:rPr lang="ko-KR" altLang="ko-KR" sz="1000">
                <a:latin typeface="+mn-ea"/>
              </a:rPr>
              <a:t>파기 시에는 복구가 불가능한 방법으로 영구 삭제</a:t>
            </a:r>
            <a:r>
              <a:rPr lang="ko-KR" altLang="en-US" sz="1000">
                <a:latin typeface="+mn-ea"/>
              </a:rPr>
              <a:t>한다</a:t>
            </a:r>
            <a:r>
              <a:rPr lang="en-US" altLang="ko-KR" sz="1000">
                <a:latin typeface="+mn-ea"/>
              </a:rPr>
              <a:t>.</a:t>
            </a:r>
            <a:endParaRPr lang="ko-KR" altLang="ko-KR" sz="1000">
              <a:latin typeface="+mn-ea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792AD47-65BF-EEE9-05F1-72E8781AC11A}"/>
              </a:ext>
            </a:extLst>
          </p:cNvPr>
          <p:cNvGrpSpPr/>
          <p:nvPr/>
        </p:nvGrpSpPr>
        <p:grpSpPr>
          <a:xfrm>
            <a:off x="366187" y="623347"/>
            <a:ext cx="1543337" cy="400110"/>
            <a:chOff x="250684" y="527628"/>
            <a:chExt cx="1543337" cy="40011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B6C10B7-184A-B739-EBC6-E0A247E2D92E}"/>
                </a:ext>
              </a:extLst>
            </p:cNvPr>
            <p:cNvSpPr txBox="1"/>
            <p:nvPr/>
          </p:nvSpPr>
          <p:spPr>
            <a:xfrm>
              <a:off x="610684" y="527628"/>
              <a:ext cx="11833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>
                  <a:solidFill>
                    <a:srgbClr val="5E2BB8"/>
                  </a:solidFill>
                  <a:latin typeface="+mj-ea"/>
                  <a:ea typeface="+mj-ea"/>
                </a:rPr>
                <a:t>탈퇴 정책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AC8747F-72F8-274D-49EB-B0A7268E9CF2}"/>
                </a:ext>
              </a:extLst>
            </p:cNvPr>
            <p:cNvSpPr/>
            <p:nvPr/>
          </p:nvSpPr>
          <p:spPr>
            <a:xfrm>
              <a:off x="250684" y="565683"/>
              <a:ext cx="324000" cy="324000"/>
            </a:xfrm>
            <a:prstGeom prst="rect">
              <a:avLst/>
            </a:prstGeom>
            <a:solidFill>
              <a:srgbClr val="5E2BB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600">
                  <a:solidFill>
                    <a:srgbClr val="FFFFFF"/>
                  </a:solidFill>
                  <a:latin typeface="+mj-ea"/>
                  <a:ea typeface="+mj-ea"/>
                </a:rPr>
                <a:t>01</a:t>
              </a:r>
              <a:endParaRPr lang="ko-KR" altLang="en-US" sz="1600">
                <a:solidFill>
                  <a:srgbClr val="FFFFFF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15941A7-6ED4-3111-1C0F-F4AF3A34BF51}"/>
              </a:ext>
            </a:extLst>
          </p:cNvPr>
          <p:cNvSpPr txBox="1"/>
          <p:nvPr/>
        </p:nvSpPr>
        <p:spPr>
          <a:xfrm>
            <a:off x="366187" y="2600837"/>
            <a:ext cx="1420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highlight>
                  <a:srgbClr val="EDF1F5"/>
                </a:highlight>
              </a:rPr>
              <a:t>[2] </a:t>
            </a:r>
            <a:r>
              <a:rPr lang="ko-KR" altLang="en-US" sz="1400" b="1">
                <a:highlight>
                  <a:srgbClr val="EDF1F5"/>
                </a:highlight>
              </a:rPr>
              <a:t>본인확인절차</a:t>
            </a: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87856F39-601F-2DAF-3522-E8B820C45E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7491783"/>
              </p:ext>
            </p:extLst>
          </p:nvPr>
        </p:nvGraphicFramePr>
        <p:xfrm>
          <a:off x="683941" y="2930769"/>
          <a:ext cx="9816419" cy="1403096"/>
        </p:xfrm>
        <a:graphic>
          <a:graphicData uri="http://schemas.openxmlformats.org/drawingml/2006/table">
            <a:tbl>
              <a:tblPr/>
              <a:tblGrid>
                <a:gridCol w="1840230">
                  <a:extLst>
                    <a:ext uri="{9D8B030D-6E8A-4147-A177-3AD203B41FA5}">
                      <a16:colId xmlns:a16="http://schemas.microsoft.com/office/drawing/2014/main" val="1235452434"/>
                    </a:ext>
                  </a:extLst>
                </a:gridCol>
                <a:gridCol w="5141549">
                  <a:extLst>
                    <a:ext uri="{9D8B030D-6E8A-4147-A177-3AD203B41FA5}">
                      <a16:colId xmlns:a16="http://schemas.microsoft.com/office/drawing/2014/main" val="46672491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9556501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>
                          <a:latin typeface="+mn-ea"/>
                          <a:ea typeface="+mn-ea"/>
                        </a:rPr>
                        <a:t>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417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>
                          <a:latin typeface="+mn-ea"/>
                          <a:ea typeface="+mn-ea"/>
                        </a:rPr>
                        <a:t>일반회원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>
                          <a:latin typeface="+mn-ea"/>
                          <a:ea typeface="+mn-ea"/>
                        </a:rPr>
                        <a:t>탈퇴 시 비밀번호 입력을 통한 최종 본인확인 절차를 수행해야 함</a:t>
                      </a:r>
                      <a:r>
                        <a:rPr lang="en-US" altLang="ko-KR" sz="1000" b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>
                          <a:latin typeface="+mn-ea"/>
                          <a:ea typeface="+mn-ea"/>
                        </a:rPr>
                        <a:t>비밀번호 검증 후 탈퇴 진행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3702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>
                          <a:latin typeface="+mn-ea"/>
                          <a:ea typeface="+mn-ea"/>
                        </a:rPr>
                        <a:t>SNS</a:t>
                      </a:r>
                      <a:r>
                        <a:rPr lang="ko-KR" altLang="en-US" sz="1000" b="0">
                          <a:latin typeface="+mn-ea"/>
                          <a:ea typeface="+mn-ea"/>
                        </a:rPr>
                        <a:t>회원 </a:t>
                      </a:r>
                      <a:r>
                        <a:rPr lang="en-US" altLang="ko-KR" sz="1000" b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>
                          <a:latin typeface="+mn-ea"/>
                          <a:ea typeface="+mn-ea"/>
                        </a:rPr>
                        <a:t>네이버</a:t>
                      </a:r>
                      <a:r>
                        <a:rPr lang="en-US" altLang="ko-KR" sz="1000" b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>
                          <a:latin typeface="+mn-ea"/>
                          <a:ea typeface="+mn-ea"/>
                        </a:rPr>
                        <a:t>카카오</a:t>
                      </a:r>
                      <a:r>
                        <a:rPr lang="en-US" altLang="ko-KR" sz="1000" b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>
                          <a:latin typeface="+mn-ea"/>
                          <a:ea typeface="+mn-ea"/>
                        </a:rPr>
                        <a:t>애플</a:t>
                      </a:r>
                      <a:r>
                        <a:rPr lang="en-US" altLang="ko-KR" sz="1000" b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b="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>
                          <a:latin typeface="+mn-ea"/>
                          <a:ea typeface="+mn-ea"/>
                        </a:rPr>
                        <a:t>비밀번호 입력 대신 해당 </a:t>
                      </a:r>
                      <a:r>
                        <a:rPr lang="en-US" altLang="ko-KR" sz="1000" b="0">
                          <a:latin typeface="+mn-ea"/>
                          <a:ea typeface="+mn-ea"/>
                        </a:rPr>
                        <a:t>SNS </a:t>
                      </a:r>
                      <a:r>
                        <a:rPr lang="ko-KR" altLang="en-US" sz="1000" b="0">
                          <a:latin typeface="+mn-ea"/>
                          <a:ea typeface="+mn-ea"/>
                        </a:rPr>
                        <a:t>인증 절차를 통해 본인확인 후 탈퇴 진행됨</a:t>
                      </a:r>
                      <a:r>
                        <a:rPr lang="en-US" altLang="ko-KR" sz="1000" b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endParaRPr lang="ko-KR" altLang="en-US" sz="1000" b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2596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>
                          <a:latin typeface="+mn-ea"/>
                          <a:ea typeface="+mn-ea"/>
                        </a:rPr>
                        <a:t>탈퇴 사유 입력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>
                          <a:latin typeface="+mn-ea"/>
                          <a:ea typeface="+mn-ea"/>
                        </a:rPr>
                        <a:t>탈퇴 시 탈퇴 사유는 필수 입력 </a:t>
                      </a:r>
                      <a:br>
                        <a:rPr lang="en-US" altLang="ko-KR" sz="1000" b="0">
                          <a:latin typeface="+mn-ea"/>
                          <a:ea typeface="+mn-ea"/>
                        </a:rPr>
                      </a:br>
                      <a:r>
                        <a:rPr lang="ko-KR" altLang="en-US" sz="1000" b="0">
                          <a:latin typeface="+mn-ea"/>
                          <a:ea typeface="+mn-ea"/>
                        </a:rPr>
                        <a:t>“하나투어에 바라는 점”을 선택적으로 입력 가능함</a:t>
                      </a:r>
                      <a:r>
                        <a:rPr lang="en-US" altLang="ko-KR" sz="1000" b="0"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000" b="0">
                          <a:latin typeface="+mn-ea"/>
                          <a:ea typeface="+mn-ea"/>
                        </a:rPr>
                        <a:t>VOC </a:t>
                      </a:r>
                      <a:r>
                        <a:rPr lang="ko-KR" altLang="en-US" sz="1000" b="0">
                          <a:latin typeface="+mn-ea"/>
                          <a:ea typeface="+mn-ea"/>
                        </a:rPr>
                        <a:t>개선 목적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0745303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8249CCFA-A203-3F84-DBC2-E038B42F1377}"/>
              </a:ext>
            </a:extLst>
          </p:cNvPr>
          <p:cNvSpPr txBox="1"/>
          <p:nvPr/>
        </p:nvSpPr>
        <p:spPr>
          <a:xfrm>
            <a:off x="359941" y="4545290"/>
            <a:ext cx="22076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highlight>
                  <a:srgbClr val="EDF1F5"/>
                </a:highlight>
              </a:rPr>
              <a:t>[3]</a:t>
            </a:r>
            <a:r>
              <a:rPr lang="ko-KR" altLang="en-US" sz="1400" b="1">
                <a:highlight>
                  <a:srgbClr val="EDF1F5"/>
                </a:highlight>
              </a:rPr>
              <a:t> 회원 보유정보 처리 기준</a:t>
            </a: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A7542BDD-789E-0789-2B56-DE9D62CEE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665604"/>
              </p:ext>
            </p:extLst>
          </p:nvPr>
        </p:nvGraphicFramePr>
        <p:xfrm>
          <a:off x="683941" y="4932863"/>
          <a:ext cx="9783495" cy="1370621"/>
        </p:xfrm>
        <a:graphic>
          <a:graphicData uri="http://schemas.openxmlformats.org/drawingml/2006/table">
            <a:tbl>
              <a:tblPr/>
              <a:tblGrid>
                <a:gridCol w="1845899">
                  <a:extLst>
                    <a:ext uri="{9D8B030D-6E8A-4147-A177-3AD203B41FA5}">
                      <a16:colId xmlns:a16="http://schemas.microsoft.com/office/drawing/2014/main" val="670964086"/>
                    </a:ext>
                  </a:extLst>
                </a:gridCol>
                <a:gridCol w="5122707">
                  <a:extLst>
                    <a:ext uri="{9D8B030D-6E8A-4147-A177-3AD203B41FA5}">
                      <a16:colId xmlns:a16="http://schemas.microsoft.com/office/drawing/2014/main" val="1506840119"/>
                    </a:ext>
                  </a:extLst>
                </a:gridCol>
                <a:gridCol w="2814889">
                  <a:extLst>
                    <a:ext uri="{9D8B030D-6E8A-4147-A177-3AD203B41FA5}">
                      <a16:colId xmlns:a16="http://schemas.microsoft.com/office/drawing/2014/main" val="4142088459"/>
                    </a:ext>
                  </a:extLst>
                </a:gridCol>
              </a:tblGrid>
              <a:tr h="1179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>
                          <a:latin typeface="+mn-ea"/>
                          <a:ea typeface="+mn-ea"/>
                        </a:rPr>
                        <a:t>항목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>
                          <a:latin typeface="+mn-ea"/>
                          <a:ea typeface="+mn-ea"/>
                        </a:rPr>
                        <a:t>처리 내용</a:t>
                      </a:r>
                    </a:p>
                  </a:txBody>
                  <a:tcPr marL="90653" marR="90653" marT="45326" marB="45326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90653" marR="90653" marT="45326" marB="45326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097930"/>
                  </a:ext>
                </a:extLst>
              </a:tr>
              <a:tr h="2063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>
                          <a:latin typeface="+mn-ea"/>
                          <a:ea typeface="+mn-ea"/>
                        </a:rPr>
                        <a:t>마일리지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>
                          <a:latin typeface="+mn-ea"/>
                          <a:ea typeface="+mn-ea"/>
                        </a:rPr>
                        <a:t>탈퇴 시 모든 마일리지가 삭제되며</a:t>
                      </a:r>
                      <a:r>
                        <a:rPr lang="en-US" altLang="ko-KR" sz="1000" b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>
                          <a:latin typeface="+mn-ea"/>
                          <a:ea typeface="+mn-ea"/>
                        </a:rPr>
                        <a:t>원복되지 않음</a:t>
                      </a:r>
                      <a:r>
                        <a:rPr lang="en-US" altLang="ko-KR" sz="1000" b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b="0">
                        <a:latin typeface="+mn-ea"/>
                        <a:ea typeface="+mn-ea"/>
                      </a:endParaRPr>
                    </a:p>
                  </a:txBody>
                  <a:tcPr marL="90653" marR="90653" marT="45326" marB="45326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0">
                        <a:latin typeface="+mn-ea"/>
                        <a:ea typeface="+mn-ea"/>
                      </a:endParaRPr>
                    </a:p>
                  </a:txBody>
                  <a:tcPr marL="90653" marR="90653" marT="45326" marB="45326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2126764"/>
                  </a:ext>
                </a:extLst>
              </a:tr>
              <a:tr h="2948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>
                          <a:latin typeface="+mn-ea"/>
                          <a:ea typeface="+mn-ea"/>
                        </a:rPr>
                        <a:t>가족합산 마일리지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>
                          <a:latin typeface="+mn-ea"/>
                          <a:ea typeface="+mn-ea"/>
                        </a:rPr>
                        <a:t>탈퇴 시 가족합산에서 자동 탈퇴되며</a:t>
                      </a:r>
                      <a:r>
                        <a:rPr lang="en-US" altLang="ko-KR" sz="1000" b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>
                          <a:latin typeface="+mn-ea"/>
                          <a:ea typeface="+mn-ea"/>
                        </a:rPr>
                        <a:t>가족 대표자가 탈퇴하는 경우 가족합산 자동 해산</a:t>
                      </a:r>
                      <a:r>
                        <a:rPr lang="en-US" altLang="ko-KR" sz="1000" b="0">
                          <a:latin typeface="+mn-ea"/>
                          <a:ea typeface="+mn-ea"/>
                        </a:rPr>
                        <a:t>. </a:t>
                      </a:r>
                      <a:endParaRPr lang="ko-KR" altLang="en-US" sz="1000" b="0">
                        <a:latin typeface="+mn-ea"/>
                        <a:ea typeface="+mn-ea"/>
                      </a:endParaRPr>
                    </a:p>
                  </a:txBody>
                  <a:tcPr marL="90653" marR="90653" marT="45326" marB="45326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0">
                        <a:latin typeface="+mn-ea"/>
                        <a:ea typeface="+mn-ea"/>
                      </a:endParaRPr>
                    </a:p>
                  </a:txBody>
                  <a:tcPr marL="90653" marR="90653" marT="45326" marB="45326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0361925"/>
                  </a:ext>
                </a:extLst>
              </a:tr>
              <a:tr h="2948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>
                          <a:latin typeface="+mn-ea"/>
                          <a:ea typeface="+mn-ea"/>
                        </a:rPr>
                        <a:t>기프트카드</a:t>
                      </a:r>
                      <a:r>
                        <a:rPr lang="en-US" altLang="ko-KR" sz="1000" b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>
                          <a:latin typeface="+mn-ea"/>
                          <a:ea typeface="+mn-ea"/>
                        </a:rPr>
                        <a:t>상품권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>
                          <a:latin typeface="+mn-ea"/>
                          <a:ea typeface="+mn-ea"/>
                        </a:rPr>
                        <a:t>탈퇴 시 마이페이지에 등록된 기프트카드 및 실물 없는 지류상품권 사용 불가</a:t>
                      </a:r>
                      <a:r>
                        <a:rPr lang="en-US" altLang="ko-KR" sz="1000" b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b="0">
                        <a:latin typeface="+mn-ea"/>
                        <a:ea typeface="+mn-ea"/>
                      </a:endParaRPr>
                    </a:p>
                  </a:txBody>
                  <a:tcPr marL="90653" marR="90653" marT="45326" marB="45326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0">
                        <a:latin typeface="+mn-ea"/>
                        <a:ea typeface="+mn-ea"/>
                      </a:endParaRPr>
                    </a:p>
                  </a:txBody>
                  <a:tcPr marL="90653" marR="90653" marT="45326" marB="45326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1244922"/>
                  </a:ext>
                </a:extLst>
              </a:tr>
              <a:tr h="2948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>
                          <a:latin typeface="+mn-ea"/>
                          <a:ea typeface="+mn-ea"/>
                        </a:rPr>
                        <a:t>예약 정보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>
                          <a:latin typeface="+mn-ea"/>
                          <a:ea typeface="+mn-ea"/>
                        </a:rPr>
                        <a:t>탈퇴 전 진행 중인 예약은 유지되나</a:t>
                      </a:r>
                      <a:r>
                        <a:rPr lang="en-US" altLang="ko-KR" sz="1000" b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>
                          <a:latin typeface="+mn-ea"/>
                          <a:ea typeface="+mn-ea"/>
                        </a:rPr>
                        <a:t>탈퇴 이후에는 회원혜택</a:t>
                      </a:r>
                      <a:r>
                        <a:rPr lang="en-US" altLang="ko-KR" sz="1000" b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>
                          <a:latin typeface="+mn-ea"/>
                          <a:ea typeface="+mn-ea"/>
                        </a:rPr>
                        <a:t>마일리지 적립 등</a:t>
                      </a:r>
                      <a:r>
                        <a:rPr lang="en-US" altLang="ko-KR" sz="1000" b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b="0">
                          <a:latin typeface="+mn-ea"/>
                          <a:ea typeface="+mn-ea"/>
                        </a:rPr>
                        <a:t>미적용</a:t>
                      </a:r>
                      <a:r>
                        <a:rPr lang="en-US" altLang="ko-KR" sz="1000" b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90653" marR="90653" marT="45326" marB="45326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>
                          <a:latin typeface="+mn-ea"/>
                          <a:ea typeface="+mn-ea"/>
                        </a:rPr>
                        <a:t>예약 취소는 별도 진행 필요</a:t>
                      </a:r>
                    </a:p>
                  </a:txBody>
                  <a:tcPr marL="90653" marR="90653" marT="45326" marB="45326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0847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45427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4612D-188D-913B-9F7A-518AAFBFC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F0425C7A-85EB-1125-4315-ACF633C49671}"/>
              </a:ext>
            </a:extLst>
          </p:cNvPr>
          <p:cNvSpPr/>
          <p:nvPr/>
        </p:nvSpPr>
        <p:spPr>
          <a:xfrm>
            <a:off x="3080297" y="3482956"/>
            <a:ext cx="288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>
                <a:solidFill>
                  <a:sysClr val="windowText" lastClr="000000"/>
                </a:solidFill>
                <a:latin typeface="+mn-ea"/>
              </a:rPr>
              <a:t>01</a:t>
            </a:r>
            <a:endParaRPr lang="ko-KR" altLang="en-US" sz="140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350411-B7C7-6F19-9700-6A95CF81CE23}"/>
              </a:ext>
            </a:extLst>
          </p:cNvPr>
          <p:cNvSpPr txBox="1"/>
          <p:nvPr/>
        </p:nvSpPr>
        <p:spPr>
          <a:xfrm>
            <a:off x="3395847" y="3454574"/>
            <a:ext cx="27001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latin typeface="+mn-ea"/>
                <a:cs typeface="KoPubWorld돋움체 Bold" panose="00000800000000000000" pitchFamily="2" charset="-127"/>
              </a:rPr>
              <a:t>로그인</a:t>
            </a:r>
            <a:r>
              <a:rPr lang="en-US" altLang="ko-KR" sz="1600">
                <a:latin typeface="+mn-ea"/>
                <a:cs typeface="KoPubWorld돋움체 Bold" panose="00000800000000000000" pitchFamily="2" charset="-127"/>
              </a:rPr>
              <a:t>/</a:t>
            </a:r>
            <a:r>
              <a:rPr lang="ko-KR" altLang="en-US" sz="1600">
                <a:latin typeface="+mn-ea"/>
                <a:cs typeface="KoPubWorld돋움체 Bold" panose="00000800000000000000" pitchFamily="2" charset="-127"/>
              </a:rPr>
              <a:t>회원가입 구조   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5BDB690-29F6-C522-451D-E0BA0F3E815C}"/>
              </a:ext>
            </a:extLst>
          </p:cNvPr>
          <p:cNvSpPr/>
          <p:nvPr/>
        </p:nvSpPr>
        <p:spPr>
          <a:xfrm>
            <a:off x="3075630" y="3940331"/>
            <a:ext cx="288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>
                <a:solidFill>
                  <a:sysClr val="windowText" lastClr="000000"/>
                </a:solidFill>
                <a:latin typeface="+mn-ea"/>
              </a:rPr>
              <a:t>02</a:t>
            </a:r>
            <a:endParaRPr lang="ko-KR" altLang="en-US" sz="140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D07E8B-85B7-F034-8542-65B029C62796}"/>
              </a:ext>
            </a:extLst>
          </p:cNvPr>
          <p:cNvSpPr txBox="1"/>
          <p:nvPr/>
        </p:nvSpPr>
        <p:spPr>
          <a:xfrm>
            <a:off x="3391180" y="3911949"/>
            <a:ext cx="27001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latin typeface="+mn-ea"/>
                <a:cs typeface="KoPubWorld돋움체 Bold" panose="00000800000000000000" pitchFamily="2" charset="-127"/>
              </a:rPr>
              <a:t>로그인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6C8505F-88BC-656C-1283-22E6C8411A12}"/>
              </a:ext>
            </a:extLst>
          </p:cNvPr>
          <p:cNvSpPr/>
          <p:nvPr/>
        </p:nvSpPr>
        <p:spPr>
          <a:xfrm>
            <a:off x="3075630" y="4397706"/>
            <a:ext cx="288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>
                <a:solidFill>
                  <a:sysClr val="windowText" lastClr="000000"/>
                </a:solidFill>
                <a:latin typeface="+mn-ea"/>
              </a:rPr>
              <a:t>03</a:t>
            </a:r>
            <a:endParaRPr lang="ko-KR" altLang="en-US" sz="140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843893-2AA0-6679-E7DB-BABEC4835ACB}"/>
              </a:ext>
            </a:extLst>
          </p:cNvPr>
          <p:cNvSpPr txBox="1"/>
          <p:nvPr/>
        </p:nvSpPr>
        <p:spPr>
          <a:xfrm>
            <a:off x="3391180" y="4369324"/>
            <a:ext cx="27001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latin typeface="+mn-ea"/>
                <a:cs typeface="KoPubWorld돋움체 Bold" panose="00000800000000000000" pitchFamily="2" charset="-127"/>
              </a:rPr>
              <a:t>자동로그인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DCC1348-2E0E-B218-17AC-16AB8C2B0D42}"/>
              </a:ext>
            </a:extLst>
          </p:cNvPr>
          <p:cNvSpPr/>
          <p:nvPr/>
        </p:nvSpPr>
        <p:spPr>
          <a:xfrm>
            <a:off x="2501900" y="2239044"/>
            <a:ext cx="7188200" cy="976697"/>
          </a:xfrm>
          <a:prstGeom prst="roundRect">
            <a:avLst>
              <a:gd name="adj" fmla="val 0"/>
            </a:avLst>
          </a:prstGeom>
          <a:solidFill>
            <a:srgbClr val="5E2BB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>
                <a:solidFill>
                  <a:srgbClr val="08D2D9"/>
                </a:solidFill>
                <a:latin typeface="+mj-ea"/>
                <a:ea typeface="+mj-ea"/>
              </a:rPr>
              <a:t>06</a:t>
            </a:r>
            <a:r>
              <a:rPr lang="en-US" altLang="ko-KR" sz="3200" b="1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ko-KR" altLang="en-US" sz="3200" b="1">
                <a:solidFill>
                  <a:schemeClr val="bg1"/>
                </a:solidFill>
                <a:latin typeface="+mj-ea"/>
                <a:ea typeface="+mj-ea"/>
              </a:rPr>
              <a:t>프로세스 흐름도</a:t>
            </a:r>
            <a:endParaRPr lang="ko-KR" altLang="en-US" sz="32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225C8E3-B0D9-410F-2C77-E7A368D2EAA8}"/>
              </a:ext>
            </a:extLst>
          </p:cNvPr>
          <p:cNvSpPr/>
          <p:nvPr/>
        </p:nvSpPr>
        <p:spPr>
          <a:xfrm>
            <a:off x="3075630" y="5333791"/>
            <a:ext cx="288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>
                <a:solidFill>
                  <a:sysClr val="windowText" lastClr="000000"/>
                </a:solidFill>
                <a:latin typeface="+mn-ea"/>
              </a:rPr>
              <a:t>05</a:t>
            </a:r>
            <a:endParaRPr lang="ko-KR" altLang="en-US" sz="140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59D800-8ECB-075C-F09F-927D21E29653}"/>
              </a:ext>
            </a:extLst>
          </p:cNvPr>
          <p:cNvSpPr txBox="1"/>
          <p:nvPr/>
        </p:nvSpPr>
        <p:spPr>
          <a:xfrm>
            <a:off x="3391180" y="5305409"/>
            <a:ext cx="27001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latin typeface="+mn-ea"/>
                <a:cs typeface="KoPubWorld돋움체 Bold" panose="00000800000000000000" pitchFamily="2" charset="-127"/>
              </a:rPr>
              <a:t>아이디찾기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8D88197-BF9B-A8BA-27C5-C7A445020A46}"/>
              </a:ext>
            </a:extLst>
          </p:cNvPr>
          <p:cNvSpPr/>
          <p:nvPr/>
        </p:nvSpPr>
        <p:spPr>
          <a:xfrm>
            <a:off x="6552547" y="4412534"/>
            <a:ext cx="288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>
                <a:solidFill>
                  <a:sysClr val="windowText" lastClr="000000"/>
                </a:solidFill>
                <a:latin typeface="+mn-ea"/>
              </a:rPr>
              <a:t>09</a:t>
            </a:r>
            <a:endParaRPr lang="ko-KR" altLang="en-US" sz="140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A193CA-D17C-1985-9EF4-CB970FFBAEC5}"/>
              </a:ext>
            </a:extLst>
          </p:cNvPr>
          <p:cNvSpPr txBox="1"/>
          <p:nvPr/>
        </p:nvSpPr>
        <p:spPr>
          <a:xfrm>
            <a:off x="6874447" y="4377802"/>
            <a:ext cx="27001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latin typeface="+mn-ea"/>
                <a:cs typeface="KoPubWorld돋움체 Bold" panose="00000800000000000000" pitchFamily="2" charset="-127"/>
              </a:rPr>
              <a:t>[</a:t>
            </a:r>
            <a:r>
              <a:rPr lang="ko-KR" altLang="en-US" sz="1600">
                <a:latin typeface="+mn-ea"/>
                <a:cs typeface="KoPubWorld돋움체 Bold" panose="00000800000000000000" pitchFamily="2" charset="-127"/>
              </a:rPr>
              <a:t>카카오</a:t>
            </a:r>
            <a:r>
              <a:rPr lang="en-US" altLang="ko-KR" sz="1600">
                <a:latin typeface="+mn-ea"/>
                <a:cs typeface="KoPubWorld돋움체 Bold" panose="00000800000000000000" pitchFamily="2" charset="-127"/>
              </a:rPr>
              <a:t>]</a:t>
            </a:r>
            <a:r>
              <a:rPr lang="ko-KR" altLang="en-US" sz="1600">
                <a:latin typeface="+mn-ea"/>
                <a:cs typeface="KoPubWorld돋움체 Bold" panose="00000800000000000000" pitchFamily="2" charset="-127"/>
              </a:rPr>
              <a:t> 로그인</a:t>
            </a:r>
            <a:r>
              <a:rPr lang="en-US" altLang="ko-KR" sz="1600">
                <a:latin typeface="+mn-ea"/>
                <a:cs typeface="KoPubWorld돋움체 Bold" panose="00000800000000000000" pitchFamily="2" charset="-127"/>
              </a:rPr>
              <a:t>/</a:t>
            </a:r>
            <a:r>
              <a:rPr lang="ko-KR" altLang="en-US" sz="1600">
                <a:latin typeface="+mn-ea"/>
                <a:cs typeface="KoPubWorld돋움체 Bold" panose="00000800000000000000" pitchFamily="2" charset="-127"/>
              </a:rPr>
              <a:t>회원 가입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C32E1FD-5852-8523-3821-EA2B22C33CC3}"/>
              </a:ext>
            </a:extLst>
          </p:cNvPr>
          <p:cNvSpPr/>
          <p:nvPr/>
        </p:nvSpPr>
        <p:spPr>
          <a:xfrm>
            <a:off x="6552547" y="3492326"/>
            <a:ext cx="288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>
                <a:solidFill>
                  <a:sysClr val="windowText" lastClr="000000"/>
                </a:solidFill>
                <a:latin typeface="+mn-ea"/>
              </a:rPr>
              <a:t>07</a:t>
            </a:r>
            <a:endParaRPr lang="ko-KR" altLang="en-US" sz="140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3815A1-ECE3-E455-37C0-C5F6B096EAA0}"/>
              </a:ext>
            </a:extLst>
          </p:cNvPr>
          <p:cNvSpPr txBox="1"/>
          <p:nvPr/>
        </p:nvSpPr>
        <p:spPr>
          <a:xfrm>
            <a:off x="6874447" y="3457594"/>
            <a:ext cx="27001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latin typeface="+mn-ea"/>
                <a:cs typeface="KoPubWorld돋움체 Bold" panose="00000800000000000000" pitchFamily="2" charset="-127"/>
              </a:rPr>
              <a:t>통합회원 가입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D5F40E1-F576-399E-D0D2-BFC51CF41C79}"/>
              </a:ext>
            </a:extLst>
          </p:cNvPr>
          <p:cNvSpPr/>
          <p:nvPr/>
        </p:nvSpPr>
        <p:spPr>
          <a:xfrm>
            <a:off x="6552547" y="3952430"/>
            <a:ext cx="288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>
                <a:solidFill>
                  <a:sysClr val="windowText" lastClr="000000"/>
                </a:solidFill>
                <a:latin typeface="+mn-ea"/>
              </a:rPr>
              <a:t>08</a:t>
            </a:r>
            <a:endParaRPr lang="ko-KR" altLang="en-US" sz="140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51E470E-A1B7-5740-F00B-81A2763679F0}"/>
              </a:ext>
            </a:extLst>
          </p:cNvPr>
          <p:cNvSpPr txBox="1"/>
          <p:nvPr/>
        </p:nvSpPr>
        <p:spPr>
          <a:xfrm>
            <a:off x="6874447" y="3917698"/>
            <a:ext cx="27001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latin typeface="+mn-ea"/>
                <a:cs typeface="KoPubWorld돋움체 Bold" panose="00000800000000000000" pitchFamily="2" charset="-127"/>
              </a:rPr>
              <a:t>[</a:t>
            </a:r>
            <a:r>
              <a:rPr lang="ko-KR" altLang="en-US" sz="1600">
                <a:latin typeface="+mn-ea"/>
                <a:cs typeface="KoPubWorld돋움체 Bold" panose="00000800000000000000" pitchFamily="2" charset="-127"/>
              </a:rPr>
              <a:t>네이버</a:t>
            </a:r>
            <a:r>
              <a:rPr lang="en-US" altLang="ko-KR" sz="1600">
                <a:latin typeface="+mn-ea"/>
                <a:cs typeface="KoPubWorld돋움체 Bold" panose="00000800000000000000" pitchFamily="2" charset="-127"/>
              </a:rPr>
              <a:t>]</a:t>
            </a:r>
            <a:r>
              <a:rPr lang="ko-KR" altLang="en-US" sz="1600">
                <a:latin typeface="+mn-ea"/>
                <a:cs typeface="KoPubWorld돋움체 Bold" panose="00000800000000000000" pitchFamily="2" charset="-127"/>
              </a:rPr>
              <a:t> 로그인</a:t>
            </a:r>
            <a:r>
              <a:rPr lang="en-US" altLang="ko-KR" sz="1600">
                <a:latin typeface="+mn-ea"/>
                <a:cs typeface="KoPubWorld돋움체 Bold" panose="00000800000000000000" pitchFamily="2" charset="-127"/>
              </a:rPr>
              <a:t>/</a:t>
            </a:r>
            <a:r>
              <a:rPr lang="ko-KR" altLang="en-US" sz="1600">
                <a:latin typeface="+mn-ea"/>
                <a:cs typeface="KoPubWorld돋움체 Bold" panose="00000800000000000000" pitchFamily="2" charset="-127"/>
              </a:rPr>
              <a:t>회원 가입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9608170-B654-B7A8-3117-930995272724}"/>
              </a:ext>
            </a:extLst>
          </p:cNvPr>
          <p:cNvSpPr/>
          <p:nvPr/>
        </p:nvSpPr>
        <p:spPr>
          <a:xfrm>
            <a:off x="3075630" y="5791164"/>
            <a:ext cx="288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>
                <a:solidFill>
                  <a:sysClr val="windowText" lastClr="000000"/>
                </a:solidFill>
                <a:latin typeface="+mn-ea"/>
              </a:rPr>
              <a:t>06</a:t>
            </a:r>
            <a:endParaRPr lang="ko-KR" altLang="en-US" sz="140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04A02B-4044-9886-BB07-76A45798B6CC}"/>
              </a:ext>
            </a:extLst>
          </p:cNvPr>
          <p:cNvSpPr txBox="1"/>
          <p:nvPr/>
        </p:nvSpPr>
        <p:spPr>
          <a:xfrm>
            <a:off x="3391180" y="5762782"/>
            <a:ext cx="27001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latin typeface="+mn-ea"/>
                <a:cs typeface="KoPubWorld돋움체 Bold" panose="00000800000000000000" pitchFamily="2" charset="-127"/>
              </a:rPr>
              <a:t>비밀번호 찾기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96F3B10-45F9-EEA4-AB90-FD2C95B40916}"/>
              </a:ext>
            </a:extLst>
          </p:cNvPr>
          <p:cNvSpPr/>
          <p:nvPr/>
        </p:nvSpPr>
        <p:spPr>
          <a:xfrm>
            <a:off x="6552547" y="4872638"/>
            <a:ext cx="288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>
                <a:solidFill>
                  <a:sysClr val="windowText" lastClr="000000"/>
                </a:solidFill>
                <a:latin typeface="+mn-ea"/>
              </a:rPr>
              <a:t>10</a:t>
            </a:r>
            <a:endParaRPr lang="ko-KR" altLang="en-US" sz="140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5C26C8B-2F17-633B-EB21-026268D049EF}"/>
              </a:ext>
            </a:extLst>
          </p:cNvPr>
          <p:cNvSpPr txBox="1"/>
          <p:nvPr/>
        </p:nvSpPr>
        <p:spPr>
          <a:xfrm>
            <a:off x="6874447" y="4837906"/>
            <a:ext cx="27001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latin typeface="+mn-ea"/>
                <a:cs typeface="KoPubWorld돋움체 Bold" panose="00000800000000000000" pitchFamily="2" charset="-127"/>
              </a:rPr>
              <a:t>[</a:t>
            </a:r>
            <a:r>
              <a:rPr lang="ko-KR" altLang="en-US" sz="1600">
                <a:latin typeface="+mn-ea"/>
                <a:cs typeface="KoPubWorld돋움체 Bold" panose="00000800000000000000" pitchFamily="2" charset="-127"/>
              </a:rPr>
              <a:t>애플</a:t>
            </a:r>
            <a:r>
              <a:rPr lang="en-US" altLang="ko-KR" sz="1600">
                <a:latin typeface="+mn-ea"/>
                <a:cs typeface="KoPubWorld돋움체 Bold" panose="00000800000000000000" pitchFamily="2" charset="-127"/>
              </a:rPr>
              <a:t>]</a:t>
            </a:r>
            <a:r>
              <a:rPr lang="ko-KR" altLang="en-US" sz="1600">
                <a:latin typeface="+mn-ea"/>
                <a:cs typeface="KoPubWorld돋움체 Bold" panose="00000800000000000000" pitchFamily="2" charset="-127"/>
              </a:rPr>
              <a:t> 로그인</a:t>
            </a:r>
            <a:r>
              <a:rPr lang="en-US" altLang="ko-KR" sz="1600">
                <a:latin typeface="+mn-ea"/>
                <a:cs typeface="KoPubWorld돋움체 Bold" panose="00000800000000000000" pitchFamily="2" charset="-127"/>
              </a:rPr>
              <a:t>/</a:t>
            </a:r>
            <a:r>
              <a:rPr lang="ko-KR" altLang="en-US" sz="1600">
                <a:latin typeface="+mn-ea"/>
                <a:cs typeface="KoPubWorld돋움체 Bold" panose="00000800000000000000" pitchFamily="2" charset="-127"/>
              </a:rPr>
              <a:t>회원 가입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F1F64DB-73E6-D8AC-5849-18E9434BF109}"/>
              </a:ext>
            </a:extLst>
          </p:cNvPr>
          <p:cNvSpPr/>
          <p:nvPr/>
        </p:nvSpPr>
        <p:spPr>
          <a:xfrm>
            <a:off x="6552547" y="5332742"/>
            <a:ext cx="288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>
                <a:solidFill>
                  <a:sysClr val="windowText" lastClr="000000"/>
                </a:solidFill>
                <a:latin typeface="+mn-ea"/>
              </a:rPr>
              <a:t>11</a:t>
            </a:r>
            <a:endParaRPr lang="ko-KR" altLang="en-US" sz="140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9511C7C-1FDD-9BF4-E155-CE0D3430A449}"/>
              </a:ext>
            </a:extLst>
          </p:cNvPr>
          <p:cNvSpPr txBox="1"/>
          <p:nvPr/>
        </p:nvSpPr>
        <p:spPr>
          <a:xfrm>
            <a:off x="6874447" y="5298010"/>
            <a:ext cx="27001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latin typeface="+mn-ea"/>
                <a:cs typeface="KoPubWorld돋움체 Bold" panose="00000800000000000000" pitchFamily="2" charset="-127"/>
              </a:rPr>
              <a:t>통합회원 전환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7AA767A-E252-0FF6-A63E-5A5E59A83AEC}"/>
              </a:ext>
            </a:extLst>
          </p:cNvPr>
          <p:cNvSpPr/>
          <p:nvPr/>
        </p:nvSpPr>
        <p:spPr>
          <a:xfrm>
            <a:off x="3075630" y="4845749"/>
            <a:ext cx="288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>
                <a:solidFill>
                  <a:sysClr val="windowText" lastClr="000000"/>
                </a:solidFill>
                <a:latin typeface="+mn-ea"/>
              </a:rPr>
              <a:t>04</a:t>
            </a:r>
            <a:endParaRPr lang="ko-KR" altLang="en-US" sz="140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FE44ED1-93F1-33BE-4BDD-173B6FA7B0C2}"/>
              </a:ext>
            </a:extLst>
          </p:cNvPr>
          <p:cNvSpPr txBox="1"/>
          <p:nvPr/>
        </p:nvSpPr>
        <p:spPr>
          <a:xfrm>
            <a:off x="3391179" y="4848034"/>
            <a:ext cx="27001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latin typeface="+mn-ea"/>
                <a:cs typeface="KoPubWorld돋움체 Bold" panose="00000800000000000000" pitchFamily="2" charset="-127"/>
              </a:rPr>
              <a:t>생체인증 로그인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DEFC6B4-643B-333A-9525-A0B7B290DA5C}"/>
              </a:ext>
            </a:extLst>
          </p:cNvPr>
          <p:cNvSpPr/>
          <p:nvPr/>
        </p:nvSpPr>
        <p:spPr>
          <a:xfrm>
            <a:off x="6552547" y="5792848"/>
            <a:ext cx="288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>
                <a:solidFill>
                  <a:sysClr val="windowText" lastClr="000000"/>
                </a:solidFill>
                <a:latin typeface="+mn-ea"/>
              </a:rPr>
              <a:t>12</a:t>
            </a:r>
            <a:endParaRPr lang="ko-KR" altLang="en-US" sz="140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8148B73-AE55-8242-5DF0-B9DBAF4997CD}"/>
              </a:ext>
            </a:extLst>
          </p:cNvPr>
          <p:cNvSpPr txBox="1"/>
          <p:nvPr/>
        </p:nvSpPr>
        <p:spPr>
          <a:xfrm>
            <a:off x="6874447" y="5758116"/>
            <a:ext cx="27001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latin typeface="+mn-ea"/>
                <a:cs typeface="KoPubWorld돋움체 Bold" panose="00000800000000000000" pitchFamily="2" charset="-127"/>
              </a:rPr>
              <a:t>탈퇴</a:t>
            </a:r>
          </a:p>
        </p:txBody>
      </p:sp>
    </p:spTree>
    <p:extLst>
      <p:ext uri="{BB962C8B-B14F-4D97-AF65-F5344CB8AC3E}">
        <p14:creationId xmlns:p14="http://schemas.microsoft.com/office/powerpoint/2010/main" val="2702944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AD795-189B-52CA-00BF-AC4D51776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12">
            <a:extLst>
              <a:ext uri="{FF2B5EF4-FFF2-40B4-BE49-F238E27FC236}">
                <a16:creationId xmlns:a16="http://schemas.microsoft.com/office/drawing/2014/main" id="{FD3EB0F8-4E6D-02D1-30D9-F29EC2A16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6. </a:t>
            </a:r>
            <a:r>
              <a:rPr lang="ko-KR" altLang="en-US" b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프로세스 흐름도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F1986BB-0B8A-332B-58A3-79E254371EF7}"/>
              </a:ext>
            </a:extLst>
          </p:cNvPr>
          <p:cNvGrpSpPr/>
          <p:nvPr/>
        </p:nvGrpSpPr>
        <p:grpSpPr>
          <a:xfrm>
            <a:off x="366187" y="623347"/>
            <a:ext cx="2795282" cy="400110"/>
            <a:chOff x="250684" y="527628"/>
            <a:chExt cx="2795282" cy="40011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2B8D7BA-5E9C-35D0-F386-F551C65B4EF2}"/>
                </a:ext>
              </a:extLst>
            </p:cNvPr>
            <p:cNvSpPr txBox="1"/>
            <p:nvPr/>
          </p:nvSpPr>
          <p:spPr>
            <a:xfrm>
              <a:off x="610684" y="527628"/>
              <a:ext cx="24352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>
                  <a:solidFill>
                    <a:srgbClr val="5E2BB8"/>
                  </a:solidFill>
                  <a:latin typeface="+mj-ea"/>
                  <a:ea typeface="+mj-ea"/>
                </a:rPr>
                <a:t>로그인</a:t>
              </a:r>
              <a:r>
                <a:rPr lang="en-US" altLang="ko-KR" sz="2000">
                  <a:solidFill>
                    <a:srgbClr val="5E2BB8"/>
                  </a:solidFill>
                  <a:latin typeface="+mj-ea"/>
                  <a:ea typeface="+mj-ea"/>
                </a:rPr>
                <a:t>/</a:t>
              </a:r>
              <a:r>
                <a:rPr lang="ko-KR" altLang="en-US" sz="2000">
                  <a:solidFill>
                    <a:srgbClr val="5E2BB8"/>
                  </a:solidFill>
                  <a:latin typeface="+mj-ea"/>
                  <a:ea typeface="+mj-ea"/>
                </a:rPr>
                <a:t>회원가입 구조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9CFD5E7-90C5-D69A-2FF1-D4950F0D44EF}"/>
                </a:ext>
              </a:extLst>
            </p:cNvPr>
            <p:cNvSpPr/>
            <p:nvPr/>
          </p:nvSpPr>
          <p:spPr>
            <a:xfrm>
              <a:off x="250684" y="565683"/>
              <a:ext cx="324000" cy="324000"/>
            </a:xfrm>
            <a:prstGeom prst="rect">
              <a:avLst/>
            </a:prstGeom>
            <a:solidFill>
              <a:srgbClr val="5E2BB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600">
                  <a:solidFill>
                    <a:srgbClr val="FFFFFF"/>
                  </a:solidFill>
                  <a:latin typeface="+mj-ea"/>
                  <a:ea typeface="+mj-ea"/>
                </a:rPr>
                <a:t>01</a:t>
              </a:r>
              <a:endParaRPr lang="ko-KR" altLang="en-US" sz="1600">
                <a:solidFill>
                  <a:srgbClr val="FFFFFF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6EC667F-E0EC-D6FB-223A-02BA04435BBF}"/>
              </a:ext>
            </a:extLst>
          </p:cNvPr>
          <p:cNvSpPr/>
          <p:nvPr/>
        </p:nvSpPr>
        <p:spPr>
          <a:xfrm>
            <a:off x="5184888" y="995611"/>
            <a:ext cx="6230061" cy="5045326"/>
          </a:xfrm>
          <a:prstGeom prst="rect">
            <a:avLst/>
          </a:prstGeom>
          <a:solidFill>
            <a:srgbClr val="F2F2F2">
              <a:alpha val="61961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10BC78-380A-F558-501B-2E4A3360AD9F}"/>
              </a:ext>
            </a:extLst>
          </p:cNvPr>
          <p:cNvSpPr txBox="1"/>
          <p:nvPr/>
        </p:nvSpPr>
        <p:spPr>
          <a:xfrm>
            <a:off x="774900" y="2246303"/>
            <a:ext cx="483547" cy="24198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r>
              <a:rPr lang="en-US" altLang="ko-KR" sz="1100" b="1">
                <a:latin typeface="+mn-ea"/>
              </a:rPr>
              <a:t>PC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A46C468B-A6AC-1BBE-33F0-DBB4E6DEB473}"/>
              </a:ext>
            </a:extLst>
          </p:cNvPr>
          <p:cNvCxnSpPr>
            <a:cxnSpLocks/>
          </p:cNvCxnSpPr>
          <p:nvPr/>
        </p:nvCxnSpPr>
        <p:spPr>
          <a:xfrm>
            <a:off x="716843" y="3857195"/>
            <a:ext cx="4089026" cy="0"/>
          </a:xfrm>
          <a:prstGeom prst="line">
            <a:avLst/>
          </a:prstGeom>
          <a:ln w="6350">
            <a:solidFill>
              <a:schemeClr val="tx1"/>
            </a:solidFill>
            <a:prstDash val="dash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44B090F-4524-076B-A82B-2F42908BC6B1}"/>
              </a:ext>
            </a:extLst>
          </p:cNvPr>
          <p:cNvSpPr txBox="1"/>
          <p:nvPr/>
        </p:nvSpPr>
        <p:spPr>
          <a:xfrm>
            <a:off x="774900" y="4953894"/>
            <a:ext cx="654750" cy="24198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r>
              <a:rPr lang="en-US" altLang="ko-KR" sz="1100" b="1">
                <a:latin typeface="+mn-ea"/>
              </a:rPr>
              <a:t>MO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FB04DE2-159B-A86B-43C4-601EB4344CEA}"/>
              </a:ext>
            </a:extLst>
          </p:cNvPr>
          <p:cNvSpPr/>
          <p:nvPr/>
        </p:nvSpPr>
        <p:spPr>
          <a:xfrm>
            <a:off x="1429650" y="1483462"/>
            <a:ext cx="1039419" cy="3693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+mn-ea"/>
              </a:rPr>
              <a:t>닷컴 홈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614F2AE-4188-2320-21AD-6A33DA180E6F}"/>
              </a:ext>
            </a:extLst>
          </p:cNvPr>
          <p:cNvSpPr/>
          <p:nvPr/>
        </p:nvSpPr>
        <p:spPr>
          <a:xfrm>
            <a:off x="1429650" y="2028549"/>
            <a:ext cx="1039419" cy="3693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+mn-ea"/>
              </a:rPr>
              <a:t>패키지</a:t>
            </a:r>
            <a:r>
              <a:rPr lang="en-US" altLang="ko-KR" sz="100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000">
                <a:solidFill>
                  <a:schemeClr val="tx1"/>
                </a:solidFill>
                <a:latin typeface="+mn-ea"/>
              </a:rPr>
              <a:t>항공</a:t>
            </a:r>
            <a:r>
              <a:rPr lang="en-US" altLang="ko-KR" sz="100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000">
                <a:solidFill>
                  <a:schemeClr val="tx1"/>
                </a:solidFill>
                <a:latin typeface="+mn-ea"/>
              </a:rPr>
              <a:t>호텔 예약하기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EB648CB-D91B-0FBE-20C3-2926EF28E56D}"/>
              </a:ext>
            </a:extLst>
          </p:cNvPr>
          <p:cNvSpPr/>
          <p:nvPr/>
        </p:nvSpPr>
        <p:spPr>
          <a:xfrm>
            <a:off x="1429650" y="2573637"/>
            <a:ext cx="1039419" cy="8135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  <a:latin typeface="+mn-ea"/>
              </a:rPr>
              <a:t>FND/</a:t>
            </a:r>
            <a:r>
              <a:rPr lang="ko-KR" altLang="en-US" sz="1000">
                <a:solidFill>
                  <a:schemeClr val="tx1"/>
                </a:solidFill>
                <a:latin typeface="+mn-ea"/>
              </a:rPr>
              <a:t>웹투어국내항공 예약하기</a:t>
            </a:r>
            <a:r>
              <a:rPr lang="en-US" altLang="ko-KR" sz="100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000">
                <a:solidFill>
                  <a:schemeClr val="tx1"/>
                </a:solidFill>
                <a:latin typeface="+mn-ea"/>
              </a:rPr>
              <a:t>하나라이브</a:t>
            </a:r>
            <a:r>
              <a:rPr lang="en-US" altLang="ko-KR" sz="100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000">
                <a:solidFill>
                  <a:schemeClr val="tx1"/>
                </a:solidFill>
                <a:latin typeface="+mn-ea"/>
              </a:rPr>
              <a:t>플래너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2EAB0B-DFD4-D96E-3270-65966A0E927F}"/>
              </a:ext>
            </a:extLst>
          </p:cNvPr>
          <p:cNvSpPr txBox="1"/>
          <p:nvPr/>
        </p:nvSpPr>
        <p:spPr>
          <a:xfrm>
            <a:off x="1820958" y="3437537"/>
            <a:ext cx="232756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400">
                <a:latin typeface="+mn-ea"/>
              </a:rPr>
              <a:t>●</a:t>
            </a:r>
            <a:endParaRPr lang="en-US" altLang="ko-KR" sz="400">
              <a:latin typeface="+mn-ea"/>
            </a:endParaRPr>
          </a:p>
          <a:p>
            <a:r>
              <a:rPr lang="ko-KR" altLang="en-US" sz="400">
                <a:latin typeface="+mn-ea"/>
              </a:rPr>
              <a:t>●</a:t>
            </a:r>
          </a:p>
          <a:p>
            <a:endParaRPr lang="ko-KR" altLang="en-US" sz="400">
              <a:latin typeface="+mn-ea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4DFA294-2DDB-E1B7-0F66-1956848A6860}"/>
              </a:ext>
            </a:extLst>
          </p:cNvPr>
          <p:cNvSpPr/>
          <p:nvPr/>
        </p:nvSpPr>
        <p:spPr>
          <a:xfrm>
            <a:off x="1429650" y="4180298"/>
            <a:ext cx="1039419" cy="3693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+mn-ea"/>
              </a:rPr>
              <a:t>닷컴 홈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DCD56CD-38CB-F02C-F612-2B504DE1A0F8}"/>
              </a:ext>
            </a:extLst>
          </p:cNvPr>
          <p:cNvSpPr/>
          <p:nvPr/>
        </p:nvSpPr>
        <p:spPr>
          <a:xfrm>
            <a:off x="1429650" y="4725385"/>
            <a:ext cx="1039419" cy="3693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+mn-ea"/>
              </a:rPr>
              <a:t>패키지</a:t>
            </a:r>
            <a:r>
              <a:rPr lang="en-US" altLang="ko-KR" sz="100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000">
                <a:solidFill>
                  <a:schemeClr val="tx1"/>
                </a:solidFill>
                <a:latin typeface="+mn-ea"/>
              </a:rPr>
              <a:t>항공</a:t>
            </a:r>
            <a:r>
              <a:rPr lang="en-US" altLang="ko-KR" sz="100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000">
                <a:solidFill>
                  <a:schemeClr val="tx1"/>
                </a:solidFill>
                <a:latin typeface="+mn-ea"/>
              </a:rPr>
              <a:t>호텔 예약하기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3051EB0-5C06-5585-831F-D10F5027C622}"/>
              </a:ext>
            </a:extLst>
          </p:cNvPr>
          <p:cNvSpPr/>
          <p:nvPr/>
        </p:nvSpPr>
        <p:spPr>
          <a:xfrm>
            <a:off x="1429650" y="5270473"/>
            <a:ext cx="1039419" cy="8135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  <a:latin typeface="+mn-ea"/>
              </a:rPr>
              <a:t>FND/</a:t>
            </a:r>
            <a:r>
              <a:rPr lang="ko-KR" altLang="en-US" sz="1000">
                <a:solidFill>
                  <a:schemeClr val="tx1"/>
                </a:solidFill>
                <a:latin typeface="+mn-ea"/>
              </a:rPr>
              <a:t>웹투어국내항공 예약하기</a:t>
            </a:r>
            <a:r>
              <a:rPr lang="en-US" altLang="ko-KR" sz="100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000">
                <a:solidFill>
                  <a:schemeClr val="tx1"/>
                </a:solidFill>
                <a:latin typeface="+mn-ea"/>
              </a:rPr>
              <a:t>하나라이브</a:t>
            </a:r>
            <a:r>
              <a:rPr lang="en-US" altLang="ko-KR" sz="100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000">
                <a:solidFill>
                  <a:schemeClr val="tx1"/>
                </a:solidFill>
                <a:latin typeface="+mn-ea"/>
              </a:rPr>
              <a:t>플래너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132095-A6A4-6ABD-F448-5EE15C6DB903}"/>
              </a:ext>
            </a:extLst>
          </p:cNvPr>
          <p:cNvSpPr txBox="1"/>
          <p:nvPr/>
        </p:nvSpPr>
        <p:spPr>
          <a:xfrm>
            <a:off x="1820958" y="6134373"/>
            <a:ext cx="232756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400">
                <a:latin typeface="+mn-ea"/>
              </a:rPr>
              <a:t>●</a:t>
            </a:r>
            <a:endParaRPr lang="en-US" altLang="ko-KR" sz="400">
              <a:latin typeface="+mn-ea"/>
            </a:endParaRPr>
          </a:p>
          <a:p>
            <a:r>
              <a:rPr lang="ko-KR" altLang="en-US" sz="400">
                <a:latin typeface="+mn-ea"/>
              </a:rPr>
              <a:t>●</a:t>
            </a:r>
          </a:p>
          <a:p>
            <a:endParaRPr lang="ko-KR" altLang="en-US" sz="400">
              <a:latin typeface="+mn-ea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C897E31-1D65-7AF0-1B86-DE75031ED7B6}"/>
              </a:ext>
            </a:extLst>
          </p:cNvPr>
          <p:cNvSpPr/>
          <p:nvPr/>
        </p:nvSpPr>
        <p:spPr>
          <a:xfrm>
            <a:off x="3106050" y="2033796"/>
            <a:ext cx="1039419" cy="3693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+mn-ea"/>
              </a:rPr>
              <a:t>로그인버튼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6F28B8D-3D2F-0EAF-C26E-0F9130544D0C}"/>
              </a:ext>
            </a:extLst>
          </p:cNvPr>
          <p:cNvSpPr/>
          <p:nvPr/>
        </p:nvSpPr>
        <p:spPr>
          <a:xfrm>
            <a:off x="3106050" y="4727754"/>
            <a:ext cx="1039419" cy="3693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+mn-ea"/>
              </a:rPr>
              <a:t>로그인버튼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46BBA71-3F14-4ED9-F499-B6D93B33DC29}"/>
              </a:ext>
            </a:extLst>
          </p:cNvPr>
          <p:cNvSpPr/>
          <p:nvPr/>
        </p:nvSpPr>
        <p:spPr>
          <a:xfrm>
            <a:off x="5466268" y="3672529"/>
            <a:ext cx="1039419" cy="3693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+mn-ea"/>
              </a:rPr>
              <a:t>로그인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0148457-09C8-340A-3982-B3CDDCD53269}"/>
              </a:ext>
            </a:extLst>
          </p:cNvPr>
          <p:cNvSpPr/>
          <p:nvPr/>
        </p:nvSpPr>
        <p:spPr>
          <a:xfrm>
            <a:off x="8441531" y="1287213"/>
            <a:ext cx="1039419" cy="3693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+mn-ea"/>
              </a:rPr>
              <a:t>하나투어 로그인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033152E-F5E5-6950-E912-4748FEBAF78B}"/>
              </a:ext>
            </a:extLst>
          </p:cNvPr>
          <p:cNvSpPr/>
          <p:nvPr/>
        </p:nvSpPr>
        <p:spPr>
          <a:xfrm>
            <a:off x="6837868" y="5612776"/>
            <a:ext cx="1039419" cy="3693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+mn-ea"/>
              </a:rPr>
              <a:t>비회원예약조회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76CA213-C871-FE6B-87FE-C1D35975B060}"/>
              </a:ext>
            </a:extLst>
          </p:cNvPr>
          <p:cNvSpPr/>
          <p:nvPr/>
        </p:nvSpPr>
        <p:spPr>
          <a:xfrm>
            <a:off x="8441531" y="1728181"/>
            <a:ext cx="1039419" cy="3693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+mn-ea"/>
              </a:rPr>
              <a:t>네이버 로그인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E0CFDD1-959E-119D-2991-D50FCF6BE434}"/>
              </a:ext>
            </a:extLst>
          </p:cNvPr>
          <p:cNvSpPr/>
          <p:nvPr/>
        </p:nvSpPr>
        <p:spPr>
          <a:xfrm>
            <a:off x="8441531" y="2169149"/>
            <a:ext cx="1039419" cy="3693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+mn-ea"/>
              </a:rPr>
              <a:t>카카오 로그인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4AA9C5F-01C8-7A82-95B6-F48C4F64CEDD}"/>
              </a:ext>
            </a:extLst>
          </p:cNvPr>
          <p:cNvSpPr/>
          <p:nvPr/>
        </p:nvSpPr>
        <p:spPr>
          <a:xfrm>
            <a:off x="8441531" y="2610117"/>
            <a:ext cx="1039419" cy="3693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+mn-ea"/>
              </a:rPr>
              <a:t>애플 로그인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DDB7EA3-4A84-45A6-8DCA-9ECC6643C3AD}"/>
              </a:ext>
            </a:extLst>
          </p:cNvPr>
          <p:cNvSpPr/>
          <p:nvPr/>
        </p:nvSpPr>
        <p:spPr>
          <a:xfrm>
            <a:off x="8441531" y="3051085"/>
            <a:ext cx="1039419" cy="3693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+mn-ea"/>
              </a:rPr>
              <a:t>생체인증 로그인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693E49F-02D5-BE8A-BC89-913C4D858899}"/>
              </a:ext>
            </a:extLst>
          </p:cNvPr>
          <p:cNvSpPr/>
          <p:nvPr/>
        </p:nvSpPr>
        <p:spPr>
          <a:xfrm>
            <a:off x="8441531" y="3492053"/>
            <a:ext cx="1039419" cy="3693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+mn-ea"/>
              </a:rPr>
              <a:t>아이디찾기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4ADA8F8-683F-01D2-DF7F-827CFA4CD0FC}"/>
              </a:ext>
            </a:extLst>
          </p:cNvPr>
          <p:cNvSpPr/>
          <p:nvPr/>
        </p:nvSpPr>
        <p:spPr>
          <a:xfrm>
            <a:off x="8441531" y="3933021"/>
            <a:ext cx="1039419" cy="3693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+mn-ea"/>
              </a:rPr>
              <a:t>비밀번호찾기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1306CB7-416C-BED3-71CD-3A0EF374EAF8}"/>
              </a:ext>
            </a:extLst>
          </p:cNvPr>
          <p:cNvSpPr/>
          <p:nvPr/>
        </p:nvSpPr>
        <p:spPr>
          <a:xfrm>
            <a:off x="8441531" y="4373989"/>
            <a:ext cx="1039419" cy="3693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+mn-ea"/>
              </a:rPr>
              <a:t>회원가입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32C7FA2-670B-99E9-AF0D-6C8D0977F79B}"/>
              </a:ext>
            </a:extLst>
          </p:cNvPr>
          <p:cNvSpPr/>
          <p:nvPr/>
        </p:nvSpPr>
        <p:spPr>
          <a:xfrm>
            <a:off x="6837868" y="1286359"/>
            <a:ext cx="1039419" cy="3693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+mn-ea"/>
              </a:rPr>
              <a:t>회원로그인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22D738D-E3A2-881B-CD35-01153624F986}"/>
              </a:ext>
            </a:extLst>
          </p:cNvPr>
          <p:cNvSpPr/>
          <p:nvPr/>
        </p:nvSpPr>
        <p:spPr>
          <a:xfrm>
            <a:off x="9965241" y="3629936"/>
            <a:ext cx="1039419" cy="3693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+mn-ea"/>
              </a:rPr>
              <a:t>회원가입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145BD47-1D59-5E8D-3AFB-5301DF37899A}"/>
              </a:ext>
            </a:extLst>
          </p:cNvPr>
          <p:cNvSpPr/>
          <p:nvPr/>
        </p:nvSpPr>
        <p:spPr>
          <a:xfrm>
            <a:off x="9965241" y="4115628"/>
            <a:ext cx="1039419" cy="3693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+mn-ea"/>
              </a:rPr>
              <a:t>네이버 회원가입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C02906E-695C-6BA8-69CE-C0EEA6ED9EBA}"/>
              </a:ext>
            </a:extLst>
          </p:cNvPr>
          <p:cNvSpPr/>
          <p:nvPr/>
        </p:nvSpPr>
        <p:spPr>
          <a:xfrm>
            <a:off x="9965241" y="4601320"/>
            <a:ext cx="1039419" cy="3693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+mn-ea"/>
              </a:rPr>
              <a:t>카카오 회원가입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81D61A06-13D7-BF68-F181-5076AB5CC24D}"/>
              </a:ext>
            </a:extLst>
          </p:cNvPr>
          <p:cNvSpPr/>
          <p:nvPr/>
        </p:nvSpPr>
        <p:spPr>
          <a:xfrm>
            <a:off x="9965241" y="5087013"/>
            <a:ext cx="1039419" cy="3693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+mn-ea"/>
              </a:rPr>
              <a:t>애플 회원가입</a:t>
            </a:r>
          </a:p>
        </p:txBody>
      </p:sp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2F970EAD-F2C6-700E-B921-C4A9E820954F}"/>
              </a:ext>
            </a:extLst>
          </p:cNvPr>
          <p:cNvCxnSpPr>
            <a:cxnSpLocks/>
            <a:stCxn id="16" idx="3"/>
            <a:endCxn id="27" idx="1"/>
          </p:cNvCxnSpPr>
          <p:nvPr/>
        </p:nvCxnSpPr>
        <p:spPr>
          <a:xfrm>
            <a:off x="2469069" y="1668128"/>
            <a:ext cx="636981" cy="550334"/>
          </a:xfrm>
          <a:prstGeom prst="bentConnector3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연결선: 꺾임 44">
            <a:extLst>
              <a:ext uri="{FF2B5EF4-FFF2-40B4-BE49-F238E27FC236}">
                <a16:creationId xmlns:a16="http://schemas.microsoft.com/office/drawing/2014/main" id="{05E3DD23-2BDC-409D-1657-812E9AEC6B00}"/>
              </a:ext>
            </a:extLst>
          </p:cNvPr>
          <p:cNvCxnSpPr>
            <a:cxnSpLocks/>
            <a:stCxn id="17" idx="3"/>
            <a:endCxn id="27" idx="1"/>
          </p:cNvCxnSpPr>
          <p:nvPr/>
        </p:nvCxnSpPr>
        <p:spPr>
          <a:xfrm>
            <a:off x="2469069" y="2213215"/>
            <a:ext cx="636981" cy="5247"/>
          </a:xfrm>
          <a:prstGeom prst="bentConnector3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연결선: 꺾임 45">
            <a:extLst>
              <a:ext uri="{FF2B5EF4-FFF2-40B4-BE49-F238E27FC236}">
                <a16:creationId xmlns:a16="http://schemas.microsoft.com/office/drawing/2014/main" id="{9319B434-1E30-056F-8702-397C3F02CC00}"/>
              </a:ext>
            </a:extLst>
          </p:cNvPr>
          <p:cNvCxnSpPr>
            <a:cxnSpLocks/>
            <a:stCxn id="18" idx="3"/>
            <a:endCxn id="27" idx="1"/>
          </p:cNvCxnSpPr>
          <p:nvPr/>
        </p:nvCxnSpPr>
        <p:spPr>
          <a:xfrm flipV="1">
            <a:off x="2469069" y="2218462"/>
            <a:ext cx="636981" cy="761962"/>
          </a:xfrm>
          <a:prstGeom prst="bentConnector3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7D2CB8B7-580E-118F-C6F6-43BF03776C94}"/>
              </a:ext>
            </a:extLst>
          </p:cNvPr>
          <p:cNvCxnSpPr>
            <a:cxnSpLocks/>
            <a:stCxn id="20" idx="3"/>
            <a:endCxn id="28" idx="1"/>
          </p:cNvCxnSpPr>
          <p:nvPr/>
        </p:nvCxnSpPr>
        <p:spPr>
          <a:xfrm>
            <a:off x="2469069" y="4364964"/>
            <a:ext cx="636981" cy="547456"/>
          </a:xfrm>
          <a:prstGeom prst="bentConnector3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E3A93E98-BEEC-EE45-0071-2D6171676BF2}"/>
              </a:ext>
            </a:extLst>
          </p:cNvPr>
          <p:cNvCxnSpPr>
            <a:cxnSpLocks/>
            <a:stCxn id="21" idx="3"/>
            <a:endCxn id="28" idx="1"/>
          </p:cNvCxnSpPr>
          <p:nvPr/>
        </p:nvCxnSpPr>
        <p:spPr>
          <a:xfrm>
            <a:off x="2469069" y="4910051"/>
            <a:ext cx="636981" cy="2369"/>
          </a:xfrm>
          <a:prstGeom prst="bentConnector3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연결선: 꺾임 48">
            <a:extLst>
              <a:ext uri="{FF2B5EF4-FFF2-40B4-BE49-F238E27FC236}">
                <a16:creationId xmlns:a16="http://schemas.microsoft.com/office/drawing/2014/main" id="{6C5C557C-FD5A-B38D-8642-7F55B58AC626}"/>
              </a:ext>
            </a:extLst>
          </p:cNvPr>
          <p:cNvCxnSpPr>
            <a:cxnSpLocks/>
            <a:stCxn id="22" idx="3"/>
            <a:endCxn id="28" idx="1"/>
          </p:cNvCxnSpPr>
          <p:nvPr/>
        </p:nvCxnSpPr>
        <p:spPr>
          <a:xfrm flipV="1">
            <a:off x="2469069" y="4912420"/>
            <a:ext cx="636981" cy="764840"/>
          </a:xfrm>
          <a:prstGeom prst="bentConnector3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465E6F45-E707-F92B-DC6C-68E8C20B11D0}"/>
              </a:ext>
            </a:extLst>
          </p:cNvPr>
          <p:cNvCxnSpPr>
            <a:cxnSpLocks/>
            <a:stCxn id="27" idx="3"/>
            <a:endCxn id="29" idx="1"/>
          </p:cNvCxnSpPr>
          <p:nvPr/>
        </p:nvCxnSpPr>
        <p:spPr>
          <a:xfrm>
            <a:off x="4145469" y="2218462"/>
            <a:ext cx="1320799" cy="1638733"/>
          </a:xfrm>
          <a:prstGeom prst="bentConnector3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42696E46-CC3B-19FE-6336-BE1807BFFA2C}"/>
              </a:ext>
            </a:extLst>
          </p:cNvPr>
          <p:cNvCxnSpPr>
            <a:cxnSpLocks/>
            <a:stCxn id="28" idx="3"/>
            <a:endCxn id="29" idx="1"/>
          </p:cNvCxnSpPr>
          <p:nvPr/>
        </p:nvCxnSpPr>
        <p:spPr>
          <a:xfrm flipV="1">
            <a:off x="4145469" y="3857195"/>
            <a:ext cx="1320799" cy="1055225"/>
          </a:xfrm>
          <a:prstGeom prst="bentConnector3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6F2AA4D6-9BC8-D7A4-3BC1-4E21904889EA}"/>
              </a:ext>
            </a:extLst>
          </p:cNvPr>
          <p:cNvCxnSpPr>
            <a:cxnSpLocks/>
            <a:stCxn id="29" idx="3"/>
            <a:endCxn id="39" idx="1"/>
          </p:cNvCxnSpPr>
          <p:nvPr/>
        </p:nvCxnSpPr>
        <p:spPr>
          <a:xfrm flipV="1">
            <a:off x="6505687" y="1471025"/>
            <a:ext cx="332181" cy="2386170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42A945E3-D508-D7C6-A925-A579A0F478F5}"/>
              </a:ext>
            </a:extLst>
          </p:cNvPr>
          <p:cNvCxnSpPr>
            <a:cxnSpLocks/>
            <a:stCxn id="29" idx="3"/>
            <a:endCxn id="31" idx="1"/>
          </p:cNvCxnSpPr>
          <p:nvPr/>
        </p:nvCxnSpPr>
        <p:spPr>
          <a:xfrm>
            <a:off x="6505687" y="3857195"/>
            <a:ext cx="332181" cy="1940247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01535921-B4DF-D01C-951E-0F3AB04F83D4}"/>
              </a:ext>
            </a:extLst>
          </p:cNvPr>
          <p:cNvCxnSpPr>
            <a:cxnSpLocks/>
            <a:stCxn id="39" idx="3"/>
            <a:endCxn id="30" idx="1"/>
          </p:cNvCxnSpPr>
          <p:nvPr/>
        </p:nvCxnSpPr>
        <p:spPr>
          <a:xfrm>
            <a:off x="7877287" y="1471025"/>
            <a:ext cx="564244" cy="854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58532464-A042-98AA-7D31-AE4EACD46479}"/>
              </a:ext>
            </a:extLst>
          </p:cNvPr>
          <p:cNvCxnSpPr>
            <a:cxnSpLocks/>
            <a:stCxn id="39" idx="3"/>
            <a:endCxn id="32" idx="1"/>
          </p:cNvCxnSpPr>
          <p:nvPr/>
        </p:nvCxnSpPr>
        <p:spPr>
          <a:xfrm>
            <a:off x="7877287" y="1471025"/>
            <a:ext cx="564244" cy="441822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A497A37A-1429-E9F0-E78F-C591917277AF}"/>
              </a:ext>
            </a:extLst>
          </p:cNvPr>
          <p:cNvCxnSpPr>
            <a:cxnSpLocks/>
            <a:stCxn id="39" idx="3"/>
            <a:endCxn id="33" idx="1"/>
          </p:cNvCxnSpPr>
          <p:nvPr/>
        </p:nvCxnSpPr>
        <p:spPr>
          <a:xfrm>
            <a:off x="7877287" y="1471025"/>
            <a:ext cx="564244" cy="882790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5603E3EB-6D47-3E0D-9BE8-0339ECB73CBD}"/>
              </a:ext>
            </a:extLst>
          </p:cNvPr>
          <p:cNvCxnSpPr>
            <a:cxnSpLocks/>
            <a:stCxn id="39" idx="3"/>
            <a:endCxn id="34" idx="1"/>
          </p:cNvCxnSpPr>
          <p:nvPr/>
        </p:nvCxnSpPr>
        <p:spPr>
          <a:xfrm>
            <a:off x="7877287" y="1471025"/>
            <a:ext cx="564244" cy="1323758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연결선: 꺾임 57">
            <a:extLst>
              <a:ext uri="{FF2B5EF4-FFF2-40B4-BE49-F238E27FC236}">
                <a16:creationId xmlns:a16="http://schemas.microsoft.com/office/drawing/2014/main" id="{DB3157ED-61AD-63FC-A06D-CBA643D45B91}"/>
              </a:ext>
            </a:extLst>
          </p:cNvPr>
          <p:cNvCxnSpPr>
            <a:cxnSpLocks/>
            <a:stCxn id="39" idx="3"/>
            <a:endCxn id="35" idx="1"/>
          </p:cNvCxnSpPr>
          <p:nvPr/>
        </p:nvCxnSpPr>
        <p:spPr>
          <a:xfrm>
            <a:off x="7877287" y="1471025"/>
            <a:ext cx="564244" cy="1764726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연결선: 꺾임 58">
            <a:extLst>
              <a:ext uri="{FF2B5EF4-FFF2-40B4-BE49-F238E27FC236}">
                <a16:creationId xmlns:a16="http://schemas.microsoft.com/office/drawing/2014/main" id="{CECDC2CD-4ACC-9FD3-46D9-E032CC1B4785}"/>
              </a:ext>
            </a:extLst>
          </p:cNvPr>
          <p:cNvCxnSpPr>
            <a:cxnSpLocks/>
            <a:stCxn id="39" idx="3"/>
            <a:endCxn id="36" idx="1"/>
          </p:cNvCxnSpPr>
          <p:nvPr/>
        </p:nvCxnSpPr>
        <p:spPr>
          <a:xfrm>
            <a:off x="7877287" y="1471025"/>
            <a:ext cx="564244" cy="2205694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연결선: 꺾임 59">
            <a:extLst>
              <a:ext uri="{FF2B5EF4-FFF2-40B4-BE49-F238E27FC236}">
                <a16:creationId xmlns:a16="http://schemas.microsoft.com/office/drawing/2014/main" id="{876D41AD-42B8-9E85-7788-056B07E6CDFD}"/>
              </a:ext>
            </a:extLst>
          </p:cNvPr>
          <p:cNvCxnSpPr>
            <a:cxnSpLocks/>
            <a:stCxn id="39" idx="3"/>
            <a:endCxn id="37" idx="1"/>
          </p:cNvCxnSpPr>
          <p:nvPr/>
        </p:nvCxnSpPr>
        <p:spPr>
          <a:xfrm>
            <a:off x="7877287" y="1471025"/>
            <a:ext cx="564244" cy="2646662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연결선: 꺾임 60">
            <a:extLst>
              <a:ext uri="{FF2B5EF4-FFF2-40B4-BE49-F238E27FC236}">
                <a16:creationId xmlns:a16="http://schemas.microsoft.com/office/drawing/2014/main" id="{F1681526-4BCF-075F-D0A8-143714EDAAAB}"/>
              </a:ext>
            </a:extLst>
          </p:cNvPr>
          <p:cNvCxnSpPr>
            <a:cxnSpLocks/>
            <a:stCxn id="39" idx="3"/>
            <a:endCxn id="38" idx="1"/>
          </p:cNvCxnSpPr>
          <p:nvPr/>
        </p:nvCxnSpPr>
        <p:spPr>
          <a:xfrm>
            <a:off x="7877287" y="1471025"/>
            <a:ext cx="564244" cy="3087630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연결선: 꺾임 61">
            <a:extLst>
              <a:ext uri="{FF2B5EF4-FFF2-40B4-BE49-F238E27FC236}">
                <a16:creationId xmlns:a16="http://schemas.microsoft.com/office/drawing/2014/main" id="{1ECA6238-196E-CAE8-9F8B-FD0601AF434A}"/>
              </a:ext>
            </a:extLst>
          </p:cNvPr>
          <p:cNvCxnSpPr>
            <a:cxnSpLocks/>
            <a:stCxn id="38" idx="3"/>
            <a:endCxn id="40" idx="1"/>
          </p:cNvCxnSpPr>
          <p:nvPr/>
        </p:nvCxnSpPr>
        <p:spPr>
          <a:xfrm flipV="1">
            <a:off x="9480950" y="3814602"/>
            <a:ext cx="484291" cy="744053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3DB9EDC5-42F1-24C1-488C-115DE9C9FA4A}"/>
              </a:ext>
            </a:extLst>
          </p:cNvPr>
          <p:cNvCxnSpPr>
            <a:cxnSpLocks/>
            <a:stCxn id="38" idx="3"/>
            <a:endCxn id="41" idx="1"/>
          </p:cNvCxnSpPr>
          <p:nvPr/>
        </p:nvCxnSpPr>
        <p:spPr>
          <a:xfrm flipV="1">
            <a:off x="9480950" y="4300294"/>
            <a:ext cx="484291" cy="258361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연결선: 꺾임 63">
            <a:extLst>
              <a:ext uri="{FF2B5EF4-FFF2-40B4-BE49-F238E27FC236}">
                <a16:creationId xmlns:a16="http://schemas.microsoft.com/office/drawing/2014/main" id="{3DD2E45B-FCF4-157A-AA40-63DAF7537156}"/>
              </a:ext>
            </a:extLst>
          </p:cNvPr>
          <p:cNvCxnSpPr>
            <a:cxnSpLocks/>
            <a:stCxn id="38" idx="3"/>
            <a:endCxn id="42" idx="1"/>
          </p:cNvCxnSpPr>
          <p:nvPr/>
        </p:nvCxnSpPr>
        <p:spPr>
          <a:xfrm>
            <a:off x="9480950" y="4558655"/>
            <a:ext cx="484291" cy="227331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연결선: 꺾임 64">
            <a:extLst>
              <a:ext uri="{FF2B5EF4-FFF2-40B4-BE49-F238E27FC236}">
                <a16:creationId xmlns:a16="http://schemas.microsoft.com/office/drawing/2014/main" id="{77749080-5E23-BA70-939B-4C203A453024}"/>
              </a:ext>
            </a:extLst>
          </p:cNvPr>
          <p:cNvCxnSpPr>
            <a:cxnSpLocks/>
            <a:stCxn id="38" idx="3"/>
            <a:endCxn id="43" idx="1"/>
          </p:cNvCxnSpPr>
          <p:nvPr/>
        </p:nvCxnSpPr>
        <p:spPr>
          <a:xfrm>
            <a:off x="9480950" y="4558655"/>
            <a:ext cx="484291" cy="713024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C015E68A-2BFB-B4AB-D232-9F10CA06C565}"/>
              </a:ext>
            </a:extLst>
          </p:cNvPr>
          <p:cNvSpPr txBox="1"/>
          <p:nvPr/>
        </p:nvSpPr>
        <p:spPr>
          <a:xfrm>
            <a:off x="9573976" y="995611"/>
            <a:ext cx="1900126" cy="211203"/>
          </a:xfrm>
          <a:prstGeom prst="rect">
            <a:avLst/>
          </a:prstGeom>
          <a:noFill/>
        </p:spPr>
        <p:txBody>
          <a:bodyPr wrap="none" lIns="36000" tIns="36000" rIns="36000" bIns="36000" rtlCol="0" anchor="ctr" anchorCtr="0">
            <a:spAutoFit/>
          </a:bodyPr>
          <a:lstStyle>
            <a:defPPr>
              <a:defRPr lang="ko-KR"/>
            </a:defPPr>
            <a:lvl1pPr>
              <a:defRPr sz="900" b="1" i="1">
                <a:solidFill>
                  <a:srgbClr val="6232B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i="0">
                <a:latin typeface="+mn-ea"/>
                <a:ea typeface="+mn-ea"/>
              </a:rPr>
              <a:t>로그인 전용 별도 도메인 </a:t>
            </a:r>
            <a:r>
              <a:rPr lang="en-US" altLang="ko-KR" i="0">
                <a:latin typeface="+mn-ea"/>
                <a:ea typeface="+mn-ea"/>
              </a:rPr>
              <a:t>[MO/PC </a:t>
            </a:r>
            <a:r>
              <a:rPr lang="ko-KR" altLang="en-US" i="0">
                <a:latin typeface="+mn-ea"/>
                <a:ea typeface="+mn-ea"/>
              </a:rPr>
              <a:t>공통</a:t>
            </a:r>
            <a:r>
              <a:rPr lang="en-US" altLang="ko-KR" i="0">
                <a:latin typeface="+mn-ea"/>
                <a:ea typeface="+mn-ea"/>
              </a:rPr>
              <a:t>]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BBEB057-9398-692C-BC10-20CD92C72384}"/>
              </a:ext>
            </a:extLst>
          </p:cNvPr>
          <p:cNvSpPr txBox="1"/>
          <p:nvPr/>
        </p:nvSpPr>
        <p:spPr>
          <a:xfrm>
            <a:off x="9526922" y="3159932"/>
            <a:ext cx="734496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800">
                <a:latin typeface="+mn-ea"/>
              </a:rPr>
              <a:t>✔</a:t>
            </a:r>
            <a:r>
              <a:rPr lang="en-US" altLang="ko-KR" sz="800">
                <a:latin typeface="+mn-ea"/>
              </a:rPr>
              <a:t>APP</a:t>
            </a:r>
            <a:r>
              <a:rPr lang="ko-KR" altLang="en-US" sz="800">
                <a:latin typeface="+mn-ea"/>
              </a:rPr>
              <a:t>만제공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5B07E2B-B7D4-56E5-5207-C28166E9E2F2}"/>
              </a:ext>
            </a:extLst>
          </p:cNvPr>
          <p:cNvSpPr txBox="1"/>
          <p:nvPr/>
        </p:nvSpPr>
        <p:spPr>
          <a:xfrm>
            <a:off x="9831901" y="1138060"/>
            <a:ext cx="1643646" cy="211203"/>
          </a:xfrm>
          <a:prstGeom prst="rect">
            <a:avLst/>
          </a:prstGeom>
          <a:noFill/>
          <a:ln>
            <a:noFill/>
          </a:ln>
        </p:spPr>
        <p:txBody>
          <a:bodyPr wrap="none" lIns="36000" tIns="36000" rIns="36000" bIns="36000" rtlCol="0" anchor="ctr" anchorCtr="0">
            <a:spAutoFit/>
          </a:bodyPr>
          <a:lstStyle>
            <a:defPPr>
              <a:defRPr lang="ko-KR"/>
            </a:defPPr>
            <a:lvl1pPr>
              <a:defRPr sz="900" b="1" i="1">
                <a:solidFill>
                  <a:srgbClr val="6232B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 i="0">
                <a:latin typeface="+mn-ea"/>
                <a:ea typeface="+mn-ea"/>
              </a:rPr>
              <a:t>https://accounts.hanatour.com</a:t>
            </a:r>
          </a:p>
        </p:txBody>
      </p:sp>
    </p:spTree>
    <p:extLst>
      <p:ext uri="{BB962C8B-B14F-4D97-AF65-F5344CB8AC3E}">
        <p14:creationId xmlns:p14="http://schemas.microsoft.com/office/powerpoint/2010/main" val="8080658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3317C-081E-18FC-DF76-2EFB7024C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12">
            <a:extLst>
              <a:ext uri="{FF2B5EF4-FFF2-40B4-BE49-F238E27FC236}">
                <a16:creationId xmlns:a16="http://schemas.microsoft.com/office/drawing/2014/main" id="{0AB89C3F-CC82-C19F-7055-4EF82D869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6. </a:t>
            </a:r>
            <a:r>
              <a:rPr lang="ko-KR" altLang="en-US" b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프로세스 흐름도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E1B5F3BF-148A-246D-9B6F-CEF02728CC5C}"/>
              </a:ext>
            </a:extLst>
          </p:cNvPr>
          <p:cNvGrpSpPr/>
          <p:nvPr/>
        </p:nvGrpSpPr>
        <p:grpSpPr>
          <a:xfrm>
            <a:off x="366187" y="623347"/>
            <a:ext cx="1227545" cy="400110"/>
            <a:chOff x="250684" y="527628"/>
            <a:chExt cx="1227545" cy="40011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8D6A679-B971-162F-0EEC-8C6477A3F800}"/>
                </a:ext>
              </a:extLst>
            </p:cNvPr>
            <p:cNvSpPr txBox="1"/>
            <p:nvPr/>
          </p:nvSpPr>
          <p:spPr>
            <a:xfrm>
              <a:off x="610684" y="527628"/>
              <a:ext cx="86754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>
                  <a:solidFill>
                    <a:srgbClr val="5E2BB8"/>
                  </a:solidFill>
                  <a:latin typeface="+mj-ea"/>
                  <a:ea typeface="+mj-ea"/>
                </a:rPr>
                <a:t>로그인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5782E86-058F-F853-60F9-D709BBB78993}"/>
                </a:ext>
              </a:extLst>
            </p:cNvPr>
            <p:cNvSpPr/>
            <p:nvPr/>
          </p:nvSpPr>
          <p:spPr>
            <a:xfrm>
              <a:off x="250684" y="565683"/>
              <a:ext cx="324000" cy="324000"/>
            </a:xfrm>
            <a:prstGeom prst="rect">
              <a:avLst/>
            </a:prstGeom>
            <a:solidFill>
              <a:srgbClr val="5E2BB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600">
                  <a:solidFill>
                    <a:srgbClr val="FFFFFF"/>
                  </a:solidFill>
                  <a:latin typeface="+mj-ea"/>
                  <a:ea typeface="+mj-ea"/>
                </a:rPr>
                <a:t>02</a:t>
              </a:r>
              <a:endParaRPr lang="ko-KR" altLang="en-US" sz="1600">
                <a:solidFill>
                  <a:srgbClr val="FFFFFF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8" name="순서도: 판단 7">
            <a:extLst>
              <a:ext uri="{FF2B5EF4-FFF2-40B4-BE49-F238E27FC236}">
                <a16:creationId xmlns:a16="http://schemas.microsoft.com/office/drawing/2014/main" id="{CB647251-7960-930A-890F-43B889640BC0}"/>
              </a:ext>
            </a:extLst>
          </p:cNvPr>
          <p:cNvSpPr/>
          <p:nvPr/>
        </p:nvSpPr>
        <p:spPr>
          <a:xfrm>
            <a:off x="4641489" y="2584868"/>
            <a:ext cx="1188000" cy="612000"/>
          </a:xfrm>
          <a:prstGeom prst="flowChartDecis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여행그자체 Light" panose="020B0303000000000000" pitchFamily="50" charset="-127"/>
                <a:ea typeface="여행그자체 Light" panose="020B0303000000000000" pitchFamily="50" charset="-127"/>
              </a:rPr>
              <a:t>ID/W</a:t>
            </a:r>
          </a:p>
          <a:p>
            <a:pPr algn="ctr"/>
            <a:r>
              <a:rPr lang="en-US" altLang="ko-KR" sz="900">
                <a:solidFill>
                  <a:schemeClr val="tx1"/>
                </a:solidFill>
                <a:latin typeface="여행그자체 Light" panose="020B0303000000000000" pitchFamily="50" charset="-127"/>
                <a:ea typeface="여행그자체 Light" panose="020B0303000000000000" pitchFamily="50" charset="-127"/>
              </a:rPr>
              <a:t>5</a:t>
            </a:r>
            <a:r>
              <a:rPr lang="ko-KR" altLang="en-US" sz="900">
                <a:solidFill>
                  <a:schemeClr val="tx1"/>
                </a:solidFill>
                <a:latin typeface="여행그자체 Light" panose="020B0303000000000000" pitchFamily="50" charset="-127"/>
                <a:ea typeface="여행그자체 Light" panose="020B0303000000000000" pitchFamily="50" charset="-127"/>
              </a:rPr>
              <a:t>회 이상 오류</a:t>
            </a:r>
            <a:endParaRPr lang="en-US" altLang="ko-KR" sz="900">
              <a:solidFill>
                <a:schemeClr val="tx1"/>
              </a:solidFill>
              <a:latin typeface="여행그자체 Light" panose="020B0303000000000000" pitchFamily="50" charset="-127"/>
              <a:ea typeface="여행그자체 Light" panose="020B0303000000000000" pitchFamily="50" charset="-127"/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E58DB83F-4D82-0977-200B-EBEB8D6F0500}"/>
              </a:ext>
            </a:extLst>
          </p:cNvPr>
          <p:cNvCxnSpPr>
            <a:cxnSpLocks/>
            <a:stCxn id="71" idx="2"/>
            <a:endCxn id="8" idx="0"/>
          </p:cNvCxnSpPr>
          <p:nvPr/>
        </p:nvCxnSpPr>
        <p:spPr>
          <a:xfrm flipH="1">
            <a:off x="5235489" y="2093231"/>
            <a:ext cx="11521" cy="491637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B4461D2-401F-B077-E147-48C20FF0E749}"/>
              </a:ext>
            </a:extLst>
          </p:cNvPr>
          <p:cNvSpPr/>
          <p:nvPr/>
        </p:nvSpPr>
        <p:spPr>
          <a:xfrm>
            <a:off x="3390809" y="3430045"/>
            <a:ext cx="1044000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>
                <a:solidFill>
                  <a:sysClr val="windowText" lastClr="000000"/>
                </a:solidFill>
                <a:latin typeface="여행그자체 Light" panose="020B0303000000000000" pitchFamily="50" charset="-127"/>
                <a:ea typeface="여행그자체 Light" panose="020B0303000000000000" pitchFamily="50" charset="-127"/>
              </a:rPr>
              <a:t>로그인오류</a:t>
            </a:r>
            <a:endParaRPr lang="en-US" altLang="ko-KR" sz="900">
              <a:solidFill>
                <a:sysClr val="windowText" lastClr="000000"/>
              </a:solidFill>
              <a:latin typeface="여행그자체 Light" panose="020B0303000000000000" pitchFamily="50" charset="-127"/>
              <a:ea typeface="여행그자체 Light" panose="020B0303000000000000" pitchFamily="50" charset="-127"/>
            </a:endParaRPr>
          </a:p>
          <a:p>
            <a:pPr algn="ctr"/>
            <a:r>
              <a:rPr lang="ko-KR" altLang="en-US" sz="900">
                <a:solidFill>
                  <a:sysClr val="windowText" lastClr="000000"/>
                </a:solidFill>
                <a:latin typeface="여행그자체 Light" panose="020B0303000000000000" pitchFamily="50" charset="-127"/>
                <a:ea typeface="여행그자체 Light" panose="020B0303000000000000" pitchFamily="50" charset="-127"/>
              </a:rPr>
              <a:t>안내 알럿</a:t>
            </a:r>
            <a:endParaRPr lang="en-US" altLang="ko-KR" sz="900">
              <a:solidFill>
                <a:sysClr val="windowText" lastClr="000000"/>
              </a:solidFill>
              <a:latin typeface="여행그자체 Light" panose="020B0303000000000000" pitchFamily="50" charset="-127"/>
              <a:ea typeface="여행그자체 Light" panose="020B0303000000000000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B97E0C81-61A6-9737-0D46-D0FF8A0CEFFB}"/>
              </a:ext>
            </a:extLst>
          </p:cNvPr>
          <p:cNvSpPr/>
          <p:nvPr/>
        </p:nvSpPr>
        <p:spPr>
          <a:xfrm>
            <a:off x="5990998" y="3430045"/>
            <a:ext cx="1044000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  <a:latin typeface="+mn-ea"/>
              </a:rPr>
              <a:t>로그인 </a:t>
            </a:r>
            <a:r>
              <a:rPr lang="en-US" altLang="ko-KR" sz="900">
                <a:solidFill>
                  <a:schemeClr val="tx1"/>
                </a:solidFill>
                <a:latin typeface="+mn-ea"/>
              </a:rPr>
              <a:t>5</a:t>
            </a:r>
            <a:r>
              <a:rPr lang="ko-KR" altLang="en-US" sz="900">
                <a:solidFill>
                  <a:schemeClr val="tx1"/>
                </a:solidFill>
                <a:latin typeface="+mn-ea"/>
              </a:rPr>
              <a:t>회 오류 </a:t>
            </a:r>
            <a:endParaRPr lang="en-US" altLang="ko-KR" sz="90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900">
                <a:solidFill>
                  <a:schemeClr val="tx1"/>
                </a:solidFill>
                <a:latin typeface="+mn-ea"/>
              </a:rPr>
              <a:t>안내 알럿</a:t>
            </a:r>
            <a:endParaRPr lang="en-US" altLang="ko-KR" sz="90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545ABF8B-B1D2-4753-0E4C-249C986D1A8B}"/>
              </a:ext>
            </a:extLst>
          </p:cNvPr>
          <p:cNvCxnSpPr>
            <a:cxnSpLocks/>
            <a:stCxn id="8" idx="3"/>
            <a:endCxn id="20" idx="0"/>
          </p:cNvCxnSpPr>
          <p:nvPr/>
        </p:nvCxnSpPr>
        <p:spPr>
          <a:xfrm>
            <a:off x="5829489" y="2890868"/>
            <a:ext cx="683509" cy="539177"/>
          </a:xfrm>
          <a:prstGeom prst="bentConnector2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0805A3B1-D74F-56F2-303F-BB880D188CAE}"/>
              </a:ext>
            </a:extLst>
          </p:cNvPr>
          <p:cNvCxnSpPr>
            <a:cxnSpLocks/>
            <a:stCxn id="8" idx="1"/>
            <a:endCxn id="19" idx="0"/>
          </p:cNvCxnSpPr>
          <p:nvPr/>
        </p:nvCxnSpPr>
        <p:spPr>
          <a:xfrm rot="10800000" flipV="1">
            <a:off x="3912809" y="2890867"/>
            <a:ext cx="728680" cy="539177"/>
          </a:xfrm>
          <a:prstGeom prst="bentConnector2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1C93381-5A32-C5DB-BC78-ABB904A5110F}"/>
              </a:ext>
            </a:extLst>
          </p:cNvPr>
          <p:cNvSpPr txBox="1"/>
          <p:nvPr/>
        </p:nvSpPr>
        <p:spPr>
          <a:xfrm>
            <a:off x="5898832" y="2692016"/>
            <a:ext cx="370614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00">
                <a:highlight>
                  <a:srgbClr val="FFFFFF"/>
                </a:highlight>
                <a:latin typeface="+mn-ea"/>
              </a:rPr>
              <a:t>YES</a:t>
            </a:r>
            <a:endParaRPr lang="ko-KR" altLang="en-US" sz="800">
              <a:highlight>
                <a:srgbClr val="FFFFFF"/>
              </a:highlight>
              <a:latin typeface="+mn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D6C46EE-A472-C8CE-CC5B-726359ED577A}"/>
              </a:ext>
            </a:extLst>
          </p:cNvPr>
          <p:cNvSpPr txBox="1"/>
          <p:nvPr/>
        </p:nvSpPr>
        <p:spPr>
          <a:xfrm>
            <a:off x="4225047" y="2716922"/>
            <a:ext cx="327334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00">
                <a:highlight>
                  <a:srgbClr val="FFFFFF"/>
                </a:highlight>
                <a:latin typeface="+mn-ea"/>
              </a:rPr>
              <a:t>NO</a:t>
            </a:r>
            <a:endParaRPr lang="ko-KR" altLang="en-US" sz="800">
              <a:highlight>
                <a:srgbClr val="FFFFFF"/>
              </a:highlight>
              <a:latin typeface="+mn-ea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6D55F402-F053-DA55-DF83-6767E6BB0A42}"/>
              </a:ext>
            </a:extLst>
          </p:cNvPr>
          <p:cNvSpPr/>
          <p:nvPr/>
        </p:nvSpPr>
        <p:spPr>
          <a:xfrm>
            <a:off x="726187" y="1559870"/>
            <a:ext cx="1044000" cy="432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</a:rPr>
              <a:t>로그인</a:t>
            </a:r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505D69A9-3F5D-6C6D-6C06-A6A2BB1118E5}"/>
              </a:ext>
            </a:extLst>
          </p:cNvPr>
          <p:cNvCxnSpPr>
            <a:cxnSpLocks/>
            <a:stCxn id="31" idx="3"/>
            <a:endCxn id="2" idx="1"/>
          </p:cNvCxnSpPr>
          <p:nvPr/>
        </p:nvCxnSpPr>
        <p:spPr>
          <a:xfrm flipV="1">
            <a:off x="1770187" y="1773840"/>
            <a:ext cx="912611" cy="203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순서도: 판단 70">
            <a:extLst>
              <a:ext uri="{FF2B5EF4-FFF2-40B4-BE49-F238E27FC236}">
                <a16:creationId xmlns:a16="http://schemas.microsoft.com/office/drawing/2014/main" id="{37361DA6-8287-8C9D-3D33-FFF25A1E9929}"/>
              </a:ext>
            </a:extLst>
          </p:cNvPr>
          <p:cNvSpPr/>
          <p:nvPr/>
        </p:nvSpPr>
        <p:spPr>
          <a:xfrm>
            <a:off x="4653010" y="1481231"/>
            <a:ext cx="1188000" cy="612000"/>
          </a:xfrm>
          <a:prstGeom prst="flowChartDecis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여행그자체 Light" panose="020B0303000000000000" pitchFamily="50" charset="-127"/>
                <a:ea typeface="여행그자체 Light" panose="020B0303000000000000" pitchFamily="50" charset="-127"/>
              </a:rPr>
              <a:t>ID/PW </a:t>
            </a:r>
          </a:p>
          <a:p>
            <a:pPr algn="ctr"/>
            <a:r>
              <a:rPr lang="ko-KR" altLang="en-US" sz="900">
                <a:solidFill>
                  <a:schemeClr val="tx1"/>
                </a:solidFill>
                <a:latin typeface="여행그자체 Light" panose="020B0303000000000000" pitchFamily="50" charset="-127"/>
                <a:ea typeface="여행그자체 Light" panose="020B0303000000000000" pitchFamily="50" charset="-127"/>
              </a:rPr>
              <a:t>검증 </a:t>
            </a:r>
            <a:endParaRPr lang="en-US" altLang="ko-KR" sz="900">
              <a:solidFill>
                <a:schemeClr val="tx1"/>
              </a:solidFill>
              <a:latin typeface="여행그자체 Light" panose="020B0303000000000000" pitchFamily="50" charset="-127"/>
              <a:ea typeface="여행그자체 Light" panose="020B0303000000000000" pitchFamily="50" charset="-127"/>
            </a:endParaRPr>
          </a:p>
        </p:txBody>
      </p: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6C25BDA2-E37B-22C8-669F-C70A44F1F463}"/>
              </a:ext>
            </a:extLst>
          </p:cNvPr>
          <p:cNvCxnSpPr>
            <a:cxnSpLocks/>
            <a:stCxn id="2" idx="3"/>
            <a:endCxn id="71" idx="1"/>
          </p:cNvCxnSpPr>
          <p:nvPr/>
        </p:nvCxnSpPr>
        <p:spPr>
          <a:xfrm>
            <a:off x="3726798" y="1773840"/>
            <a:ext cx="926212" cy="1339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F3B7215-040B-90A7-AE40-8314E0DBF73C}"/>
              </a:ext>
            </a:extLst>
          </p:cNvPr>
          <p:cNvSpPr txBox="1"/>
          <p:nvPr/>
        </p:nvSpPr>
        <p:spPr>
          <a:xfrm>
            <a:off x="5197670" y="2141392"/>
            <a:ext cx="463588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800">
                <a:highlight>
                  <a:srgbClr val="FFFFFF"/>
                </a:highlight>
              </a:rPr>
              <a:t>불일치</a:t>
            </a:r>
          </a:p>
        </p:txBody>
      </p:sp>
      <p:sp>
        <p:nvSpPr>
          <p:cNvPr id="50" name="순서도: 판단 49">
            <a:extLst>
              <a:ext uri="{FF2B5EF4-FFF2-40B4-BE49-F238E27FC236}">
                <a16:creationId xmlns:a16="http://schemas.microsoft.com/office/drawing/2014/main" id="{85F1A90F-16D2-B00D-3098-3D10C5247A22}"/>
              </a:ext>
            </a:extLst>
          </p:cNvPr>
          <p:cNvSpPr/>
          <p:nvPr/>
        </p:nvSpPr>
        <p:spPr>
          <a:xfrm>
            <a:off x="6914348" y="1481231"/>
            <a:ext cx="1188000" cy="612000"/>
          </a:xfrm>
          <a:prstGeom prst="flowChartDecis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  <a:latin typeface="여행그자체 Light" panose="020B0303000000000000" pitchFamily="50" charset="-127"/>
                <a:ea typeface="여행그자체 Light" panose="020B0303000000000000" pitchFamily="50" charset="-127"/>
              </a:rPr>
              <a:t>비밀번호 </a:t>
            </a:r>
            <a:endParaRPr lang="en-US" altLang="ko-KR" sz="900">
              <a:solidFill>
                <a:schemeClr val="tx1"/>
              </a:solidFill>
              <a:latin typeface="여행그자체 Light" panose="020B0303000000000000" pitchFamily="50" charset="-127"/>
              <a:ea typeface="여행그자체 Light" panose="020B0303000000000000" pitchFamily="50" charset="-127"/>
            </a:endParaRPr>
          </a:p>
          <a:p>
            <a:pPr algn="ctr"/>
            <a:r>
              <a:rPr lang="ko-KR" altLang="en-US" sz="900">
                <a:solidFill>
                  <a:schemeClr val="tx1"/>
                </a:solidFill>
                <a:latin typeface="여행그자체 Light" panose="020B0303000000000000" pitchFamily="50" charset="-127"/>
                <a:ea typeface="여행그자체 Light" panose="020B0303000000000000" pitchFamily="50" charset="-127"/>
              </a:rPr>
              <a:t>갱신대상</a:t>
            </a:r>
            <a:endParaRPr lang="en-US" altLang="ko-KR" sz="900">
              <a:solidFill>
                <a:schemeClr val="tx1"/>
              </a:solidFill>
              <a:latin typeface="여행그자체 Light" panose="020B0303000000000000" pitchFamily="50" charset="-127"/>
              <a:ea typeface="여행그자체 Light" panose="020B0303000000000000" pitchFamily="50" charset="-127"/>
            </a:endParaRP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DAD4EBF2-3150-5803-0774-338C0B8E3CCE}"/>
              </a:ext>
            </a:extLst>
          </p:cNvPr>
          <p:cNvCxnSpPr>
            <a:cxnSpLocks/>
            <a:stCxn id="71" idx="3"/>
          </p:cNvCxnSpPr>
          <p:nvPr/>
        </p:nvCxnSpPr>
        <p:spPr>
          <a:xfrm>
            <a:off x="5841010" y="1787231"/>
            <a:ext cx="1080000" cy="501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8B2B206B-CEDF-D509-19FC-BD456067A89C}"/>
              </a:ext>
            </a:extLst>
          </p:cNvPr>
          <p:cNvSpPr/>
          <p:nvPr/>
        </p:nvSpPr>
        <p:spPr>
          <a:xfrm>
            <a:off x="9248374" y="1576242"/>
            <a:ext cx="1044000" cy="432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</a:rPr>
              <a:t>로그인성공</a:t>
            </a:r>
          </a:p>
        </p:txBody>
      </p: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51712843-81B3-59D0-8243-A4740AE38EC4}"/>
              </a:ext>
            </a:extLst>
          </p:cNvPr>
          <p:cNvCxnSpPr>
            <a:cxnSpLocks/>
            <a:stCxn id="50" idx="3"/>
            <a:endCxn id="57" idx="1"/>
          </p:cNvCxnSpPr>
          <p:nvPr/>
        </p:nvCxnSpPr>
        <p:spPr>
          <a:xfrm>
            <a:off x="8102348" y="1787231"/>
            <a:ext cx="1146026" cy="501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8B6814CD-770F-6900-8595-AC254B86CB63}"/>
              </a:ext>
            </a:extLst>
          </p:cNvPr>
          <p:cNvSpPr/>
          <p:nvPr/>
        </p:nvSpPr>
        <p:spPr>
          <a:xfrm>
            <a:off x="8159711" y="2663072"/>
            <a:ext cx="1044000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>
                <a:solidFill>
                  <a:sysClr val="windowText" lastClr="000000"/>
                </a:solidFill>
                <a:latin typeface="여행그자체 Light" panose="020B0303000000000000" pitchFamily="50" charset="-127"/>
                <a:ea typeface="여행그자체 Light" panose="020B0303000000000000" pitchFamily="50" charset="-127"/>
              </a:rPr>
              <a:t>비밀번호 </a:t>
            </a:r>
            <a:endParaRPr lang="en-US" altLang="ko-KR" sz="900">
              <a:solidFill>
                <a:sysClr val="windowText" lastClr="000000"/>
              </a:solidFill>
              <a:latin typeface="여행그자체 Light" panose="020B0303000000000000" pitchFamily="50" charset="-127"/>
              <a:ea typeface="여행그자체 Light" panose="020B0303000000000000" pitchFamily="50" charset="-127"/>
            </a:endParaRPr>
          </a:p>
          <a:p>
            <a:pPr algn="ctr"/>
            <a:r>
              <a:rPr lang="en-US" altLang="ko-KR" sz="900">
                <a:solidFill>
                  <a:sysClr val="windowText" lastClr="000000"/>
                </a:solidFill>
                <a:latin typeface="여행그자체 Light" panose="020B0303000000000000" pitchFamily="50" charset="-127"/>
                <a:ea typeface="여행그자체 Light" panose="020B0303000000000000" pitchFamily="50" charset="-127"/>
              </a:rPr>
              <a:t> </a:t>
            </a:r>
            <a:r>
              <a:rPr lang="ko-KR" altLang="en-US" sz="900">
                <a:solidFill>
                  <a:sysClr val="windowText" lastClr="000000"/>
                </a:solidFill>
                <a:latin typeface="여행그자체 Light" panose="020B0303000000000000" pitchFamily="50" charset="-127"/>
                <a:ea typeface="여행그자체 Light" panose="020B0303000000000000" pitchFamily="50" charset="-127"/>
              </a:rPr>
              <a:t>변경 팝업</a:t>
            </a:r>
            <a:endParaRPr lang="en-US" altLang="ko-KR" sz="900">
              <a:solidFill>
                <a:sysClr val="windowText" lastClr="000000"/>
              </a:solidFill>
              <a:latin typeface="여행그자체 Light" panose="020B0303000000000000" pitchFamily="50" charset="-127"/>
              <a:ea typeface="여행그자체 Light" panose="020B0303000000000000" pitchFamily="50" charset="-127"/>
            </a:endParaRPr>
          </a:p>
        </p:txBody>
      </p:sp>
      <p:cxnSp>
        <p:nvCxnSpPr>
          <p:cNvPr id="69" name="연결선: 꺾임 68">
            <a:extLst>
              <a:ext uri="{FF2B5EF4-FFF2-40B4-BE49-F238E27FC236}">
                <a16:creationId xmlns:a16="http://schemas.microsoft.com/office/drawing/2014/main" id="{B47C286E-728B-9291-1185-06E976C27682}"/>
              </a:ext>
            </a:extLst>
          </p:cNvPr>
          <p:cNvCxnSpPr>
            <a:cxnSpLocks/>
          </p:cNvCxnSpPr>
          <p:nvPr/>
        </p:nvCxnSpPr>
        <p:spPr>
          <a:xfrm flipV="1">
            <a:off x="9188735" y="1991870"/>
            <a:ext cx="566663" cy="870830"/>
          </a:xfrm>
          <a:prstGeom prst="bentConnector2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C99F61F8-9FBA-2FBB-6004-702C8F91B22B}"/>
              </a:ext>
            </a:extLst>
          </p:cNvPr>
          <p:cNvSpPr txBox="1"/>
          <p:nvPr/>
        </p:nvSpPr>
        <p:spPr>
          <a:xfrm>
            <a:off x="8164158" y="1571787"/>
            <a:ext cx="320922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00">
                <a:highlight>
                  <a:srgbClr val="FFFFFF"/>
                </a:highlight>
              </a:rPr>
              <a:t>NO</a:t>
            </a:r>
            <a:endParaRPr lang="ko-KR" altLang="en-US" sz="800">
              <a:highlight>
                <a:srgbClr val="FFFFFF"/>
              </a:highlight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BC37A17-CCCE-49B9-9779-215CF9DB627E}"/>
              </a:ext>
            </a:extLst>
          </p:cNvPr>
          <p:cNvSpPr txBox="1"/>
          <p:nvPr/>
        </p:nvSpPr>
        <p:spPr>
          <a:xfrm>
            <a:off x="5896587" y="1585597"/>
            <a:ext cx="372218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800">
                <a:highlight>
                  <a:srgbClr val="FFFFFF"/>
                </a:highlight>
              </a:rPr>
              <a:t>일치</a:t>
            </a:r>
          </a:p>
        </p:txBody>
      </p:sp>
      <p:cxnSp>
        <p:nvCxnSpPr>
          <p:cNvPr id="82" name="연결선: 꺾임 81">
            <a:extLst>
              <a:ext uri="{FF2B5EF4-FFF2-40B4-BE49-F238E27FC236}">
                <a16:creationId xmlns:a16="http://schemas.microsoft.com/office/drawing/2014/main" id="{8741D376-B927-6A4B-C5A9-2716B2746AA1}"/>
              </a:ext>
            </a:extLst>
          </p:cNvPr>
          <p:cNvCxnSpPr>
            <a:cxnSpLocks/>
            <a:stCxn id="50" idx="2"/>
            <a:endCxn id="62" idx="1"/>
          </p:cNvCxnSpPr>
          <p:nvPr/>
        </p:nvCxnSpPr>
        <p:spPr>
          <a:xfrm rot="16200000" flipH="1">
            <a:off x="7441109" y="2160469"/>
            <a:ext cx="785841" cy="651363"/>
          </a:xfrm>
          <a:prstGeom prst="bentConnector2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27F3F77C-780B-370B-FF95-D4D82351E5DE}"/>
              </a:ext>
            </a:extLst>
          </p:cNvPr>
          <p:cNvSpPr txBox="1"/>
          <p:nvPr/>
        </p:nvSpPr>
        <p:spPr>
          <a:xfrm>
            <a:off x="7478723" y="2141392"/>
            <a:ext cx="364202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00">
                <a:highlight>
                  <a:srgbClr val="FFFFFF"/>
                </a:highlight>
              </a:rPr>
              <a:t>YES</a:t>
            </a:r>
            <a:endParaRPr lang="ko-KR" altLang="en-US" sz="800">
              <a:highlight>
                <a:srgbClr val="FFFFFF"/>
              </a:highlight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A0317553-C8AC-996A-B058-2716EE50298E}"/>
              </a:ext>
            </a:extLst>
          </p:cNvPr>
          <p:cNvSpPr txBox="1"/>
          <p:nvPr/>
        </p:nvSpPr>
        <p:spPr>
          <a:xfrm>
            <a:off x="690187" y="985402"/>
            <a:ext cx="5708170" cy="296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latin typeface="+mn-ea"/>
              </a:rPr>
              <a:t>하나투어</a:t>
            </a:r>
            <a:r>
              <a:rPr lang="en-US" altLang="ko-KR" sz="1000">
                <a:latin typeface="+mn-ea"/>
              </a:rPr>
              <a:t> ID(</a:t>
            </a:r>
            <a:r>
              <a:rPr lang="ko-KR" altLang="en-US" sz="1000">
                <a:latin typeface="+mn-ea"/>
              </a:rPr>
              <a:t>이메일계정</a:t>
            </a:r>
            <a:r>
              <a:rPr lang="en-US" altLang="ko-KR" sz="1000">
                <a:latin typeface="+mn-ea"/>
              </a:rPr>
              <a:t>)</a:t>
            </a:r>
            <a:r>
              <a:rPr lang="ko-KR" altLang="en-US" sz="1000">
                <a:latin typeface="+mn-ea"/>
              </a:rPr>
              <a:t>로 로그인</a:t>
            </a:r>
            <a:endParaRPr lang="en-US" altLang="ko-KR" sz="1000">
              <a:latin typeface="+mn-ea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7DA95B4D-68C4-F3AD-0D97-7E10D49096A6}"/>
              </a:ext>
            </a:extLst>
          </p:cNvPr>
          <p:cNvSpPr/>
          <p:nvPr/>
        </p:nvSpPr>
        <p:spPr>
          <a:xfrm>
            <a:off x="2682798" y="1557840"/>
            <a:ext cx="1044000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ysClr val="windowText" lastClr="000000"/>
                </a:solidFill>
                <a:latin typeface="여행그자체 Light" panose="020B0303000000000000" pitchFamily="50" charset="-127"/>
                <a:ea typeface="여행그자체 Light" panose="020B0303000000000000" pitchFamily="50" charset="-127"/>
              </a:rPr>
              <a:t>ID/PW</a:t>
            </a:r>
          </a:p>
          <a:p>
            <a:pPr algn="ctr"/>
            <a:r>
              <a:rPr lang="ko-KR" altLang="en-US" sz="900">
                <a:solidFill>
                  <a:sysClr val="windowText" lastClr="000000"/>
                </a:solidFill>
                <a:latin typeface="여행그자체 Light" panose="020B0303000000000000" pitchFamily="50" charset="-127"/>
                <a:ea typeface="여행그자체 Light" panose="020B0303000000000000" pitchFamily="50" charset="-127"/>
              </a:rPr>
              <a:t>입력</a:t>
            </a:r>
            <a:endParaRPr lang="en-US" altLang="ko-KR" sz="900">
              <a:solidFill>
                <a:sysClr val="windowText" lastClr="000000"/>
              </a:solidFill>
              <a:latin typeface="여행그자체 Light" panose="020B0303000000000000" pitchFamily="50" charset="-127"/>
              <a:ea typeface="여행그자체 Light" panose="020B0303000000000000" pitchFamily="50" charset="-127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F0AD6BC7-5F01-3527-9545-D39168EDA6D7}"/>
              </a:ext>
            </a:extLst>
          </p:cNvPr>
          <p:cNvSpPr/>
          <p:nvPr/>
        </p:nvSpPr>
        <p:spPr>
          <a:xfrm>
            <a:off x="7094531" y="1533882"/>
            <a:ext cx="180000" cy="180000"/>
          </a:xfrm>
          <a:prstGeom prst="ellipse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/>
              <a:t>1</a:t>
            </a:r>
            <a:endParaRPr lang="ko-KR" altLang="en-US" sz="700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E96D7B-3BD3-8341-A827-B3477061AC0E}"/>
              </a:ext>
            </a:extLst>
          </p:cNvPr>
          <p:cNvSpPr txBox="1"/>
          <p:nvPr/>
        </p:nvSpPr>
        <p:spPr>
          <a:xfrm>
            <a:off x="861737" y="5872598"/>
            <a:ext cx="3717014" cy="21544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sz="800">
                <a:solidFill>
                  <a:schemeClr val="tx1"/>
                </a:solidFill>
                <a:highlight>
                  <a:srgbClr val="EDF1F5"/>
                </a:highlight>
                <a:latin typeface="여행그자체 Light" panose="020B0303000000000000" pitchFamily="50" charset="-127"/>
                <a:ea typeface="여행그자체 Light" panose="020B0303000000000000" pitchFamily="50" charset="-127"/>
              </a:rPr>
              <a:t>[</a:t>
            </a:r>
            <a:r>
              <a:rPr lang="ko-KR" altLang="en-US" sz="800">
                <a:solidFill>
                  <a:schemeClr val="tx1"/>
                </a:solidFill>
                <a:highlight>
                  <a:srgbClr val="EDF1F5"/>
                </a:highlight>
                <a:latin typeface="여행그자체 Light" panose="020B0303000000000000" pitchFamily="50" charset="-127"/>
                <a:ea typeface="여행그자체 Light" panose="020B0303000000000000" pitchFamily="50" charset="-127"/>
              </a:rPr>
              <a:t>비밀번호 갱신대상</a:t>
            </a:r>
            <a:r>
              <a:rPr lang="en-US" altLang="ko-KR" sz="800">
                <a:solidFill>
                  <a:schemeClr val="tx1"/>
                </a:solidFill>
                <a:highlight>
                  <a:srgbClr val="EDF1F5"/>
                </a:highlight>
                <a:latin typeface="여행그자체 Light" panose="020B0303000000000000" pitchFamily="50" charset="-127"/>
                <a:ea typeface="여행그자체 Light" panose="020B0303000000000000" pitchFamily="50" charset="-127"/>
              </a:rPr>
              <a:t>] :</a:t>
            </a:r>
            <a:r>
              <a:rPr lang="en-US" altLang="ko-KR" sz="800">
                <a:solidFill>
                  <a:schemeClr val="tx1"/>
                </a:solidFill>
                <a:latin typeface="여행그자체 Light" panose="020B0303000000000000" pitchFamily="50" charset="-127"/>
                <a:ea typeface="여행그자체 Light" panose="020B0303000000000000" pitchFamily="50" charset="-127"/>
              </a:rPr>
              <a:t> 1) </a:t>
            </a:r>
            <a:r>
              <a:rPr lang="ko-KR" altLang="en-US" sz="800">
                <a:solidFill>
                  <a:schemeClr val="tx1"/>
                </a:solidFill>
                <a:latin typeface="여행그자체 Light" panose="020B0303000000000000" pitchFamily="50" charset="-127"/>
                <a:ea typeface="여행그자체 Light" panose="020B0303000000000000" pitchFamily="50" charset="-127"/>
              </a:rPr>
              <a:t>비밀번호 변경 </a:t>
            </a:r>
            <a:r>
              <a:rPr lang="en-US" altLang="ko-KR" sz="800">
                <a:solidFill>
                  <a:schemeClr val="tx1"/>
                </a:solidFill>
                <a:latin typeface="여행그자체 Light" panose="020B0303000000000000" pitchFamily="50" charset="-127"/>
                <a:ea typeface="여행그자체 Light" panose="020B0303000000000000" pitchFamily="50" charset="-127"/>
              </a:rPr>
              <a:t>90</a:t>
            </a:r>
            <a:r>
              <a:rPr lang="ko-KR" altLang="en-US" sz="800">
                <a:solidFill>
                  <a:schemeClr val="tx1"/>
                </a:solidFill>
                <a:latin typeface="여행그자체 Light" panose="020B0303000000000000" pitchFamily="50" charset="-127"/>
                <a:ea typeface="여행그자체 Light" panose="020B0303000000000000" pitchFamily="50" charset="-127"/>
              </a:rPr>
              <a:t>일 초과 </a:t>
            </a:r>
            <a:r>
              <a:rPr lang="en-US" altLang="ko-KR" sz="800">
                <a:solidFill>
                  <a:schemeClr val="tx1"/>
                </a:solidFill>
                <a:latin typeface="여행그자체 Light" panose="020B0303000000000000" pitchFamily="50" charset="-127"/>
                <a:ea typeface="여행그자체 Light" panose="020B0303000000000000" pitchFamily="50" charset="-127"/>
              </a:rPr>
              <a:t>, 2) </a:t>
            </a:r>
            <a:r>
              <a:rPr lang="ko-KR" altLang="en-US" sz="800">
                <a:latin typeface="여행그자체 Light" panose="020B0303000000000000" pitchFamily="50" charset="-127"/>
                <a:ea typeface="여행그자체 Light" panose="020B0303000000000000" pitchFamily="50" charset="-127"/>
              </a:rPr>
              <a:t>임</a:t>
            </a:r>
            <a:r>
              <a:rPr lang="ko-KR" altLang="en-US" sz="800">
                <a:solidFill>
                  <a:schemeClr val="tx1"/>
                </a:solidFill>
                <a:latin typeface="여행그자체 Light" panose="020B0303000000000000" pitchFamily="50" charset="-127"/>
                <a:ea typeface="여행그자체 Light" panose="020B0303000000000000" pitchFamily="50" charset="-127"/>
              </a:rPr>
              <a:t>시 비밀번호 로그인</a:t>
            </a:r>
            <a:endParaRPr lang="en-US" altLang="ko-KR" sz="800">
              <a:solidFill>
                <a:schemeClr val="tx1"/>
              </a:solidFill>
              <a:latin typeface="여행그자체 Light" panose="020B0303000000000000" pitchFamily="50" charset="-127"/>
              <a:ea typeface="여행그자체 Light" panose="020B0303000000000000" pitchFamily="50" charset="-127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E312017D-B16F-2261-3D88-49F2A4C4EC36}"/>
              </a:ext>
            </a:extLst>
          </p:cNvPr>
          <p:cNvSpPr/>
          <p:nvPr/>
        </p:nvSpPr>
        <p:spPr>
          <a:xfrm>
            <a:off x="726187" y="5878948"/>
            <a:ext cx="180000" cy="1800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/>
              <a:t>1</a:t>
            </a:r>
            <a:endParaRPr lang="ko-KR" altLang="en-US" sz="700" b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C570A3-4D97-F206-8F35-2FE9C82E2DD2}"/>
              </a:ext>
            </a:extLst>
          </p:cNvPr>
          <p:cNvSpPr txBox="1"/>
          <p:nvPr/>
        </p:nvSpPr>
        <p:spPr>
          <a:xfrm>
            <a:off x="3295520" y="3844169"/>
            <a:ext cx="2020724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sz="700">
                <a:solidFill>
                  <a:schemeClr val="bg1"/>
                </a:solidFill>
                <a:highlight>
                  <a:srgbClr val="708A96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[ALERT]</a:t>
            </a:r>
            <a:endParaRPr lang="en-US" altLang="ko-KR" sz="700">
              <a:highlight>
                <a:srgbClr val="708A96"/>
              </a:highlight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700">
                <a:highlight>
                  <a:srgbClr val="FFFFFF"/>
                </a:highlight>
                <a:latin typeface="여행그자체 Light" panose="020B0303000000000000" pitchFamily="50" charset="-127"/>
                <a:ea typeface="여행그자체 Light" panose="020B0303000000000000" pitchFamily="50" charset="-127"/>
              </a:rPr>
              <a:t>아이디 또는 비밀번호를 다시 확인해 주세요</a:t>
            </a:r>
          </a:p>
          <a:p>
            <a:r>
              <a:rPr lang="ko-KR" altLang="en-US" sz="700">
                <a:highlight>
                  <a:srgbClr val="FFFFFF"/>
                </a:highlight>
                <a:latin typeface="여행그자체 Light" panose="020B0303000000000000" pitchFamily="50" charset="-127"/>
                <a:ea typeface="여행그자체 Light" panose="020B0303000000000000" pitchFamily="50" charset="-127"/>
              </a:rPr>
              <a:t>하나투어에 가입되지 않은 아이디거나</a:t>
            </a:r>
          </a:p>
          <a:p>
            <a:r>
              <a:rPr lang="ko-KR" altLang="en-US" sz="700">
                <a:highlight>
                  <a:srgbClr val="FFFFFF"/>
                </a:highlight>
                <a:latin typeface="여행그자체 Light" panose="020B0303000000000000" pitchFamily="50" charset="-127"/>
                <a:ea typeface="여행그자체 Light" panose="020B0303000000000000" pitchFamily="50" charset="-127"/>
              </a:rPr>
              <a:t>아이디 또는 비밀번호를 잘못 입력했습니다</a:t>
            </a:r>
            <a:r>
              <a:rPr lang="en-US" altLang="ko-KR" sz="700">
                <a:highlight>
                  <a:srgbClr val="FFFFFF"/>
                </a:highlight>
                <a:latin typeface="여행그자체 Light" panose="020B0303000000000000" pitchFamily="50" charset="-127"/>
                <a:ea typeface="여행그자체 Light" panose="020B0303000000000000" pitchFamily="50" charset="-127"/>
              </a:rPr>
              <a:t>.</a:t>
            </a:r>
            <a:endParaRPr lang="en-US" altLang="ko-KR" sz="700" dirty="0">
              <a:highlight>
                <a:srgbClr val="FFFFFF"/>
              </a:highlight>
              <a:latin typeface="여행그자체 Light" panose="020B0303000000000000" pitchFamily="50" charset="-127"/>
              <a:ea typeface="여행그자체 Light" panose="020B0303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37B558-89A4-2C06-58F0-F140DA7DF79B}"/>
              </a:ext>
            </a:extLst>
          </p:cNvPr>
          <p:cNvSpPr txBox="1"/>
          <p:nvPr/>
        </p:nvSpPr>
        <p:spPr>
          <a:xfrm>
            <a:off x="7028617" y="3401434"/>
            <a:ext cx="1562570" cy="41549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sz="700">
                <a:solidFill>
                  <a:schemeClr val="bg1"/>
                </a:solidFill>
                <a:highlight>
                  <a:srgbClr val="708A96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[ALERT]</a:t>
            </a:r>
            <a:endParaRPr lang="en-US" altLang="ko-KR" sz="700">
              <a:highlight>
                <a:srgbClr val="708A96"/>
              </a:highlight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700">
                <a:highlight>
                  <a:srgbClr val="FFFFFF"/>
                </a:highlight>
                <a:latin typeface="여행그자체 Light" panose="020B0303000000000000" pitchFamily="50" charset="-127"/>
                <a:ea typeface="여행그자체 Light" panose="020B0303000000000000" pitchFamily="50" charset="-127"/>
              </a:rPr>
              <a:t>아이디</a:t>
            </a:r>
            <a:r>
              <a:rPr lang="en-US" altLang="ko-KR" sz="700">
                <a:highlight>
                  <a:srgbClr val="FFFFFF"/>
                </a:highlight>
                <a:latin typeface="여행그자체 Light" panose="020B0303000000000000" pitchFamily="50" charset="-127"/>
                <a:ea typeface="여행그자체 Light" panose="020B0303000000000000" pitchFamily="50" charset="-127"/>
              </a:rPr>
              <a:t>/</a:t>
            </a:r>
            <a:r>
              <a:rPr lang="ko-KR" altLang="en-US" sz="700">
                <a:highlight>
                  <a:srgbClr val="FFFFFF"/>
                </a:highlight>
                <a:latin typeface="여행그자체 Light" panose="020B0303000000000000" pitchFamily="50" charset="-127"/>
                <a:ea typeface="여행그자체 Light" panose="020B0303000000000000" pitchFamily="50" charset="-127"/>
              </a:rPr>
              <a:t>비밀번호를 </a:t>
            </a:r>
            <a:r>
              <a:rPr lang="en-US" altLang="ko-KR" sz="700">
                <a:highlight>
                  <a:srgbClr val="FFFFFF"/>
                </a:highlight>
                <a:latin typeface="여행그자체 Light" panose="020B0303000000000000" pitchFamily="50" charset="-127"/>
                <a:ea typeface="여행그자체 Light" panose="020B0303000000000000" pitchFamily="50" charset="-127"/>
              </a:rPr>
              <a:t>5</a:t>
            </a:r>
            <a:r>
              <a:rPr lang="ko-KR" altLang="en-US" sz="700">
                <a:highlight>
                  <a:srgbClr val="FFFFFF"/>
                </a:highlight>
                <a:latin typeface="여행그자체 Light" panose="020B0303000000000000" pitchFamily="50" charset="-127"/>
                <a:ea typeface="여행그자체 Light" panose="020B0303000000000000" pitchFamily="50" charset="-127"/>
              </a:rPr>
              <a:t>회 틀렸습니다</a:t>
            </a:r>
            <a:r>
              <a:rPr lang="en-US" altLang="ko-KR" sz="700">
                <a:highlight>
                  <a:srgbClr val="FFFFFF"/>
                </a:highlight>
                <a:latin typeface="여행그자체 Light" panose="020B0303000000000000" pitchFamily="50" charset="-127"/>
                <a:ea typeface="여행그자체 Light" panose="020B0303000000000000" pitchFamily="50" charset="-127"/>
              </a:rPr>
              <a:t>.</a:t>
            </a:r>
          </a:p>
          <a:p>
            <a:r>
              <a:rPr lang="ko-KR" altLang="en-US" sz="700">
                <a:highlight>
                  <a:srgbClr val="FFFFFF"/>
                </a:highlight>
                <a:latin typeface="여행그자체 Light" panose="020B0303000000000000" pitchFamily="50" charset="-127"/>
                <a:ea typeface="여행그자체 Light" panose="020B0303000000000000" pitchFamily="50" charset="-127"/>
              </a:rPr>
              <a:t>보이는 이미지의 문자를 입력해 주세요</a:t>
            </a:r>
            <a:r>
              <a:rPr lang="en-US" altLang="ko-KR" sz="700">
                <a:highlight>
                  <a:srgbClr val="FFFFFF"/>
                </a:highlight>
                <a:latin typeface="여행그자체 Light" panose="020B0303000000000000" pitchFamily="50" charset="-127"/>
                <a:ea typeface="여행그자체 Light" panose="020B0303000000000000" pitchFamily="50" charset="-127"/>
              </a:rPr>
              <a:t>. </a:t>
            </a:r>
            <a:endParaRPr lang="en-US" altLang="ko-KR" sz="700" dirty="0">
              <a:highlight>
                <a:srgbClr val="FFFFFF"/>
              </a:highlight>
              <a:latin typeface="여행그자체 Light" panose="020B0303000000000000" pitchFamily="50" charset="-127"/>
              <a:ea typeface="여행그자체 Light" panose="020B0303000000000000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E49321E-29F2-A0ED-F129-14067C83A22E}"/>
              </a:ext>
            </a:extLst>
          </p:cNvPr>
          <p:cNvSpPr/>
          <p:nvPr/>
        </p:nvSpPr>
        <p:spPr>
          <a:xfrm>
            <a:off x="5990998" y="4125738"/>
            <a:ext cx="1044000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  <a:latin typeface="+mn-ea"/>
              </a:rPr>
              <a:t>자동입력 </a:t>
            </a:r>
            <a:endParaRPr lang="en-US" altLang="ko-KR" sz="90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900">
                <a:solidFill>
                  <a:schemeClr val="tx1"/>
                </a:solidFill>
                <a:latin typeface="+mn-ea"/>
              </a:rPr>
              <a:t>방지문자 입력</a:t>
            </a:r>
            <a:endParaRPr lang="en-US" altLang="ko-KR" sz="90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900">
                <a:solidFill>
                  <a:schemeClr val="tx1"/>
                </a:solidFill>
                <a:latin typeface="+mn-ea"/>
              </a:rPr>
              <a:t>(CAPTCHA)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FFEFC58E-E8C1-2FFF-68A0-62EF959309A8}"/>
              </a:ext>
            </a:extLst>
          </p:cNvPr>
          <p:cNvCxnSpPr>
            <a:cxnSpLocks/>
            <a:stCxn id="20" idx="2"/>
            <a:endCxn id="10" idx="0"/>
          </p:cNvCxnSpPr>
          <p:nvPr/>
        </p:nvCxnSpPr>
        <p:spPr>
          <a:xfrm>
            <a:off x="6512998" y="3862045"/>
            <a:ext cx="0" cy="263693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31A8EE76-90F1-F320-273B-1C9427A3994F}"/>
              </a:ext>
            </a:extLst>
          </p:cNvPr>
          <p:cNvCxnSpPr>
            <a:cxnSpLocks/>
            <a:stCxn id="19" idx="2"/>
            <a:endCxn id="31" idx="2"/>
          </p:cNvCxnSpPr>
          <p:nvPr/>
        </p:nvCxnSpPr>
        <p:spPr>
          <a:xfrm rot="5400000" flipH="1">
            <a:off x="1645410" y="1594647"/>
            <a:ext cx="1870175" cy="2664622"/>
          </a:xfrm>
          <a:prstGeom prst="bentConnector3">
            <a:avLst>
              <a:gd name="adj1" fmla="val -68926"/>
            </a:avLst>
          </a:prstGeom>
          <a:ln w="3175">
            <a:solidFill>
              <a:schemeClr val="bg1">
                <a:lumMod val="75000"/>
              </a:schemeClr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310D943C-B68A-2A7E-72DC-13D1F69AB69F}"/>
              </a:ext>
            </a:extLst>
          </p:cNvPr>
          <p:cNvCxnSpPr>
            <a:cxnSpLocks/>
            <a:stCxn id="10" idx="2"/>
            <a:endCxn id="31" idx="2"/>
          </p:cNvCxnSpPr>
          <p:nvPr/>
        </p:nvCxnSpPr>
        <p:spPr>
          <a:xfrm rot="5400000" flipH="1">
            <a:off x="2597659" y="642399"/>
            <a:ext cx="2565868" cy="5264811"/>
          </a:xfrm>
          <a:prstGeom prst="bentConnector3">
            <a:avLst>
              <a:gd name="adj1" fmla="val -23015"/>
            </a:avLst>
          </a:prstGeom>
          <a:ln w="3175">
            <a:solidFill>
              <a:schemeClr val="bg1">
                <a:lumMod val="75000"/>
              </a:schemeClr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사각형: 둥근 모서리 16">
            <a:hlinkClick r:id="rId2" action="ppaction://hlinksldjump"/>
            <a:extLst>
              <a:ext uri="{FF2B5EF4-FFF2-40B4-BE49-F238E27FC236}">
                <a16:creationId xmlns:a16="http://schemas.microsoft.com/office/drawing/2014/main" id="{06B7DE03-2ADA-35B1-0CCB-BB9EB6C3EB93}"/>
              </a:ext>
            </a:extLst>
          </p:cNvPr>
          <p:cNvSpPr/>
          <p:nvPr/>
        </p:nvSpPr>
        <p:spPr>
          <a:xfrm>
            <a:off x="1524265" y="763104"/>
            <a:ext cx="491844" cy="17383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00">
                <a:solidFill>
                  <a:schemeClr val="tx1"/>
                </a:solidFill>
              </a:rPr>
              <a:t>화면상세 ▶</a:t>
            </a:r>
          </a:p>
        </p:txBody>
      </p:sp>
    </p:spTree>
    <p:extLst>
      <p:ext uri="{BB962C8B-B14F-4D97-AF65-F5344CB8AC3E}">
        <p14:creationId xmlns:p14="http://schemas.microsoft.com/office/powerpoint/2010/main" val="19166524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2C26B-C092-61CD-9F95-496D910EC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12">
            <a:extLst>
              <a:ext uri="{FF2B5EF4-FFF2-40B4-BE49-F238E27FC236}">
                <a16:creationId xmlns:a16="http://schemas.microsoft.com/office/drawing/2014/main" id="{FA59210F-5E16-252A-0C96-1836248BC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6. </a:t>
            </a:r>
            <a:r>
              <a:rPr lang="ko-KR" altLang="en-US" b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프로세스 흐름도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136A3B7-1CF5-D6AA-867A-DE301AD6F410}"/>
              </a:ext>
            </a:extLst>
          </p:cNvPr>
          <p:cNvGrpSpPr/>
          <p:nvPr/>
        </p:nvGrpSpPr>
        <p:grpSpPr>
          <a:xfrm>
            <a:off x="366187" y="623347"/>
            <a:ext cx="999919" cy="400110"/>
            <a:chOff x="250684" y="527628"/>
            <a:chExt cx="999919" cy="40011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4D8618D-E1F2-5A84-C54D-0AEDD700DA95}"/>
                </a:ext>
              </a:extLst>
            </p:cNvPr>
            <p:cNvSpPr txBox="1"/>
            <p:nvPr/>
          </p:nvSpPr>
          <p:spPr>
            <a:xfrm>
              <a:off x="610684" y="527628"/>
              <a:ext cx="63991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>
                  <a:solidFill>
                    <a:srgbClr val="5E2BB8"/>
                  </a:solidFill>
                  <a:latin typeface="+mj-ea"/>
                  <a:ea typeface="+mj-ea"/>
                </a:rPr>
                <a:t>탈퇴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F4B9737-EAA2-7CC3-41CE-72BB0D4D3DC3}"/>
                </a:ext>
              </a:extLst>
            </p:cNvPr>
            <p:cNvSpPr/>
            <p:nvPr/>
          </p:nvSpPr>
          <p:spPr>
            <a:xfrm>
              <a:off x="250684" y="565683"/>
              <a:ext cx="324000" cy="324000"/>
            </a:xfrm>
            <a:prstGeom prst="rect">
              <a:avLst/>
            </a:prstGeom>
            <a:solidFill>
              <a:srgbClr val="5E2BB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600">
                  <a:solidFill>
                    <a:srgbClr val="FFFFFF"/>
                  </a:solidFill>
                  <a:latin typeface="+mj-ea"/>
                  <a:ea typeface="+mj-ea"/>
                </a:rPr>
                <a:t>12</a:t>
              </a:r>
              <a:endParaRPr lang="ko-KR" altLang="en-US" sz="1600">
                <a:solidFill>
                  <a:srgbClr val="FFFFFF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614A14AE-DA33-7B2C-F223-3602B3F2F9A8}"/>
              </a:ext>
            </a:extLst>
          </p:cNvPr>
          <p:cNvSpPr/>
          <p:nvPr/>
        </p:nvSpPr>
        <p:spPr>
          <a:xfrm>
            <a:off x="2422087" y="1566491"/>
            <a:ext cx="1044000" cy="42746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</a:rPr>
              <a:t>회원탈퇴</a:t>
            </a:r>
            <a:endParaRPr lang="en-US" altLang="ko-KR" sz="900">
              <a:solidFill>
                <a:schemeClr val="tx1"/>
              </a:solidFill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22209012-ACEA-8075-A412-9ECF6DD9770E}"/>
              </a:ext>
            </a:extLst>
          </p:cNvPr>
          <p:cNvSpPr/>
          <p:nvPr/>
        </p:nvSpPr>
        <p:spPr>
          <a:xfrm>
            <a:off x="677746" y="1564223"/>
            <a:ext cx="1044000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</a:rPr>
              <a:t>마이페이지</a:t>
            </a:r>
            <a:endParaRPr lang="en-US" altLang="ko-KR" sz="900">
              <a:solidFill>
                <a:schemeClr val="tx1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89F8B3A-114E-92A0-CADD-F17B79A18820}"/>
              </a:ext>
            </a:extLst>
          </p:cNvPr>
          <p:cNvSpPr/>
          <p:nvPr/>
        </p:nvSpPr>
        <p:spPr>
          <a:xfrm>
            <a:off x="675925" y="2584425"/>
            <a:ext cx="1044000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</a:rPr>
              <a:t>개인정보</a:t>
            </a:r>
            <a:endParaRPr lang="en-US" altLang="ko-KR" sz="900">
              <a:solidFill>
                <a:schemeClr val="tx1"/>
              </a:solidFill>
            </a:endParaRPr>
          </a:p>
        </p:txBody>
      </p:sp>
      <p:sp>
        <p:nvSpPr>
          <p:cNvPr id="7" name="순서도: 판단 6">
            <a:extLst>
              <a:ext uri="{FF2B5EF4-FFF2-40B4-BE49-F238E27FC236}">
                <a16:creationId xmlns:a16="http://schemas.microsoft.com/office/drawing/2014/main" id="{622D4111-5841-1173-785D-496730ECC23A}"/>
              </a:ext>
            </a:extLst>
          </p:cNvPr>
          <p:cNvSpPr/>
          <p:nvPr/>
        </p:nvSpPr>
        <p:spPr>
          <a:xfrm>
            <a:off x="3842393" y="1474223"/>
            <a:ext cx="1188000" cy="612000"/>
          </a:xfrm>
          <a:prstGeom prst="flowChartDecis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  <a:latin typeface="여행그자체 Light" panose="020B0303000000000000" pitchFamily="50" charset="-127"/>
                <a:ea typeface="여행그자체 Light" panose="020B0303000000000000" pitchFamily="50" charset="-127"/>
              </a:rPr>
              <a:t>계정 비밀번호</a:t>
            </a:r>
            <a:endParaRPr lang="en-US" altLang="ko-KR" sz="900">
              <a:solidFill>
                <a:schemeClr val="tx1"/>
              </a:solidFill>
              <a:latin typeface="여행그자체 Light" panose="020B0303000000000000" pitchFamily="50" charset="-127"/>
              <a:ea typeface="여행그자체 Light" panose="020B0303000000000000" pitchFamily="50" charset="-127"/>
            </a:endParaRPr>
          </a:p>
          <a:p>
            <a:pPr algn="ctr"/>
            <a:r>
              <a:rPr lang="ko-KR" altLang="en-US" sz="900">
                <a:solidFill>
                  <a:schemeClr val="tx1"/>
                </a:solidFill>
                <a:latin typeface="여행그자체 Light" panose="020B0303000000000000" pitchFamily="50" charset="-127"/>
                <a:ea typeface="여행그자체 Light" panose="020B0303000000000000" pitchFamily="50" charset="-127"/>
              </a:rPr>
              <a:t>유무</a:t>
            </a:r>
            <a:endParaRPr lang="en-US" altLang="ko-KR" sz="900">
              <a:solidFill>
                <a:schemeClr val="tx1"/>
              </a:solidFill>
              <a:latin typeface="여행그자체 Light" panose="020B0303000000000000" pitchFamily="50" charset="-127"/>
              <a:ea typeface="여행그자체 Light" panose="020B0303000000000000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4ABCCE3-B440-BE51-49F7-B2CA4FC7C16D}"/>
              </a:ext>
            </a:extLst>
          </p:cNvPr>
          <p:cNvSpPr/>
          <p:nvPr/>
        </p:nvSpPr>
        <p:spPr>
          <a:xfrm>
            <a:off x="5406699" y="1564223"/>
            <a:ext cx="1044000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</a:rPr>
              <a:t>비밀번호 입력</a:t>
            </a:r>
            <a:endParaRPr lang="en-US" altLang="ko-KR" sz="90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0DE67D1-A785-FDD0-72B7-597E0F32D338}"/>
              </a:ext>
            </a:extLst>
          </p:cNvPr>
          <p:cNvSpPr/>
          <p:nvPr/>
        </p:nvSpPr>
        <p:spPr>
          <a:xfrm>
            <a:off x="3914393" y="2584425"/>
            <a:ext cx="1044000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</a:rPr>
              <a:t>네이버</a:t>
            </a:r>
            <a:r>
              <a:rPr lang="en-US" altLang="ko-KR" sz="900">
                <a:solidFill>
                  <a:schemeClr val="tx1"/>
                </a:solidFill>
              </a:rPr>
              <a:t>/</a:t>
            </a:r>
            <a:r>
              <a:rPr lang="ko-KR" altLang="en-US" sz="900">
                <a:solidFill>
                  <a:schemeClr val="tx1"/>
                </a:solidFill>
              </a:rPr>
              <a:t>카카오</a:t>
            </a:r>
            <a:r>
              <a:rPr lang="en-US" altLang="ko-KR" sz="900">
                <a:solidFill>
                  <a:schemeClr val="tx1"/>
                </a:solidFill>
              </a:rPr>
              <a:t>/</a:t>
            </a:r>
            <a:r>
              <a:rPr lang="ko-KR" altLang="en-US" sz="900">
                <a:solidFill>
                  <a:schemeClr val="tx1"/>
                </a:solidFill>
              </a:rPr>
              <a:t>애플</a:t>
            </a:r>
            <a:endParaRPr lang="en-US" altLang="ko-KR" sz="900">
              <a:solidFill>
                <a:schemeClr val="tx1"/>
              </a:solidFill>
            </a:endParaRPr>
          </a:p>
          <a:p>
            <a:pPr algn="ctr"/>
            <a:r>
              <a:rPr lang="ko-KR" altLang="en-US" sz="900">
                <a:solidFill>
                  <a:schemeClr val="tx1"/>
                </a:solidFill>
              </a:rPr>
              <a:t>인증</a:t>
            </a:r>
            <a:endParaRPr lang="en-US" altLang="ko-KR" sz="90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8CEC54-1E76-561A-170A-C04F35EED97F}"/>
              </a:ext>
            </a:extLst>
          </p:cNvPr>
          <p:cNvSpPr txBox="1"/>
          <p:nvPr/>
        </p:nvSpPr>
        <p:spPr>
          <a:xfrm>
            <a:off x="3842393" y="3016425"/>
            <a:ext cx="1952219" cy="200055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 sz="700">
                <a:latin typeface="+mn-ea"/>
                <a:cs typeface="Segoe UI" panose="020B0502040204020203" pitchFamily="34" charset="0"/>
              </a:rPr>
              <a:t>※ </a:t>
            </a:r>
            <a:r>
              <a:rPr lang="ko-KR" altLang="en-US" sz="700">
                <a:latin typeface="+mn-ea"/>
                <a:cs typeface="Segoe UI" panose="020B0502040204020203" pitchFamily="34" charset="0"/>
              </a:rPr>
              <a:t>마지막 로그인 값으로 </a:t>
            </a:r>
            <a:r>
              <a:rPr lang="en-US" altLang="ko-KR" sz="700">
                <a:latin typeface="+mn-ea"/>
                <a:cs typeface="Segoe UI" panose="020B0502040204020203" pitchFamily="34" charset="0"/>
              </a:rPr>
              <a:t>SNS</a:t>
            </a:r>
            <a:r>
              <a:rPr lang="ko-KR" altLang="en-US" sz="700">
                <a:latin typeface="+mn-ea"/>
                <a:cs typeface="Segoe UI" panose="020B0502040204020203" pitchFamily="34" charset="0"/>
              </a:rPr>
              <a:t>인증 </a:t>
            </a:r>
            <a:r>
              <a:rPr lang="en-US" altLang="ko-KR" sz="700">
                <a:latin typeface="+mn-ea"/>
                <a:cs typeface="Segoe UI" panose="020B0502040204020203" pitchFamily="34" charset="0"/>
              </a:rPr>
              <a:t>1</a:t>
            </a:r>
            <a:r>
              <a:rPr lang="ko-KR" altLang="en-US" sz="700">
                <a:latin typeface="+mn-ea"/>
                <a:cs typeface="Segoe UI" panose="020B0502040204020203" pitchFamily="34" charset="0"/>
              </a:rPr>
              <a:t>개 노출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047831C-7ADC-42D1-07B0-2858173810FF}"/>
              </a:ext>
            </a:extLst>
          </p:cNvPr>
          <p:cNvSpPr/>
          <p:nvPr/>
        </p:nvSpPr>
        <p:spPr>
          <a:xfrm>
            <a:off x="6827005" y="1564223"/>
            <a:ext cx="1044000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</a:rPr>
              <a:t>탈퇴사유</a:t>
            </a:r>
            <a:r>
              <a:rPr lang="en-US" altLang="ko-KR" sz="900">
                <a:solidFill>
                  <a:schemeClr val="tx1"/>
                </a:solidFill>
              </a:rPr>
              <a:t>(</a:t>
            </a:r>
            <a:r>
              <a:rPr lang="ko-KR" altLang="en-US" sz="900">
                <a:solidFill>
                  <a:schemeClr val="tx1"/>
                </a:solidFill>
              </a:rPr>
              <a:t>필수</a:t>
            </a:r>
            <a:r>
              <a:rPr lang="en-US" altLang="ko-KR" sz="90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ko-KR" altLang="en-US" sz="900">
                <a:solidFill>
                  <a:schemeClr val="tx1"/>
                </a:solidFill>
              </a:rPr>
              <a:t>바라는점</a:t>
            </a:r>
            <a:r>
              <a:rPr lang="en-US" altLang="ko-KR" sz="900">
                <a:solidFill>
                  <a:schemeClr val="tx1"/>
                </a:solidFill>
              </a:rPr>
              <a:t>(</a:t>
            </a:r>
            <a:r>
              <a:rPr lang="ko-KR" altLang="en-US" sz="900">
                <a:solidFill>
                  <a:schemeClr val="tx1"/>
                </a:solidFill>
              </a:rPr>
              <a:t>선택</a:t>
            </a:r>
            <a:r>
              <a:rPr lang="en-US" altLang="ko-KR" sz="900">
                <a:solidFill>
                  <a:schemeClr val="tx1"/>
                </a:solidFill>
              </a:rPr>
              <a:t>) </a:t>
            </a:r>
            <a:r>
              <a:rPr lang="ko-KR" altLang="en-US" sz="900">
                <a:solidFill>
                  <a:schemeClr val="tx1"/>
                </a:solidFill>
              </a:rPr>
              <a:t>입력</a:t>
            </a:r>
            <a:endParaRPr lang="en-US" altLang="ko-KR" sz="900">
              <a:solidFill>
                <a:schemeClr val="tx1"/>
              </a:solidFill>
            </a:endParaRPr>
          </a:p>
        </p:txBody>
      </p: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390678A6-EF9D-A1C0-648A-41F2D2F40353}"/>
              </a:ext>
            </a:extLst>
          </p:cNvPr>
          <p:cNvCxnSpPr>
            <a:cxnSpLocks/>
            <a:stCxn id="10" idx="3"/>
            <a:endCxn id="12" idx="2"/>
          </p:cNvCxnSpPr>
          <p:nvPr/>
        </p:nvCxnSpPr>
        <p:spPr>
          <a:xfrm flipV="1">
            <a:off x="4958393" y="1996223"/>
            <a:ext cx="2390612" cy="804202"/>
          </a:xfrm>
          <a:prstGeom prst="bentConnector2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01F9CC3A-36CA-F941-6CD0-14025763CB1E}"/>
              </a:ext>
            </a:extLst>
          </p:cNvPr>
          <p:cNvCxnSpPr>
            <a:cxnSpLocks/>
            <a:stCxn id="2" idx="3"/>
            <a:endCxn id="7" idx="1"/>
          </p:cNvCxnSpPr>
          <p:nvPr/>
        </p:nvCxnSpPr>
        <p:spPr>
          <a:xfrm flipV="1">
            <a:off x="3466087" y="1780223"/>
            <a:ext cx="376306" cy="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D824B70A-AB0B-1F72-62C3-F62BC5F788A4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5030393" y="1780223"/>
            <a:ext cx="376306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A33B08A6-AEB4-48DC-52FD-BA52D9070453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6450699" y="1780223"/>
            <a:ext cx="376306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3455542F-CC4D-6BA2-6505-0C9C0C58739D}"/>
              </a:ext>
            </a:extLst>
          </p:cNvPr>
          <p:cNvCxnSpPr>
            <a:cxnSpLocks/>
          </p:cNvCxnSpPr>
          <p:nvPr/>
        </p:nvCxnSpPr>
        <p:spPr>
          <a:xfrm>
            <a:off x="7871005" y="1780223"/>
            <a:ext cx="376304" cy="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C240F656-413B-0031-396B-22D65A0C23A3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4436393" y="2086223"/>
            <a:ext cx="0" cy="498202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F8991B6C-5217-CB4E-EB4B-E468CF9AFE36}"/>
              </a:ext>
            </a:extLst>
          </p:cNvPr>
          <p:cNvSpPr txBox="1"/>
          <p:nvPr/>
        </p:nvSpPr>
        <p:spPr>
          <a:xfrm>
            <a:off x="4958393" y="1564779"/>
            <a:ext cx="364202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00">
                <a:highlight>
                  <a:srgbClr val="FFFFFF"/>
                </a:highlight>
                <a:latin typeface="+mn-ea"/>
              </a:rPr>
              <a:t>YES</a:t>
            </a:r>
            <a:endParaRPr lang="ko-KR" altLang="en-US" sz="800">
              <a:highlight>
                <a:srgbClr val="FFFFFF"/>
              </a:highlight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D712417-1E42-EDB3-3F0E-37F1757D3F55}"/>
              </a:ext>
            </a:extLst>
          </p:cNvPr>
          <p:cNvSpPr txBox="1"/>
          <p:nvPr/>
        </p:nvSpPr>
        <p:spPr>
          <a:xfrm>
            <a:off x="4436393" y="2170703"/>
            <a:ext cx="320922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00">
                <a:highlight>
                  <a:srgbClr val="FFFFFF"/>
                </a:highlight>
                <a:latin typeface="+mn-ea"/>
              </a:rPr>
              <a:t>NO</a:t>
            </a:r>
            <a:endParaRPr lang="ko-KR" altLang="en-US" sz="800">
              <a:highlight>
                <a:srgbClr val="FFFFFF"/>
              </a:highlight>
              <a:latin typeface="+mn-ea"/>
            </a:endParaRPr>
          </a:p>
        </p:txBody>
      </p:sp>
      <p:sp>
        <p:nvSpPr>
          <p:cNvPr id="43" name="순서도: 판단 42">
            <a:extLst>
              <a:ext uri="{FF2B5EF4-FFF2-40B4-BE49-F238E27FC236}">
                <a16:creationId xmlns:a16="http://schemas.microsoft.com/office/drawing/2014/main" id="{3714DB1F-3072-258D-7F7E-FBF69704990A}"/>
              </a:ext>
            </a:extLst>
          </p:cNvPr>
          <p:cNvSpPr/>
          <p:nvPr/>
        </p:nvSpPr>
        <p:spPr>
          <a:xfrm>
            <a:off x="8231329" y="1474223"/>
            <a:ext cx="1188000" cy="612000"/>
          </a:xfrm>
          <a:prstGeom prst="flowChartDecis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  <a:latin typeface="여행그자체 Light" panose="020B0303000000000000" pitchFamily="50" charset="-127"/>
                <a:ea typeface="여행그자체 Light" panose="020B0303000000000000" pitchFamily="50" charset="-127"/>
              </a:rPr>
              <a:t>카카오 연동여부</a:t>
            </a:r>
            <a:endParaRPr lang="en-US" altLang="ko-KR" sz="900">
              <a:solidFill>
                <a:schemeClr val="tx1"/>
              </a:solidFill>
              <a:latin typeface="여행그자체 Light" panose="020B0303000000000000" pitchFamily="50" charset="-127"/>
              <a:ea typeface="여행그자체 Light" panose="020B0303000000000000" pitchFamily="50" charset="-127"/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A9E1E70A-0907-897F-7F62-D3AE2D9DB257}"/>
              </a:ext>
            </a:extLst>
          </p:cNvPr>
          <p:cNvCxnSpPr>
            <a:cxnSpLocks/>
            <a:stCxn id="43" idx="3"/>
          </p:cNvCxnSpPr>
          <p:nvPr/>
        </p:nvCxnSpPr>
        <p:spPr>
          <a:xfrm>
            <a:off x="9419329" y="1780223"/>
            <a:ext cx="361878" cy="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168CD485-F53A-FCEF-0C29-3CEC5DFB8A84}"/>
              </a:ext>
            </a:extLst>
          </p:cNvPr>
          <p:cNvSpPr/>
          <p:nvPr/>
        </p:nvSpPr>
        <p:spPr>
          <a:xfrm>
            <a:off x="8303329" y="2579890"/>
            <a:ext cx="1044000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</a:rPr>
              <a:t>카카오 연동해제 </a:t>
            </a:r>
            <a:endParaRPr lang="en-US" altLang="ko-KR" sz="900">
              <a:solidFill>
                <a:schemeClr val="tx1"/>
              </a:solidFill>
            </a:endParaRPr>
          </a:p>
          <a:p>
            <a:pPr algn="ctr"/>
            <a:r>
              <a:rPr lang="en-US" altLang="ko-KR" sz="900">
                <a:solidFill>
                  <a:schemeClr val="tx1"/>
                </a:solidFill>
              </a:rPr>
              <a:t>API</a:t>
            </a:r>
            <a:r>
              <a:rPr lang="ko-KR" altLang="en-US" sz="900">
                <a:solidFill>
                  <a:schemeClr val="tx1"/>
                </a:solidFill>
              </a:rPr>
              <a:t>호출</a:t>
            </a:r>
            <a:endParaRPr lang="en-US" altLang="ko-KR" sz="900">
              <a:solidFill>
                <a:schemeClr val="tx1"/>
              </a:solidFill>
            </a:endParaRPr>
          </a:p>
        </p:txBody>
      </p: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DC3F1910-F3AA-68C4-15CE-982424C7F584}"/>
              </a:ext>
            </a:extLst>
          </p:cNvPr>
          <p:cNvCxnSpPr>
            <a:cxnSpLocks/>
            <a:stCxn id="47" idx="3"/>
          </p:cNvCxnSpPr>
          <p:nvPr/>
        </p:nvCxnSpPr>
        <p:spPr>
          <a:xfrm flipV="1">
            <a:off x="9347329" y="1993956"/>
            <a:ext cx="955878" cy="801934"/>
          </a:xfrm>
          <a:prstGeom prst="bentConnector2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63C72BFE-C659-1E6A-A12F-10900FC0C926}"/>
              </a:ext>
            </a:extLst>
          </p:cNvPr>
          <p:cNvCxnSpPr>
            <a:cxnSpLocks/>
            <a:stCxn id="43" idx="2"/>
            <a:endCxn id="47" idx="0"/>
          </p:cNvCxnSpPr>
          <p:nvPr/>
        </p:nvCxnSpPr>
        <p:spPr>
          <a:xfrm>
            <a:off x="8825329" y="2086223"/>
            <a:ext cx="0" cy="493667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30D5AE24-728C-F18D-965C-37ABB2E2EC52}"/>
              </a:ext>
            </a:extLst>
          </p:cNvPr>
          <p:cNvSpPr txBox="1"/>
          <p:nvPr/>
        </p:nvSpPr>
        <p:spPr>
          <a:xfrm>
            <a:off x="8262214" y="3029477"/>
            <a:ext cx="1952219" cy="200055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 sz="700">
                <a:latin typeface="+mn-ea"/>
                <a:cs typeface="Segoe UI" panose="020B0502040204020203" pitchFamily="34" charset="0"/>
              </a:rPr>
              <a:t>※</a:t>
            </a:r>
            <a:r>
              <a:rPr lang="ko-KR" altLang="en-US" sz="700">
                <a:latin typeface="+mn-ea"/>
                <a:cs typeface="Segoe UI" panose="020B0502040204020203" pitchFamily="34" charset="0"/>
              </a:rPr>
              <a:t>연동 해제 실패시 에러 로그 적재 후 탈퇴처리</a:t>
            </a:r>
            <a:r>
              <a:rPr lang="en-US" altLang="ko-KR" sz="700">
                <a:latin typeface="+mn-ea"/>
                <a:cs typeface="Segoe UI" panose="020B0502040204020203" pitchFamily="34" charset="0"/>
              </a:rPr>
              <a:t> </a:t>
            </a:r>
            <a:endParaRPr lang="ko-KR" altLang="en-US" sz="700"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B67468F-AB40-DCE8-A2F7-A57207144552}"/>
              </a:ext>
            </a:extLst>
          </p:cNvPr>
          <p:cNvSpPr txBox="1"/>
          <p:nvPr/>
        </p:nvSpPr>
        <p:spPr>
          <a:xfrm>
            <a:off x="8825329" y="2119602"/>
            <a:ext cx="364202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00">
                <a:highlight>
                  <a:srgbClr val="FFFFFF"/>
                </a:highlight>
                <a:latin typeface="+mn-ea"/>
              </a:rPr>
              <a:t>YES</a:t>
            </a:r>
            <a:endParaRPr lang="ko-KR" altLang="en-US" sz="800">
              <a:highlight>
                <a:srgbClr val="FFFFFF"/>
              </a:highlight>
              <a:latin typeface="+mn-ea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B15DE13-03B2-D187-925C-66FC57B31CC4}"/>
              </a:ext>
            </a:extLst>
          </p:cNvPr>
          <p:cNvSpPr txBox="1"/>
          <p:nvPr/>
        </p:nvSpPr>
        <p:spPr>
          <a:xfrm>
            <a:off x="9373983" y="1604032"/>
            <a:ext cx="320922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00">
                <a:highlight>
                  <a:srgbClr val="FFFFFF"/>
                </a:highlight>
                <a:latin typeface="+mn-ea"/>
              </a:rPr>
              <a:t>NO</a:t>
            </a:r>
            <a:endParaRPr lang="ko-KR" altLang="en-US" sz="800">
              <a:highlight>
                <a:srgbClr val="FFFFFF"/>
              </a:highlight>
              <a:latin typeface="+mn-ea"/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F99A3BC8-D802-BB75-D212-836D691824AE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 flipH="1">
            <a:off x="1197925" y="1996223"/>
            <a:ext cx="1821" cy="588202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73513ADC-24A0-C2EB-26FA-9BDA61D67DD9}"/>
              </a:ext>
            </a:extLst>
          </p:cNvPr>
          <p:cNvCxnSpPr>
            <a:cxnSpLocks/>
            <a:stCxn id="4" idx="3"/>
            <a:endCxn id="2" idx="1"/>
          </p:cNvCxnSpPr>
          <p:nvPr/>
        </p:nvCxnSpPr>
        <p:spPr>
          <a:xfrm flipV="1">
            <a:off x="1719925" y="1780224"/>
            <a:ext cx="702162" cy="1020201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E11A81B-DA32-EB6F-3E0C-62131232C4EF}"/>
              </a:ext>
            </a:extLst>
          </p:cNvPr>
          <p:cNvSpPr txBox="1"/>
          <p:nvPr/>
        </p:nvSpPr>
        <p:spPr>
          <a:xfrm>
            <a:off x="690186" y="1023457"/>
            <a:ext cx="10866814" cy="296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latin typeface="+mn-ea"/>
              </a:rPr>
              <a:t>회원탈퇴시 고객정보 즉시 파기되며</a:t>
            </a:r>
            <a:r>
              <a:rPr lang="en-US" altLang="ko-KR" sz="1000">
                <a:latin typeface="+mn-ea"/>
              </a:rPr>
              <a:t>,</a:t>
            </a:r>
            <a:r>
              <a:rPr lang="ko-KR" altLang="en-US" sz="1000">
                <a:latin typeface="+mn-ea"/>
              </a:rPr>
              <a:t> 동일 이름</a:t>
            </a:r>
            <a:r>
              <a:rPr lang="en-US" altLang="ko-KR" sz="1000">
                <a:latin typeface="+mn-ea"/>
              </a:rPr>
              <a:t>+</a:t>
            </a:r>
            <a:r>
              <a:rPr lang="ko-KR" altLang="en-US" sz="1000">
                <a:latin typeface="+mn-ea"/>
              </a:rPr>
              <a:t>생년월일</a:t>
            </a:r>
            <a:r>
              <a:rPr lang="en-US" altLang="ko-KR" sz="1000">
                <a:latin typeface="+mn-ea"/>
              </a:rPr>
              <a:t>+</a:t>
            </a:r>
            <a:r>
              <a:rPr lang="ko-KR" altLang="en-US" sz="1000">
                <a:latin typeface="+mn-ea"/>
              </a:rPr>
              <a:t>휴대폰번호로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일간 재가입이 제한된다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 </a:t>
            </a:r>
            <a:endParaRPr lang="en-US" altLang="ko-KR" sz="1000">
              <a:latin typeface="+mn-ea"/>
            </a:endParaRPr>
          </a:p>
        </p:txBody>
      </p:sp>
      <p:sp>
        <p:nvSpPr>
          <p:cNvPr id="14" name="사각형: 둥근 모서리 13">
            <a:hlinkClick r:id="" action="ppaction://noaction"/>
            <a:extLst>
              <a:ext uri="{FF2B5EF4-FFF2-40B4-BE49-F238E27FC236}">
                <a16:creationId xmlns:a16="http://schemas.microsoft.com/office/drawing/2014/main" id="{83EA48D7-4299-C440-BA32-12EC51B471C0}"/>
              </a:ext>
            </a:extLst>
          </p:cNvPr>
          <p:cNvSpPr/>
          <p:nvPr/>
        </p:nvSpPr>
        <p:spPr>
          <a:xfrm>
            <a:off x="1315306" y="755047"/>
            <a:ext cx="491844" cy="17383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00">
                <a:solidFill>
                  <a:schemeClr val="tx1"/>
                </a:solidFill>
              </a:rPr>
              <a:t>화면상세 ▶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AB4D1B4-7385-9E83-6BB4-19E58F36A855}"/>
              </a:ext>
            </a:extLst>
          </p:cNvPr>
          <p:cNvSpPr/>
          <p:nvPr/>
        </p:nvSpPr>
        <p:spPr>
          <a:xfrm>
            <a:off x="11071941" y="1588358"/>
            <a:ext cx="1044000" cy="42746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</a:rPr>
              <a:t>회원탈퇴 완료</a:t>
            </a:r>
            <a:endParaRPr lang="en-US" altLang="ko-KR" sz="90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47BFF34-EBB7-C85A-8CA3-2765EE184668}"/>
              </a:ext>
            </a:extLst>
          </p:cNvPr>
          <p:cNvSpPr/>
          <p:nvPr/>
        </p:nvSpPr>
        <p:spPr>
          <a:xfrm>
            <a:off x="9753229" y="1583823"/>
            <a:ext cx="1044000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</a:rPr>
              <a:t>마일리지 소멸안내</a:t>
            </a:r>
            <a:endParaRPr lang="en-US" altLang="ko-KR" sz="900">
              <a:solidFill>
                <a:schemeClr val="tx1"/>
              </a:solidFill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40CBD51A-762C-D333-E106-0190E2D4102C}"/>
              </a:ext>
            </a:extLst>
          </p:cNvPr>
          <p:cNvCxnSpPr>
            <a:cxnSpLocks/>
            <a:stCxn id="16" idx="3"/>
            <a:endCxn id="15" idx="1"/>
          </p:cNvCxnSpPr>
          <p:nvPr/>
        </p:nvCxnSpPr>
        <p:spPr>
          <a:xfrm>
            <a:off x="10797229" y="1799823"/>
            <a:ext cx="274712" cy="2268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2602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E7685-0951-E160-CBEE-349F0D1AF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C887EE88-BBCD-0C01-9678-7AB49524F156}"/>
              </a:ext>
            </a:extLst>
          </p:cNvPr>
          <p:cNvSpPr/>
          <p:nvPr/>
        </p:nvSpPr>
        <p:spPr>
          <a:xfrm>
            <a:off x="3080297" y="3470256"/>
            <a:ext cx="288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>
                <a:solidFill>
                  <a:sysClr val="windowText" lastClr="000000"/>
                </a:solidFill>
                <a:latin typeface="+mn-ea"/>
              </a:rPr>
              <a:t>01</a:t>
            </a:r>
            <a:endParaRPr lang="ko-KR" altLang="en-US" sz="140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3A1701-1905-D0A5-4AF6-3485F08DD0FB}"/>
              </a:ext>
            </a:extLst>
          </p:cNvPr>
          <p:cNvSpPr txBox="1"/>
          <p:nvPr/>
        </p:nvSpPr>
        <p:spPr>
          <a:xfrm>
            <a:off x="3395847" y="3454574"/>
            <a:ext cx="27001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latin typeface="+mn-ea"/>
                <a:cs typeface="KoPubWorld돋움체 Bold" panose="00000800000000000000" pitchFamily="2" charset="-127"/>
              </a:rPr>
              <a:t>로그인 공통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880D9D6-CA6E-AFB9-88C2-C3BC75A0D268}"/>
              </a:ext>
            </a:extLst>
          </p:cNvPr>
          <p:cNvSpPr/>
          <p:nvPr/>
        </p:nvSpPr>
        <p:spPr>
          <a:xfrm>
            <a:off x="2501900" y="2239044"/>
            <a:ext cx="7188200" cy="976697"/>
          </a:xfrm>
          <a:prstGeom prst="roundRect">
            <a:avLst>
              <a:gd name="adj" fmla="val 0"/>
            </a:avLst>
          </a:prstGeom>
          <a:solidFill>
            <a:srgbClr val="5E2BB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>
                <a:solidFill>
                  <a:srgbClr val="08D2D9"/>
                </a:solidFill>
                <a:latin typeface="+mj-ea"/>
              </a:rPr>
              <a:t>07 </a:t>
            </a:r>
            <a:r>
              <a:rPr lang="ko-KR" altLang="en-US" sz="3200" b="1">
                <a:solidFill>
                  <a:schemeClr val="bg1"/>
                </a:solidFill>
                <a:latin typeface="+mj-ea"/>
              </a:rPr>
              <a:t>화면상세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0DDA850-BF6A-8A0E-03E7-DE14C219FCBB}"/>
              </a:ext>
            </a:extLst>
          </p:cNvPr>
          <p:cNvSpPr/>
          <p:nvPr/>
        </p:nvSpPr>
        <p:spPr>
          <a:xfrm>
            <a:off x="3075629" y="4402816"/>
            <a:ext cx="288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>
                <a:solidFill>
                  <a:sysClr val="windowText" lastClr="000000"/>
                </a:solidFill>
                <a:latin typeface="+mn-ea"/>
              </a:rPr>
              <a:t>03</a:t>
            </a:r>
            <a:endParaRPr lang="ko-KR" altLang="en-US" sz="140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017356-D4A1-C337-2AAA-F9F68DAC59D4}"/>
              </a:ext>
            </a:extLst>
          </p:cNvPr>
          <p:cNvSpPr txBox="1"/>
          <p:nvPr/>
        </p:nvSpPr>
        <p:spPr>
          <a:xfrm>
            <a:off x="3391179" y="4387134"/>
            <a:ext cx="27001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latin typeface="+mn-ea"/>
                <a:cs typeface="KoPubWorld돋움체 Bold" panose="00000800000000000000" pitchFamily="2" charset="-127"/>
              </a:rPr>
              <a:t>아이디찾기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512556-861E-7A69-0BDA-2AD08A33947B}"/>
              </a:ext>
            </a:extLst>
          </p:cNvPr>
          <p:cNvSpPr/>
          <p:nvPr/>
        </p:nvSpPr>
        <p:spPr>
          <a:xfrm>
            <a:off x="6502132" y="3923836"/>
            <a:ext cx="288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>
                <a:solidFill>
                  <a:sysClr val="windowText" lastClr="000000"/>
                </a:solidFill>
                <a:latin typeface="+mn-ea"/>
              </a:rPr>
              <a:t>07</a:t>
            </a:r>
            <a:endParaRPr lang="ko-KR" altLang="en-US" sz="140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05C7CB-568A-0C03-CF12-0F4EAF69FEDE}"/>
              </a:ext>
            </a:extLst>
          </p:cNvPr>
          <p:cNvSpPr txBox="1"/>
          <p:nvPr/>
        </p:nvSpPr>
        <p:spPr>
          <a:xfrm>
            <a:off x="6811332" y="3889104"/>
            <a:ext cx="27001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latin typeface="+mn-ea"/>
                <a:cs typeface="KoPubWorld돋움체 Bold" panose="00000800000000000000" pitchFamily="2" charset="-127"/>
              </a:rPr>
              <a:t>카카오 로그인</a:t>
            </a:r>
            <a:r>
              <a:rPr lang="en-US" altLang="ko-KR" sz="1600">
                <a:latin typeface="+mn-ea"/>
                <a:cs typeface="KoPubWorld돋움체 Bold" panose="00000800000000000000" pitchFamily="2" charset="-127"/>
              </a:rPr>
              <a:t>/</a:t>
            </a:r>
            <a:r>
              <a:rPr lang="ko-KR" altLang="en-US" sz="1600">
                <a:latin typeface="+mn-ea"/>
                <a:cs typeface="KoPubWorld돋움체 Bold" panose="00000800000000000000" pitchFamily="2" charset="-127"/>
              </a:rPr>
              <a:t>회원가입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7E5D9D0-D768-11BE-F115-47EAE81B03DF}"/>
              </a:ext>
            </a:extLst>
          </p:cNvPr>
          <p:cNvSpPr/>
          <p:nvPr/>
        </p:nvSpPr>
        <p:spPr>
          <a:xfrm>
            <a:off x="3075629" y="5332742"/>
            <a:ext cx="288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>
                <a:solidFill>
                  <a:sysClr val="windowText" lastClr="000000"/>
                </a:solidFill>
                <a:latin typeface="+mn-ea"/>
              </a:rPr>
              <a:t>05</a:t>
            </a:r>
            <a:endParaRPr lang="ko-KR" altLang="en-US" sz="140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BDFE6E-53F9-4483-F84C-EAABB67977EB}"/>
              </a:ext>
            </a:extLst>
          </p:cNvPr>
          <p:cNvSpPr txBox="1"/>
          <p:nvPr/>
        </p:nvSpPr>
        <p:spPr>
          <a:xfrm>
            <a:off x="3391179" y="5317060"/>
            <a:ext cx="27001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latin typeface="+mn-ea"/>
                <a:cs typeface="KoPubWorld돋움체 Bold" panose="00000800000000000000" pitchFamily="2" charset="-127"/>
              </a:rPr>
              <a:t>통합회원가입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D9595FE-E96A-8AE7-BA22-239542A10CA7}"/>
              </a:ext>
            </a:extLst>
          </p:cNvPr>
          <p:cNvSpPr/>
          <p:nvPr/>
        </p:nvSpPr>
        <p:spPr>
          <a:xfrm>
            <a:off x="6502132" y="3463732"/>
            <a:ext cx="288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>
                <a:solidFill>
                  <a:sysClr val="windowText" lastClr="000000"/>
                </a:solidFill>
                <a:latin typeface="+mn-ea"/>
              </a:rPr>
              <a:t>06</a:t>
            </a:r>
            <a:endParaRPr lang="ko-KR" altLang="en-US" sz="140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55A396-D683-9B06-FAF6-94EDF96E422C}"/>
              </a:ext>
            </a:extLst>
          </p:cNvPr>
          <p:cNvSpPr txBox="1"/>
          <p:nvPr/>
        </p:nvSpPr>
        <p:spPr>
          <a:xfrm>
            <a:off x="6811332" y="3429000"/>
            <a:ext cx="27001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latin typeface="+mn-ea"/>
                <a:cs typeface="KoPubWorld돋움체 Bold" panose="00000800000000000000" pitchFamily="2" charset="-127"/>
              </a:rPr>
              <a:t>네이버 로그인</a:t>
            </a:r>
            <a:r>
              <a:rPr lang="en-US" altLang="ko-KR" sz="1600">
                <a:latin typeface="+mn-ea"/>
                <a:cs typeface="KoPubWorld돋움체 Bold" panose="00000800000000000000" pitchFamily="2" charset="-127"/>
              </a:rPr>
              <a:t>/</a:t>
            </a:r>
            <a:r>
              <a:rPr lang="ko-KR" altLang="en-US" sz="1600">
                <a:latin typeface="+mn-ea"/>
                <a:cs typeface="KoPubWorld돋움체 Bold" panose="00000800000000000000" pitchFamily="2" charset="-127"/>
              </a:rPr>
              <a:t>회원가입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1EE232B-DA56-65F1-2954-C10A379AFD53}"/>
              </a:ext>
            </a:extLst>
          </p:cNvPr>
          <p:cNvSpPr/>
          <p:nvPr/>
        </p:nvSpPr>
        <p:spPr>
          <a:xfrm>
            <a:off x="3075629" y="4860189"/>
            <a:ext cx="288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>
                <a:solidFill>
                  <a:sysClr val="windowText" lastClr="000000"/>
                </a:solidFill>
                <a:latin typeface="+mn-ea"/>
              </a:rPr>
              <a:t>04</a:t>
            </a:r>
            <a:endParaRPr lang="ko-KR" altLang="en-US" sz="140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7CFD79-F553-B7CA-3FE3-2BB76BC52587}"/>
              </a:ext>
            </a:extLst>
          </p:cNvPr>
          <p:cNvSpPr txBox="1"/>
          <p:nvPr/>
        </p:nvSpPr>
        <p:spPr>
          <a:xfrm>
            <a:off x="3391179" y="4844507"/>
            <a:ext cx="27001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latin typeface="+mn-ea"/>
                <a:cs typeface="KoPubWorld돋움체 Bold" panose="00000800000000000000" pitchFamily="2" charset="-127"/>
              </a:rPr>
              <a:t>비밀번호 찾기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B6A230F-7FAF-FC3B-87A3-7B172394314B}"/>
              </a:ext>
            </a:extLst>
          </p:cNvPr>
          <p:cNvSpPr/>
          <p:nvPr/>
        </p:nvSpPr>
        <p:spPr>
          <a:xfrm>
            <a:off x="6502132" y="4383940"/>
            <a:ext cx="288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>
                <a:solidFill>
                  <a:sysClr val="windowText" lastClr="000000"/>
                </a:solidFill>
                <a:latin typeface="+mn-ea"/>
              </a:rPr>
              <a:t>08</a:t>
            </a:r>
            <a:endParaRPr lang="ko-KR" altLang="en-US" sz="140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F7C6BA7-2AA6-2351-F857-07562952ECC8}"/>
              </a:ext>
            </a:extLst>
          </p:cNvPr>
          <p:cNvSpPr txBox="1"/>
          <p:nvPr/>
        </p:nvSpPr>
        <p:spPr>
          <a:xfrm>
            <a:off x="6811332" y="4349208"/>
            <a:ext cx="27001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latin typeface="+mn-ea"/>
                <a:cs typeface="KoPubWorld돋움체 Bold" panose="00000800000000000000" pitchFamily="2" charset="-127"/>
              </a:rPr>
              <a:t>애플 로그인</a:t>
            </a:r>
            <a:r>
              <a:rPr lang="en-US" altLang="ko-KR" sz="1600">
                <a:latin typeface="+mn-ea"/>
                <a:cs typeface="KoPubWorld돋움체 Bold" panose="00000800000000000000" pitchFamily="2" charset="-127"/>
              </a:rPr>
              <a:t>/</a:t>
            </a:r>
            <a:r>
              <a:rPr lang="ko-KR" altLang="en-US" sz="1600">
                <a:latin typeface="+mn-ea"/>
                <a:cs typeface="KoPubWorld돋움체 Bold" panose="00000800000000000000" pitchFamily="2" charset="-127"/>
              </a:rPr>
              <a:t>회원가입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3E06857-35A9-088C-5A47-DB46CFCA5021}"/>
              </a:ext>
            </a:extLst>
          </p:cNvPr>
          <p:cNvSpPr/>
          <p:nvPr/>
        </p:nvSpPr>
        <p:spPr>
          <a:xfrm>
            <a:off x="6502132" y="4844044"/>
            <a:ext cx="288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>
                <a:solidFill>
                  <a:sysClr val="windowText" lastClr="000000"/>
                </a:solidFill>
                <a:latin typeface="+mn-ea"/>
              </a:rPr>
              <a:t>9</a:t>
            </a:r>
            <a:endParaRPr lang="ko-KR" altLang="en-US" sz="140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9E75358-4960-5343-5A60-77D55168FB37}"/>
              </a:ext>
            </a:extLst>
          </p:cNvPr>
          <p:cNvSpPr txBox="1"/>
          <p:nvPr/>
        </p:nvSpPr>
        <p:spPr>
          <a:xfrm>
            <a:off x="6811332" y="4809312"/>
            <a:ext cx="27001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latin typeface="+mn-ea"/>
                <a:cs typeface="KoPubWorld돋움체 Bold" panose="00000800000000000000" pitchFamily="2" charset="-127"/>
              </a:rPr>
              <a:t>통합회원전환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7B517CF-BC15-3D19-B874-07E886D96428}"/>
              </a:ext>
            </a:extLst>
          </p:cNvPr>
          <p:cNvSpPr/>
          <p:nvPr/>
        </p:nvSpPr>
        <p:spPr>
          <a:xfrm>
            <a:off x="3075630" y="3933380"/>
            <a:ext cx="288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>
                <a:solidFill>
                  <a:sysClr val="windowText" lastClr="000000"/>
                </a:solidFill>
                <a:latin typeface="+mn-ea"/>
              </a:rPr>
              <a:t>02</a:t>
            </a:r>
            <a:endParaRPr lang="ko-KR" altLang="en-US" sz="140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AFBA1D7-94BB-4C19-DF21-C381CC28D313}"/>
              </a:ext>
            </a:extLst>
          </p:cNvPr>
          <p:cNvSpPr txBox="1"/>
          <p:nvPr/>
        </p:nvSpPr>
        <p:spPr>
          <a:xfrm>
            <a:off x="3391179" y="3948365"/>
            <a:ext cx="27001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latin typeface="+mn-ea"/>
                <a:cs typeface="KoPubWorld돋움체 Bold" panose="00000800000000000000" pitchFamily="2" charset="-127"/>
              </a:rPr>
              <a:t>생체인증 로그인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17E6732-67C0-C21B-39F6-DF9FDD714B28}"/>
              </a:ext>
            </a:extLst>
          </p:cNvPr>
          <p:cNvSpPr/>
          <p:nvPr/>
        </p:nvSpPr>
        <p:spPr>
          <a:xfrm>
            <a:off x="6502132" y="5304150"/>
            <a:ext cx="288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>
                <a:solidFill>
                  <a:sysClr val="windowText" lastClr="000000"/>
                </a:solidFill>
                <a:latin typeface="+mn-ea"/>
              </a:rPr>
              <a:t>10</a:t>
            </a:r>
            <a:endParaRPr lang="ko-KR" altLang="en-US" sz="140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37BC663-2274-408C-68C7-D27CADC705B2}"/>
              </a:ext>
            </a:extLst>
          </p:cNvPr>
          <p:cNvSpPr txBox="1"/>
          <p:nvPr/>
        </p:nvSpPr>
        <p:spPr>
          <a:xfrm>
            <a:off x="6811332" y="5269418"/>
            <a:ext cx="27001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latin typeface="+mn-ea"/>
                <a:cs typeface="KoPubWorld돋움체 Bold" panose="00000800000000000000" pitchFamily="2" charset="-127"/>
              </a:rPr>
              <a:t>탈퇴</a:t>
            </a:r>
          </a:p>
        </p:txBody>
      </p:sp>
    </p:spTree>
    <p:extLst>
      <p:ext uri="{BB962C8B-B14F-4D97-AF65-F5344CB8AC3E}">
        <p14:creationId xmlns:p14="http://schemas.microsoft.com/office/powerpoint/2010/main" val="11898874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7D6FB-72D9-8B8F-7805-CBA37F2EE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EEB66BDB-7E1A-D652-8F55-0B321E1B150D}"/>
              </a:ext>
            </a:extLst>
          </p:cNvPr>
          <p:cNvSpPr/>
          <p:nvPr/>
        </p:nvSpPr>
        <p:spPr>
          <a:xfrm>
            <a:off x="9315141" y="131561"/>
            <a:ext cx="27864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0">
                <a:solidFill>
                  <a:schemeClr val="tx1"/>
                </a:solidFill>
                <a:latin typeface="+mn-ea"/>
                <a:ea typeface="+mn-ea"/>
                <a:cs typeface="ADLaM Display" panose="020F0502020204030204" pitchFamily="2" charset="0"/>
              </a:rPr>
              <a:t>Description</a:t>
            </a:r>
            <a:endParaRPr lang="ko-KR" altLang="en-US" sz="1000" b="0">
              <a:solidFill>
                <a:schemeClr val="tx1"/>
              </a:solidFill>
              <a:latin typeface="+mn-ea"/>
              <a:ea typeface="+mn-ea"/>
              <a:cs typeface="ADLaM Display" panose="020F05020202040302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1B9C83-AB51-E041-07C8-8F426F285039}"/>
              </a:ext>
            </a:extLst>
          </p:cNvPr>
          <p:cNvSpPr txBox="1"/>
          <p:nvPr/>
        </p:nvSpPr>
        <p:spPr>
          <a:xfrm>
            <a:off x="586209" y="457462"/>
            <a:ext cx="28600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rgbClr val="5E2BB8"/>
                </a:solidFill>
                <a:latin typeface="+mj-ea"/>
                <a:ea typeface="+mj-ea"/>
              </a:rPr>
              <a:t>로그인</a:t>
            </a:r>
            <a:r>
              <a:rPr lang="en-US" altLang="ko-KR">
                <a:solidFill>
                  <a:srgbClr val="5E2BB8"/>
                </a:solidFill>
                <a:latin typeface="+mj-ea"/>
                <a:ea typeface="+mj-ea"/>
              </a:rPr>
              <a:t> </a:t>
            </a:r>
            <a:r>
              <a:rPr lang="ko-KR" altLang="en-US">
                <a:solidFill>
                  <a:srgbClr val="5E2BB8"/>
                </a:solidFill>
                <a:latin typeface="+mj-ea"/>
                <a:ea typeface="+mj-ea"/>
              </a:rPr>
              <a:t>공통 </a:t>
            </a:r>
            <a:r>
              <a:rPr lang="en-US" altLang="ko-KR">
                <a:solidFill>
                  <a:srgbClr val="5E2BB8"/>
                </a:solidFill>
                <a:latin typeface="+mj-ea"/>
                <a:ea typeface="+mj-ea"/>
              </a:rPr>
              <a:t>- </a:t>
            </a:r>
            <a:r>
              <a:rPr lang="ko-KR" altLang="en-US">
                <a:solidFill>
                  <a:srgbClr val="5E2BB8"/>
                </a:solidFill>
                <a:latin typeface="+mj-ea"/>
                <a:ea typeface="+mj-ea"/>
              </a:rPr>
              <a:t>① 일반로그인</a:t>
            </a: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6374C480-FB4E-1C1B-4F46-CA38F185F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497" y="1768761"/>
            <a:ext cx="1924653" cy="3960000"/>
          </a:xfrm>
          <a:prstGeom prst="roundRect">
            <a:avLst>
              <a:gd name="adj" fmla="val 5449"/>
            </a:avLst>
          </a:prstGeom>
          <a:ln w="3175">
            <a:solidFill>
              <a:schemeClr val="tx1"/>
            </a:solidFill>
          </a:ln>
          <a:effectLst>
            <a:softEdge rad="0"/>
          </a:effectLst>
        </p:spPr>
      </p:pic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9AF59CE3-AEF3-86E5-311E-47EB0C5DA0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00002"/>
              </p:ext>
            </p:extLst>
          </p:nvPr>
        </p:nvGraphicFramePr>
        <p:xfrm>
          <a:off x="9297097" y="383561"/>
          <a:ext cx="2804444" cy="38260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3368">
                  <a:extLst>
                    <a:ext uri="{9D8B030D-6E8A-4147-A177-3AD203B41FA5}">
                      <a16:colId xmlns:a16="http://schemas.microsoft.com/office/drawing/2014/main" val="2871861059"/>
                    </a:ext>
                  </a:extLst>
                </a:gridCol>
                <a:gridCol w="2531076">
                  <a:extLst>
                    <a:ext uri="{9D8B030D-6E8A-4147-A177-3AD203B41FA5}">
                      <a16:colId xmlns:a16="http://schemas.microsoft.com/office/drawing/2014/main" val="96834768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/>
                        <a:t>📑참고 </a:t>
                      </a:r>
                      <a:endParaRPr lang="en-US" altLang="ko-KR" sz="80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>
                          <a:hlinkClick r:id="rId3" action="ppaction://hlinksldjump"/>
                        </a:rPr>
                        <a:t>[02 </a:t>
                      </a:r>
                      <a:r>
                        <a:rPr lang="ko-KR" altLang="en-US" sz="800">
                          <a:hlinkClick r:id="rId3" action="ppaction://hlinksldjump"/>
                        </a:rPr>
                        <a:t>로그인 정책</a:t>
                      </a:r>
                      <a:r>
                        <a:rPr lang="en-US" altLang="ko-KR" sz="800">
                          <a:hlinkClick r:id="rId3" action="ppaction://hlinksldjump"/>
                        </a:rPr>
                        <a:t>]</a:t>
                      </a:r>
                      <a:r>
                        <a:rPr lang="en-US" altLang="ko-KR" sz="800"/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>
                          <a:hlinkClick r:id="rId4" action="ppaction://hlinksldjump"/>
                        </a:rPr>
                        <a:t>[06 </a:t>
                      </a:r>
                      <a:r>
                        <a:rPr lang="ko-KR" altLang="en-US" sz="800">
                          <a:hlinkClick r:id="rId4" action="ppaction://hlinksldjump"/>
                        </a:rPr>
                        <a:t>프로세스 흐름도 </a:t>
                      </a:r>
                      <a:r>
                        <a:rPr lang="en-US" altLang="ko-KR" sz="800">
                          <a:hlinkClick r:id="rId4" action="ppaction://hlinksldjump"/>
                        </a:rPr>
                        <a:t>&gt; 02 </a:t>
                      </a:r>
                      <a:r>
                        <a:rPr lang="ko-KR" altLang="en-US" sz="800">
                          <a:hlinkClick r:id="rId4" action="ppaction://hlinksldjump"/>
                        </a:rPr>
                        <a:t>로그인</a:t>
                      </a:r>
                      <a:r>
                        <a:rPr lang="en-US" altLang="ko-KR" sz="800">
                          <a:hlinkClick r:id="rId4" action="ppaction://hlinksldjump"/>
                        </a:rPr>
                        <a:t>]</a:t>
                      </a:r>
                      <a:endParaRPr lang="en-US" altLang="ko-KR" sz="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66757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</a:rPr>
                        <a:t>일반로그인 </a:t>
                      </a:r>
                      <a:r>
                        <a:rPr lang="en-US" altLang="ko-KR" sz="800" b="0">
                          <a:solidFill>
                            <a:srgbClr val="5E2BB8"/>
                          </a:solidFill>
                          <a:latin typeface="+mn-ea"/>
                        </a:rPr>
                        <a:t>[PC]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+mn-ea"/>
                        </a:rPr>
                        <a:t>-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</a:rPr>
                        <a:t>호출 파라미터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+mn-ea"/>
                        </a:rPr>
                        <a:t>: ?isReserve=N&amp;memberOnlyYn=N</a:t>
                      </a:r>
                    </a:p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+mn-ea"/>
                        </a:rPr>
                        <a:t>-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</a:rPr>
                        <a:t>아이디 저장 체크박스 제공</a:t>
                      </a:r>
                      <a:endParaRPr lang="en-US" altLang="ko-KR" sz="800" b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+mn-ea"/>
                        </a:rPr>
                        <a:t>   Default: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</a:rPr>
                        <a:t>미체크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</a:rPr>
                        <a:t>언체크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72281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80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</a:rPr>
                        <a:t>일반로그인 </a:t>
                      </a:r>
                      <a:r>
                        <a:rPr lang="en-US" altLang="ko-KR" sz="800" b="0">
                          <a:solidFill>
                            <a:srgbClr val="5E2BB8"/>
                          </a:solidFill>
                          <a:latin typeface="+mn-ea"/>
                        </a:rPr>
                        <a:t>[MO web]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+mn-ea"/>
                        </a:rPr>
                        <a:t>-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</a:rPr>
                        <a:t>자동로그인 체크 기능 제공</a:t>
                      </a:r>
                      <a:endParaRPr lang="en-US" altLang="ko-KR" sz="800" b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+mn-ea"/>
                        </a:rPr>
                        <a:t>   Default :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</a:rPr>
                        <a:t>체크</a:t>
                      </a:r>
                      <a:endParaRPr lang="en-US" altLang="ko-KR" sz="800" b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90873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ko-KR" altLang="en-US" sz="80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일반로그인</a:t>
                      </a:r>
                      <a:r>
                        <a:rPr lang="en-US" altLang="ko-KR" sz="800" b="0">
                          <a:solidFill>
                            <a:srgbClr val="5E2BB8"/>
                          </a:solidFill>
                          <a:latin typeface="+mn-ea"/>
                          <a:ea typeface="+mn-ea"/>
                        </a:rPr>
                        <a:t>[APP]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+mn-ea"/>
                        </a:rPr>
                        <a:t>-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</a:rPr>
                        <a:t>자동로그인 체크 기능 제공</a:t>
                      </a:r>
                      <a:endParaRPr lang="en-US" altLang="ko-KR" sz="800" b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+mn-ea"/>
                        </a:rPr>
                        <a:t>   Default :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</a:rPr>
                        <a:t>체크</a:t>
                      </a:r>
                      <a:endParaRPr lang="en-US" altLang="ko-KR" sz="8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b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>
                          <a:latin typeface="+mn-ea"/>
                          <a:ea typeface="+mn-ea"/>
                        </a:rPr>
                        <a:t>네이티브 페이지로 팝업 형태 노출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b="0">
                          <a:latin typeface="+mn-ea"/>
                          <a:ea typeface="+mn-ea"/>
                        </a:rPr>
                        <a:t>- AOS APP</a:t>
                      </a:r>
                      <a:r>
                        <a:rPr lang="ko-KR" altLang="en-US" sz="800" b="0">
                          <a:latin typeface="+mn-ea"/>
                          <a:ea typeface="+mn-ea"/>
                        </a:rPr>
                        <a:t>에서는 </a:t>
                      </a:r>
                      <a:r>
                        <a:rPr lang="en-US" altLang="ko-KR" sz="800" b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0">
                          <a:latin typeface="+mn-ea"/>
                          <a:ea typeface="+mn-ea"/>
                        </a:rPr>
                        <a:t>애플</a:t>
                      </a:r>
                      <a:r>
                        <a:rPr lang="en-US" altLang="ko-KR" sz="800" b="0"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0">
                          <a:latin typeface="+mn-ea"/>
                          <a:ea typeface="+mn-ea"/>
                        </a:rPr>
                        <a:t>로그인 아이콘 미노출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b="0">
                          <a:latin typeface="+mn-ea"/>
                          <a:ea typeface="+mn-ea"/>
                        </a:rPr>
                        <a:t>- APP </a:t>
                      </a:r>
                      <a:r>
                        <a:rPr lang="ko-KR" altLang="en-US" sz="800" b="0">
                          <a:latin typeface="+mn-ea"/>
                          <a:ea typeface="+mn-ea"/>
                        </a:rPr>
                        <a:t>로그인 시 생체로그인</a:t>
                      </a:r>
                      <a:r>
                        <a:rPr lang="en-US" altLang="ko-KR" sz="800" b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>
                          <a:latin typeface="+mn-ea"/>
                          <a:ea typeface="+mn-ea"/>
                        </a:rPr>
                        <a:t>지문</a:t>
                      </a:r>
                      <a:r>
                        <a:rPr lang="en-US" altLang="ko-KR" sz="800" b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>
                          <a:latin typeface="+mn-ea"/>
                          <a:ea typeface="+mn-ea"/>
                        </a:rPr>
                        <a:t>얼굴 등</a:t>
                      </a:r>
                      <a:r>
                        <a:rPr lang="en-US" altLang="ko-KR" sz="800" b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0">
                          <a:latin typeface="+mn-ea"/>
                          <a:ea typeface="+mn-ea"/>
                        </a:rPr>
                        <a:t>지원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b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>
                          <a:latin typeface="+mn-ea"/>
                          <a:ea typeface="+mn-ea"/>
                        </a:rPr>
                        <a:t>페이지 특성상 뒤로가기 버튼은 없으며</a:t>
                      </a:r>
                      <a:r>
                        <a:rPr lang="en-US" altLang="ko-KR" sz="800" b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>
                          <a:latin typeface="+mn-ea"/>
                          <a:ea typeface="+mn-ea"/>
                        </a:rPr>
                        <a:t>상단 </a:t>
                      </a:r>
                      <a:r>
                        <a:rPr lang="en-US" altLang="ko-KR" sz="800" b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0">
                          <a:latin typeface="+mn-ea"/>
                          <a:ea typeface="+mn-ea"/>
                        </a:rPr>
                        <a:t>닫기</a:t>
                      </a:r>
                      <a:r>
                        <a:rPr lang="en-US" altLang="ko-KR" sz="800" b="0"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0">
                          <a:latin typeface="+mn-ea"/>
                          <a:ea typeface="+mn-ea"/>
                        </a:rPr>
                        <a:t>버</a:t>
                      </a:r>
                      <a:r>
                        <a:rPr lang="en-US" altLang="ko-KR" sz="800" b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>
                          <a:latin typeface="+mn-ea"/>
                          <a:ea typeface="+mn-ea"/>
                        </a:rPr>
                        <a:t>튼만 제공 </a:t>
                      </a:r>
                      <a:endParaRPr lang="en-US" altLang="ko-KR" sz="8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176365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8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5077404"/>
                  </a:ext>
                </a:extLst>
              </a:tr>
            </a:tbl>
          </a:graphicData>
        </a:graphic>
      </p:graphicFrame>
      <p:pic>
        <p:nvPicPr>
          <p:cNvPr id="40" name="그림 39">
            <a:extLst>
              <a:ext uri="{FF2B5EF4-FFF2-40B4-BE49-F238E27FC236}">
                <a16:creationId xmlns:a16="http://schemas.microsoft.com/office/drawing/2014/main" id="{08E396B5-06AA-A1E3-295E-9792D405BE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9973" y="1768761"/>
            <a:ext cx="1924653" cy="3960000"/>
          </a:xfrm>
          <a:prstGeom prst="roundRect">
            <a:avLst>
              <a:gd name="adj" fmla="val 5449"/>
            </a:avLst>
          </a:prstGeom>
          <a:ln w="3175">
            <a:solidFill>
              <a:schemeClr val="tx1"/>
            </a:solidFill>
          </a:ln>
        </p:spPr>
      </p:pic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6FC388CA-A2F3-4273-90A5-034706CFA8B5}"/>
              </a:ext>
            </a:extLst>
          </p:cNvPr>
          <p:cNvSpPr/>
          <p:nvPr/>
        </p:nvSpPr>
        <p:spPr>
          <a:xfrm>
            <a:off x="2848827" y="1534373"/>
            <a:ext cx="180000" cy="180000"/>
          </a:xfrm>
          <a:prstGeom prst="roundRect">
            <a:avLst/>
          </a:prstGeom>
          <a:solidFill>
            <a:srgbClr val="002060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b="1">
                <a:latin typeface="+mn-ea"/>
              </a:rPr>
              <a:t>2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B513756D-D1B8-7CEC-0187-BE66166EE3A6}"/>
              </a:ext>
            </a:extLst>
          </p:cNvPr>
          <p:cNvSpPr/>
          <p:nvPr/>
        </p:nvSpPr>
        <p:spPr>
          <a:xfrm>
            <a:off x="618066" y="1534373"/>
            <a:ext cx="180000" cy="180000"/>
          </a:xfrm>
          <a:prstGeom prst="roundRect">
            <a:avLst/>
          </a:prstGeom>
          <a:solidFill>
            <a:srgbClr val="002060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b="1">
                <a:latin typeface="+mn-ea"/>
              </a:rPr>
              <a:t>1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27D4E65-23A1-64F4-A54C-2C69D6F0F0C2}"/>
              </a:ext>
            </a:extLst>
          </p:cNvPr>
          <p:cNvSpPr txBox="1"/>
          <p:nvPr/>
        </p:nvSpPr>
        <p:spPr>
          <a:xfrm>
            <a:off x="760850" y="1485874"/>
            <a:ext cx="12186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일반로그인 </a:t>
            </a:r>
            <a:r>
              <a:rPr lang="en-US" altLang="ko-KR" sz="1200"/>
              <a:t>[PC]</a:t>
            </a:r>
            <a:endParaRPr lang="ko-KR" altLang="en-US" sz="120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B2E98B1-92CD-0159-3FB7-BF37411C7BA6}"/>
              </a:ext>
            </a:extLst>
          </p:cNvPr>
          <p:cNvSpPr txBox="1"/>
          <p:nvPr/>
        </p:nvSpPr>
        <p:spPr>
          <a:xfrm>
            <a:off x="2973212" y="1485874"/>
            <a:ext cx="15888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일반로그인 </a:t>
            </a:r>
            <a:r>
              <a:rPr lang="en-US" altLang="ko-KR" sz="1200"/>
              <a:t>[MO web]</a:t>
            </a:r>
            <a:endParaRPr lang="ko-KR" altLang="en-US" sz="1200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D9A84AF-9A45-6DE0-518E-83B1F9E27C66}"/>
              </a:ext>
            </a:extLst>
          </p:cNvPr>
          <p:cNvSpPr/>
          <p:nvPr/>
        </p:nvSpPr>
        <p:spPr>
          <a:xfrm>
            <a:off x="2922052" y="3610261"/>
            <a:ext cx="741080" cy="276999"/>
          </a:xfrm>
          <a:prstGeom prst="rect">
            <a:avLst/>
          </a:prstGeom>
          <a:solidFill>
            <a:schemeClr val="accent4">
              <a:lumMod val="20000"/>
              <a:lumOff val="80000"/>
              <a:alpha val="20000"/>
            </a:schemeClr>
          </a:solidFill>
          <a:ln>
            <a:solidFill>
              <a:srgbClr val="5E2BB8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28060B4-D932-761D-094D-A3D9F51C85DE}"/>
              </a:ext>
            </a:extLst>
          </p:cNvPr>
          <p:cNvSpPr/>
          <p:nvPr/>
        </p:nvSpPr>
        <p:spPr>
          <a:xfrm>
            <a:off x="739707" y="3626282"/>
            <a:ext cx="741080" cy="276999"/>
          </a:xfrm>
          <a:prstGeom prst="rect">
            <a:avLst/>
          </a:prstGeom>
          <a:solidFill>
            <a:schemeClr val="accent4">
              <a:lumMod val="20000"/>
              <a:lumOff val="80000"/>
              <a:alpha val="20000"/>
            </a:schemeClr>
          </a:solidFill>
          <a:ln>
            <a:solidFill>
              <a:srgbClr val="5E2BB8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C3BA7456-86D3-2039-ECA6-D4C66773D9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0499" y="1768761"/>
            <a:ext cx="2014508" cy="3960000"/>
          </a:xfrm>
          <a:prstGeom prst="roundRect">
            <a:avLst>
              <a:gd name="adj" fmla="val 7841"/>
            </a:avLst>
          </a:prstGeom>
          <a:ln w="3175">
            <a:solidFill>
              <a:schemeClr val="tx1"/>
            </a:solidFill>
          </a:ln>
        </p:spPr>
      </p:pic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C60A9887-02C0-679B-54F9-153789C6E6E9}"/>
              </a:ext>
            </a:extLst>
          </p:cNvPr>
          <p:cNvSpPr/>
          <p:nvPr/>
        </p:nvSpPr>
        <p:spPr>
          <a:xfrm>
            <a:off x="5169519" y="1534373"/>
            <a:ext cx="180000" cy="180000"/>
          </a:xfrm>
          <a:prstGeom prst="roundRect">
            <a:avLst/>
          </a:prstGeom>
          <a:solidFill>
            <a:srgbClr val="002060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b="1">
                <a:latin typeface="+mn-ea"/>
              </a:rPr>
              <a:t>3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817E1A0-D134-F466-055F-16DA3A76FB1D}"/>
              </a:ext>
            </a:extLst>
          </p:cNvPr>
          <p:cNvSpPr txBox="1"/>
          <p:nvPr/>
        </p:nvSpPr>
        <p:spPr>
          <a:xfrm>
            <a:off x="5293904" y="1485874"/>
            <a:ext cx="13260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일반로그인 </a:t>
            </a:r>
            <a:r>
              <a:rPr lang="en-US" altLang="ko-KR" sz="1200"/>
              <a:t>[APP]</a:t>
            </a:r>
            <a:endParaRPr lang="ko-KR" altLang="en-US" sz="120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FE80777A-8C54-525B-BDB8-70AA16C4D86D}"/>
              </a:ext>
            </a:extLst>
          </p:cNvPr>
          <p:cNvSpPr/>
          <p:nvPr/>
        </p:nvSpPr>
        <p:spPr>
          <a:xfrm>
            <a:off x="5194919" y="3429814"/>
            <a:ext cx="573444" cy="214340"/>
          </a:xfrm>
          <a:prstGeom prst="rect">
            <a:avLst/>
          </a:prstGeom>
          <a:solidFill>
            <a:schemeClr val="accent4">
              <a:lumMod val="20000"/>
              <a:lumOff val="80000"/>
              <a:alpha val="20000"/>
            </a:schemeClr>
          </a:solidFill>
          <a:ln>
            <a:solidFill>
              <a:srgbClr val="5E2BB8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BBC932D9-6B17-4137-66A0-846DF39CBDD8}"/>
              </a:ext>
            </a:extLst>
          </p:cNvPr>
          <p:cNvSpPr/>
          <p:nvPr/>
        </p:nvSpPr>
        <p:spPr>
          <a:xfrm>
            <a:off x="6833391" y="1777072"/>
            <a:ext cx="328832" cy="214340"/>
          </a:xfrm>
          <a:prstGeom prst="rect">
            <a:avLst/>
          </a:prstGeom>
          <a:solidFill>
            <a:schemeClr val="accent4">
              <a:lumMod val="20000"/>
              <a:lumOff val="80000"/>
              <a:alpha val="20000"/>
            </a:schemeClr>
          </a:solidFill>
          <a:ln>
            <a:solidFill>
              <a:srgbClr val="5E2BB8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B05A90BD-F198-130F-DEA6-95B7C07D2092}"/>
              </a:ext>
            </a:extLst>
          </p:cNvPr>
          <p:cNvSpPr/>
          <p:nvPr/>
        </p:nvSpPr>
        <p:spPr>
          <a:xfrm>
            <a:off x="6373124" y="3650737"/>
            <a:ext cx="754846" cy="393297"/>
          </a:xfrm>
          <a:prstGeom prst="rect">
            <a:avLst/>
          </a:prstGeom>
          <a:solidFill>
            <a:schemeClr val="accent4">
              <a:lumMod val="20000"/>
              <a:lumOff val="80000"/>
              <a:alpha val="20000"/>
            </a:schemeClr>
          </a:solidFill>
          <a:ln>
            <a:solidFill>
              <a:srgbClr val="5E2BB8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5D0D99E-52C8-4EA8-4E7A-5F1CD7D629DA}"/>
              </a:ext>
            </a:extLst>
          </p:cNvPr>
          <p:cNvSpPr/>
          <p:nvPr/>
        </p:nvSpPr>
        <p:spPr>
          <a:xfrm>
            <a:off x="366066" y="514765"/>
            <a:ext cx="252000" cy="252000"/>
          </a:xfrm>
          <a:prstGeom prst="rect">
            <a:avLst/>
          </a:prstGeom>
          <a:solidFill>
            <a:srgbClr val="5E2B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>
                <a:solidFill>
                  <a:srgbClr val="FFFFFF"/>
                </a:solidFill>
                <a:latin typeface="+mj-ea"/>
                <a:ea typeface="+mj-ea"/>
              </a:rPr>
              <a:t>1</a:t>
            </a:r>
            <a:endParaRPr lang="ko-KR" altLang="en-US" sz="14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8" name="제목 12">
            <a:extLst>
              <a:ext uri="{FF2B5EF4-FFF2-40B4-BE49-F238E27FC236}">
                <a16:creationId xmlns:a16="http://schemas.microsoft.com/office/drawing/2014/main" id="{B85CA481-E207-2AF6-3074-19A936123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2337"/>
            <a:ext cx="10515600" cy="365125"/>
          </a:xfrm>
        </p:spPr>
        <p:txBody>
          <a:bodyPr/>
          <a:lstStyle/>
          <a:p>
            <a:r>
              <a:rPr lang="en-US" altLang="ko-KR" b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7. </a:t>
            </a:r>
            <a:r>
              <a:rPr lang="ko-KR" altLang="en-US" b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화면상세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50B7BD-7F16-77F0-2A4C-721DC1319E26}"/>
              </a:ext>
            </a:extLst>
          </p:cNvPr>
          <p:cNvSpPr txBox="1"/>
          <p:nvPr/>
        </p:nvSpPr>
        <p:spPr>
          <a:xfrm>
            <a:off x="364255" y="824958"/>
            <a:ext cx="8805761" cy="4837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900"/>
              <a:t>로그인 전용 </a:t>
            </a:r>
            <a:r>
              <a:rPr lang="en-US" altLang="ko-KR" sz="900"/>
              <a:t>URL : https://accounts.hanatour.com/ (</a:t>
            </a:r>
            <a:r>
              <a:rPr lang="en-US" altLang="ko-KR" sz="900">
                <a:solidFill>
                  <a:srgbClr val="5E2BB8"/>
                </a:solidFill>
              </a:rPr>
              <a:t>PC/MO </a:t>
            </a:r>
            <a:r>
              <a:rPr lang="ko-KR" altLang="en-US" sz="900">
                <a:solidFill>
                  <a:srgbClr val="5E2BB8"/>
                </a:solidFill>
              </a:rPr>
              <a:t>동일</a:t>
            </a:r>
            <a:r>
              <a:rPr lang="en-US" altLang="ko-KR" sz="900">
                <a:solidFill>
                  <a:srgbClr val="5E2BB8"/>
                </a:solidFill>
              </a:rPr>
              <a:t>, </a:t>
            </a:r>
            <a:r>
              <a:rPr lang="ko-KR" altLang="en-US" sz="900">
                <a:solidFill>
                  <a:srgbClr val="5E2BB8"/>
                </a:solidFill>
              </a:rPr>
              <a:t>반응형 페이지로 구성</a:t>
            </a:r>
            <a:r>
              <a:rPr lang="en-US" altLang="ko-KR" sz="900"/>
              <a:t>) </a:t>
            </a:r>
            <a:endParaRPr lang="ko-KR" altLang="en-US" sz="9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/>
              <a:t>호출 파라미터에 따라 </a:t>
            </a:r>
            <a:r>
              <a:rPr lang="en-US" altLang="ko-KR" sz="900"/>
              <a:t>[</a:t>
            </a:r>
            <a:r>
              <a:rPr lang="ko-KR" altLang="en-US" sz="900"/>
              <a:t>일반로그인</a:t>
            </a:r>
            <a:r>
              <a:rPr lang="en-US" altLang="ko-KR" sz="900"/>
              <a:t>]</a:t>
            </a:r>
            <a:r>
              <a:rPr lang="ko-KR" altLang="en-US" sz="900"/>
              <a:t>과</a:t>
            </a:r>
            <a:r>
              <a:rPr lang="en-US" altLang="ko-KR" sz="900"/>
              <a:t> [</a:t>
            </a:r>
            <a:r>
              <a:rPr lang="ko-KR" altLang="en-US" sz="900"/>
              <a:t>예약로그인</a:t>
            </a:r>
            <a:r>
              <a:rPr lang="en-US" altLang="ko-KR" sz="900"/>
              <a:t>]</a:t>
            </a:r>
            <a:r>
              <a:rPr lang="ko-KR" altLang="en-US" sz="900"/>
              <a:t> 화면으로 구분됨</a:t>
            </a:r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26380213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B13B00-06F2-0BD8-AF94-F185BE2EF9DD}"/>
              </a:ext>
            </a:extLst>
          </p:cNvPr>
          <p:cNvSpPr txBox="1"/>
          <p:nvPr/>
        </p:nvSpPr>
        <p:spPr>
          <a:xfrm>
            <a:off x="3052763" y="2875002"/>
            <a:ext cx="623252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000">
                <a:solidFill>
                  <a:srgbClr val="5E2BB8"/>
                </a:solidFill>
                <a:latin typeface="+mj-ea"/>
                <a:ea typeface="+mj-ea"/>
              </a:rPr>
              <a:t>End of document</a:t>
            </a:r>
            <a:endParaRPr lang="ko-KR" altLang="en-US" sz="3000">
              <a:solidFill>
                <a:srgbClr val="5E2BB8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029908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8">
      <a:majorFont>
        <a:latin typeface="여행그자체 Regular"/>
        <a:ea typeface="여행그자체 Regular"/>
        <a:cs typeface=""/>
      </a:majorFont>
      <a:minorFont>
        <a:latin typeface="여행그자체 Light"/>
        <a:ea typeface="여행그자체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스토리보드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나눔고딕"/>
        <a:ea typeface="나눔고딕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E8426556E29EEA42BFF00BF76EE53163" ma:contentTypeVersion="13" ma:contentTypeDescription="새 문서를 만듭니다." ma:contentTypeScope="" ma:versionID="eefafc993bc30cab6dae972987fdbe82">
  <xsd:schema xmlns:xsd="http://www.w3.org/2001/XMLSchema" xmlns:xs="http://www.w3.org/2001/XMLSchema" xmlns:p="http://schemas.microsoft.com/office/2006/metadata/properties" xmlns:ns2="b01b8897-487a-43f2-90f4-2a76c297682f" xmlns:ns3="c45d3d72-e746-494a-a046-a0fa930ed3b4" targetNamespace="http://schemas.microsoft.com/office/2006/metadata/properties" ma:root="true" ma:fieldsID="34d56b5d9113573ee40c6068588fecdd" ns2:_="" ns3:_="">
    <xsd:import namespace="b01b8897-487a-43f2-90f4-2a76c297682f"/>
    <xsd:import namespace="c45d3d72-e746-494a-a046-a0fa930ed3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_Flow_Signoff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1b8897-487a-43f2-90f4-2a76c297682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_Flow_SignoffStatus" ma:index="20" nillable="true" ma:displayName="사인 오프 상태" ma:internalName="_xc0ac__xc778__x0020__xc624__xd504__x0020__xc0c1__xd0dc_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5d3d72-e746-494a-a046-a0fa930ed3b4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b01b8897-487a-43f2-90f4-2a76c297682f" xsi:nil="true"/>
  </documentManagement>
</p:properties>
</file>

<file path=customXml/itemProps1.xml><?xml version="1.0" encoding="utf-8"?>
<ds:datastoreItem xmlns:ds="http://schemas.openxmlformats.org/officeDocument/2006/customXml" ds:itemID="{5C5DCAA0-07E5-418C-A41A-9A990F2D5E5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01b8897-487a-43f2-90f4-2a76c297682f"/>
    <ds:schemaRef ds:uri="c45d3d72-e746-494a-a046-a0fa930ed3b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52C4076-7BB3-4C3A-A0DB-A1CC388F5DF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401527C-B53D-4C7D-80EB-D06FA30316D0}">
  <ds:schemaRefs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purl.org/dc/dcmitype/"/>
    <ds:schemaRef ds:uri="c45d3d72-e746-494a-a046-a0fa930ed3b4"/>
    <ds:schemaRef ds:uri="b01b8897-487a-43f2-90f4-2a76c297682f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29645</TotalTime>
  <Words>1973</Words>
  <Application>Microsoft Macintosh PowerPoint</Application>
  <PresentationFormat>와이드스크린</PresentationFormat>
  <Paragraphs>478</Paragraphs>
  <Slides>21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21</vt:i4>
      </vt:variant>
    </vt:vector>
  </HeadingPairs>
  <TitlesOfParts>
    <vt:vector size="30" baseType="lpstr">
      <vt:lpstr>여행그자체 Light</vt:lpstr>
      <vt:lpstr>여행그자체 Regular</vt:lpstr>
      <vt:lpstr>Atlassian Sans</vt:lpstr>
      <vt:lpstr>맑은 고딕</vt:lpstr>
      <vt:lpstr>나눔고딕</vt:lpstr>
      <vt:lpstr>Arial</vt:lpstr>
      <vt:lpstr>Wingdings</vt:lpstr>
      <vt:lpstr>Office 테마</vt:lpstr>
      <vt:lpstr>스토리보드</vt:lpstr>
      <vt:lpstr>Draftify 기획서</vt:lpstr>
      <vt:lpstr>PowerPoint 프레젠테이션</vt:lpstr>
      <vt:lpstr>PowerPoint 프레젠테이션</vt:lpstr>
      <vt:lpstr>PowerPoint 프레젠테이션</vt:lpstr>
      <vt:lpstr>1. 회원종류 및 주요정책</vt:lpstr>
      <vt:lpstr>PowerPoint 프레젠테이션</vt:lpstr>
      <vt:lpstr>2. 로그인 정책</vt:lpstr>
      <vt:lpstr>PowerPoint 프레젠테이션</vt:lpstr>
      <vt:lpstr>3. 통합회원 정책</vt:lpstr>
      <vt:lpstr>3. 통합회원 정책</vt:lpstr>
      <vt:lpstr>PowerPoint 프레젠테이션</vt:lpstr>
      <vt:lpstr>4. SNS회원 정책</vt:lpstr>
      <vt:lpstr>PowerPoint 프레젠테이션</vt:lpstr>
      <vt:lpstr>5. 탈퇴정책</vt:lpstr>
      <vt:lpstr>PowerPoint 프레젠테이션</vt:lpstr>
      <vt:lpstr>6. 프로세스 흐름도</vt:lpstr>
      <vt:lpstr>6. 프로세스 흐름도</vt:lpstr>
      <vt:lpstr>6. 프로세스 흐름도</vt:lpstr>
      <vt:lpstr>PowerPoint 프레젠테이션</vt:lpstr>
      <vt:lpstr>7. 화면상세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강재희</dc:creator>
  <cp:lastModifiedBy>김병광</cp:lastModifiedBy>
  <cp:revision>1089</cp:revision>
  <dcterms:created xsi:type="dcterms:W3CDTF">2020-11-23T01:18:53Z</dcterms:created>
  <dcterms:modified xsi:type="dcterms:W3CDTF">2025-12-30T02:06:24Z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0x010100E8426556E29EEA42BFF00BF76EE53163</vt:lpwstr>
  </property>
</Properties>
</file>